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9" r:id="rId1"/>
  </p:sldMasterIdLst>
  <p:notesMasterIdLst>
    <p:notesMasterId r:id="rId11"/>
  </p:notesMasterIdLst>
  <p:handoutMasterIdLst>
    <p:handoutMasterId r:id="rId12"/>
  </p:handoutMasterIdLst>
  <p:sldIdLst>
    <p:sldId id="256" r:id="rId2"/>
    <p:sldId id="293" r:id="rId3"/>
    <p:sldId id="280" r:id="rId4"/>
    <p:sldId id="298" r:id="rId5"/>
    <p:sldId id="299" r:id="rId6"/>
    <p:sldId id="297" r:id="rId7"/>
    <p:sldId id="294" r:id="rId8"/>
    <p:sldId id="296" r:id="rId9"/>
    <p:sldId id="292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6" autoAdjust="0"/>
    <p:restoredTop sz="94660"/>
  </p:normalViewPr>
  <p:slideViewPr>
    <p:cSldViewPr>
      <p:cViewPr varScale="1">
        <p:scale>
          <a:sx n="81" d="100"/>
          <a:sy n="81" d="100"/>
        </p:scale>
        <p:origin x="710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288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39134B-6EA9-4ED3-962D-9AD456B91A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5163C-D952-45C1-BBBC-07F9E6FC4AB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4CFA23-11E8-4C5D-9D6A-8BF897C03BEE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195E4B-BAE0-4747-A3B3-1C13E52586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804705-DBC4-4C7F-BFAD-CC24981639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08380-18BC-4B1D-BC9C-F9B2C015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349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2D6876-F133-46D3-95E2-A34AD9BDC8CB}" type="datetimeFigureOut">
              <a:rPr lang="en-US"/>
              <a:pPr>
                <a:defRPr/>
              </a:pPr>
              <a:t>3/12/2025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A40400-4F5E-4E00-9BB5-F457594CE7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3/12/2025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3/12/2025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3/12/2025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3/12/2025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Final Year Defense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 smtClean="0"/>
              <a:pPr>
                <a:defRPr/>
              </a:pPr>
              <a:t>3/12/2025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5951845"/>
            <a:ext cx="1538817" cy="41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Title Defense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3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Title Defense</a:t>
            </a:r>
            <a:endParaRPr lang="en-US" b="1" dirty="0"/>
          </a:p>
        </p:txBody>
      </p:sp>
      <p:pic>
        <p:nvPicPr>
          <p:cNvPr id="6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46051" y="80964"/>
            <a:ext cx="2901949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914400" y="3200400"/>
            <a:ext cx="50800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Presented by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6400800" y="3200400"/>
            <a:ext cx="52832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Supervised by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1752600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5181600" cy="2209800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3"/>
          </p:nvPr>
        </p:nvSpPr>
        <p:spPr>
          <a:xfrm>
            <a:off x="6400800" y="3886200"/>
            <a:ext cx="5283200" cy="2209800"/>
          </a:xfrm>
        </p:spPr>
        <p:txBody>
          <a:bodyPr>
            <a:normAutofit/>
          </a:bodyPr>
          <a:lstStyle>
            <a:lvl1pPr algn="ctr">
              <a:buNone/>
              <a:defRPr sz="27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254C3-6D07-4044-A98A-C7B9FCC216AA}" type="datetime1">
              <a:rPr lang="en-US"/>
              <a:pPr>
                <a:defRPr/>
              </a:pPr>
              <a:t>3/12/2025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AF6E4-9F0F-4D32-8D8E-755B2E69B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04801" y="5943600"/>
            <a:ext cx="153881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Title Defense</a:t>
            </a:r>
            <a:endParaRPr lang="en-US" b="1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/>
              <a:pPr>
                <a:defRPr/>
              </a:pPr>
              <a:t>3/12/2025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3/12/2025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58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1y9fZ_NbLH39D6pb3XG7Dh6tXQJ7ScrF1zEJvE2RD4c/edit?usp=sharing" TargetMode="Externa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638300" y="1219200"/>
            <a:ext cx="8915400" cy="9906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sz="4000" dirty="0">
                <a:solidFill>
                  <a:srgbClr val="7030A0"/>
                </a:solidFill>
              </a:rPr>
              <a:t>Title: AI-Driven Quality and Maturity Detection for Fruit Grading</a:t>
            </a:r>
          </a:p>
        </p:txBody>
      </p:sp>
      <p:sp>
        <p:nvSpPr>
          <p:cNvPr id="4100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6858000" y="3873632"/>
            <a:ext cx="4572000" cy="2057400"/>
          </a:xfrm>
        </p:spPr>
        <p:txBody>
          <a:bodyPr>
            <a:no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Ms. Amatul Bushra Akhi</a:t>
            </a:r>
          </a:p>
          <a:p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Assistant Professor</a:t>
            </a: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CSE </a:t>
            </a:r>
          </a:p>
          <a:p>
            <a:pPr eaLnBrk="1" hangingPunct="1"/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Daffodil International University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4">
            <a:extLst>
              <a:ext uri="{FF2B5EF4-FFF2-40B4-BE49-F238E27FC236}">
                <a16:creationId xmlns:a16="http://schemas.microsoft.com/office/drawing/2014/main" id="{40994151-581F-C813-E718-BFFEB998C2DC}"/>
              </a:ext>
            </a:extLst>
          </p:cNvPr>
          <p:cNvSpPr txBox="1">
            <a:spLocks/>
          </p:cNvSpPr>
          <p:nvPr/>
        </p:nvSpPr>
        <p:spPr>
          <a:xfrm>
            <a:off x="990600" y="3949832"/>
            <a:ext cx="4876800" cy="1905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Munna Biswas (221-15-5261)</a:t>
            </a:r>
          </a:p>
          <a:p>
            <a:pPr>
              <a:lnSpc>
                <a:spcPct val="120000"/>
              </a:lnSpc>
              <a:defRPr/>
            </a:pP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Md. </a:t>
            </a:r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Monowar</a:t>
            </a: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Hossain (221-15-5366)</a:t>
            </a:r>
          </a:p>
          <a:p>
            <a:pPr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CSE </a:t>
            </a:r>
          </a:p>
          <a:p>
            <a:pPr fontAlgn="auto">
              <a:lnSpc>
                <a:spcPct val="120000"/>
              </a:lnSpc>
              <a:spcAft>
                <a:spcPts val="0"/>
              </a:spcAft>
              <a:defRPr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Daffodil International University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  <a:defRPr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Aft>
                <a:spcPts val="0"/>
              </a:spcAft>
              <a:defRPr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Aft>
                <a:spcPts val="0"/>
              </a:spcAft>
              <a:defRPr/>
            </a:pP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Aft>
                <a:spcPts val="0"/>
              </a:spcAft>
              <a:defRPr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Aft>
                <a:spcPts val="0"/>
              </a:spcAft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Reducing post-harvest and pre-harvest</a:t>
            </a:r>
          </a:p>
          <a:p>
            <a:r>
              <a:rPr lang="en-US" sz="3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Improving supply chain</a:t>
            </a:r>
          </a:p>
          <a:p>
            <a:r>
              <a:rPr lang="en-US" sz="3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Enhancing market values of fruits</a:t>
            </a:r>
          </a:p>
          <a:p>
            <a:r>
              <a:rPr lang="en-US" sz="3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Reducing cost by automation</a:t>
            </a:r>
          </a:p>
          <a:p>
            <a:r>
              <a:rPr lang="en-US" sz="3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Customer satisfaction</a:t>
            </a:r>
          </a:p>
          <a:p>
            <a:r>
              <a:rPr lang="en-US" sz="3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Environmental benefits by reducing food waste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991600" y="533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cont..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Motivation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Fruit quality assessment is crucial for agriculture and food safety.</a:t>
            </a:r>
          </a:p>
          <a:p>
            <a:r>
              <a:rPr lang="en-US" sz="3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Manual grading is time-consuming and inconsistent.</a:t>
            </a:r>
          </a:p>
          <a:p>
            <a:r>
              <a:rPr lang="en-US" sz="3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AI and deep learning offer a scalable solution for automated fruit classification.</a:t>
            </a:r>
          </a:p>
          <a:p>
            <a:r>
              <a:rPr lang="en-US" sz="3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Limited research on this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991600" y="533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cont..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9560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991600" y="533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cont..</a:t>
            </a:r>
            <a:endParaRPr lang="en-US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A1D3E-BE5E-4DD9-8F0D-F0FF825AB0D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Deep learning models such as CNN, SVM, and Decision Trees have been widely used.</a:t>
            </a:r>
          </a:p>
          <a:p>
            <a:r>
              <a:rPr lang="en-US" sz="2800" dirty="0">
                <a:solidFill>
                  <a:schemeClr val="tx1"/>
                </a:solidFill>
              </a:rPr>
              <a:t>Image processing techniques are effective in detecting fruit ripeness and quality.</a:t>
            </a:r>
          </a:p>
          <a:p>
            <a:r>
              <a:rPr lang="en-US" sz="2800" dirty="0">
                <a:solidFill>
                  <a:schemeClr val="tx1"/>
                </a:solidFill>
              </a:rPr>
              <a:t>Studies focus on single-fruit classification, but a multi-fruit approach is needed.</a:t>
            </a:r>
          </a:p>
          <a:p>
            <a:r>
              <a:rPr lang="en-US" sz="2800" dirty="0">
                <a:solidFill>
                  <a:schemeClr val="tx1"/>
                </a:solidFill>
              </a:rPr>
              <a:t>Literature Review: </a:t>
            </a:r>
            <a:r>
              <a:rPr lang="en-US" sz="1800" b="0" i="0" u="sng" strike="noStrike" dirty="0">
                <a:solidFill>
                  <a:srgbClr val="0000FF"/>
                </a:solidFill>
                <a:effectLst/>
                <a:latin typeface="Calibri" panose="020F0502020204030204" pitchFamily="34" charset="0"/>
                <a:hlinkClick r:id="rId2"/>
              </a:rPr>
              <a:t>https://docs.google.com/document/d/11y9fZ_NbLH39D6pb3XG7Dh6tXQJ7ScrF1zEJvE2RD4c/edit?usp=sharing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956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Gap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991600" y="533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cont..</a:t>
            </a:r>
            <a:endParaRPr lang="en-US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A1D3E-BE5E-4DD9-8F0D-F0FF825AB0D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Dataset Limitations ( </a:t>
            </a:r>
            <a:r>
              <a:rPr lang="en-US" sz="2400" dirty="0">
                <a:solidFill>
                  <a:schemeClr val="tx1"/>
                </a:solidFill>
              </a:rPr>
              <a:t>small, publicly not available, real-world reflection 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>Automated Decision Making ( </a:t>
            </a:r>
            <a:r>
              <a:rPr lang="en-US" sz="2400" dirty="0">
                <a:solidFill>
                  <a:schemeClr val="tx1"/>
                </a:solidFill>
              </a:rPr>
              <a:t>sorting, grading 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>Model Comparison ( </a:t>
            </a:r>
            <a:r>
              <a:rPr lang="en-US" sz="2400" dirty="0">
                <a:solidFill>
                  <a:schemeClr val="tx1"/>
                </a:solidFill>
              </a:rPr>
              <a:t>implement multiple models 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>Generalization ( </a:t>
            </a:r>
            <a:r>
              <a:rPr lang="en-US" sz="2400" dirty="0">
                <a:solidFill>
                  <a:schemeClr val="tx1"/>
                </a:solidFill>
              </a:rPr>
              <a:t>A unified multi fruits classification model 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>Limited real-world implementation and hardware integration</a:t>
            </a:r>
          </a:p>
        </p:txBody>
      </p:sp>
    </p:spTree>
    <p:extLst>
      <p:ext uri="{BB962C8B-B14F-4D97-AF65-F5344CB8AC3E}">
        <p14:creationId xmlns:p14="http://schemas.microsoft.com/office/powerpoint/2010/main" val="4225929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991600" y="533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cont..</a:t>
            </a:r>
            <a:endParaRPr lang="en-US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A1D3E-BE5E-4DD9-8F0D-F0FF825AB0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447800"/>
            <a:ext cx="10972800" cy="41910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Data Collection</a:t>
            </a:r>
            <a:r>
              <a:rPr lang="en-US" sz="2800" dirty="0">
                <a:solidFill>
                  <a:schemeClr val="tx1"/>
                </a:solidFill>
              </a:rPr>
              <a:t>: Raw data by capturing image.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Preprocessing</a:t>
            </a:r>
            <a:r>
              <a:rPr lang="en-US" sz="2800" dirty="0">
                <a:solidFill>
                  <a:schemeClr val="tx1"/>
                </a:solidFill>
              </a:rPr>
              <a:t>: Image enhancement, feature extraction, Augmentation.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Model Selection</a:t>
            </a:r>
            <a:r>
              <a:rPr lang="en-US" sz="2800" dirty="0">
                <a:solidFill>
                  <a:schemeClr val="tx1"/>
                </a:solidFill>
              </a:rPr>
              <a:t>: Comparison of models(</a:t>
            </a:r>
            <a:r>
              <a:rPr lang="en-US" sz="2000" dirty="0">
                <a:solidFill>
                  <a:schemeClr val="tx1"/>
                </a:solidFill>
              </a:rPr>
              <a:t>CNN, </a:t>
            </a:r>
            <a:r>
              <a:rPr lang="en-US" sz="2000" dirty="0" err="1">
                <a:solidFill>
                  <a:schemeClr val="tx1"/>
                </a:solidFill>
              </a:rPr>
              <a:t>SVM,Transfer</a:t>
            </a:r>
            <a:r>
              <a:rPr lang="en-US" sz="2000" dirty="0">
                <a:solidFill>
                  <a:schemeClr val="tx1"/>
                </a:solidFill>
              </a:rPr>
              <a:t> Learning</a:t>
            </a:r>
            <a:r>
              <a:rPr lang="en-US" sz="2800" dirty="0">
                <a:solidFill>
                  <a:schemeClr val="tx1"/>
                </a:solidFill>
              </a:rPr>
              <a:t>)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Training &amp; Validation</a:t>
            </a:r>
            <a:r>
              <a:rPr lang="en-US" sz="2800" dirty="0">
                <a:solidFill>
                  <a:schemeClr val="tx1"/>
                </a:solidFill>
              </a:rPr>
              <a:t>: Model training, cross-validation.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Real-time Testing</a:t>
            </a:r>
            <a:r>
              <a:rPr lang="en-US" sz="2800" dirty="0">
                <a:solidFill>
                  <a:schemeClr val="tx1"/>
                </a:solidFill>
              </a:rPr>
              <a:t>: Test the models on real-world scenario.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Performance Evaluation</a:t>
            </a:r>
            <a:r>
              <a:rPr lang="en-US" sz="2800" dirty="0">
                <a:solidFill>
                  <a:schemeClr val="tx1"/>
                </a:solidFill>
              </a:rPr>
              <a:t>: Accuracy, precision-recall, execution     time, and cost analysis.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820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Expected Outcomes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 automated AI-based fruit maturity detection system.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Higher accuracy in classifying fruit ripeness and quality.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Optimized model for real-time deployment in agriculture.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Integration with automated sorting and quality control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991600" y="533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cont..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991600" y="533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cont..</a:t>
            </a:r>
            <a:endParaRPr lang="en-US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A1D3E-BE5E-4DD9-8F0D-F0FF825AB0D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fruit maturity and quality detection improves accuracy and efficiency over manual grading. Challenges in real-time deployment and dataset generalization remain, but integrating multi-modal imaging and IoT can enhance performance. Future research should focus on hybrid AI models and automated sorting for better scalability.</a:t>
            </a:r>
          </a:p>
        </p:txBody>
      </p:sp>
    </p:spTree>
    <p:extLst>
      <p:ext uri="{BB962C8B-B14F-4D97-AF65-F5344CB8AC3E}">
        <p14:creationId xmlns:p14="http://schemas.microsoft.com/office/powerpoint/2010/main" val="3733247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6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516608"/>
      </p:ext>
    </p:extLst>
  </p:cSld>
  <p:clrMapOvr>
    <a:masterClrMapping/>
  </p:clrMapOvr>
</p:sld>
</file>

<file path=ppt/theme/theme1.xml><?xml version="1.0" encoding="utf-8"?>
<a:theme xmlns:a="http://schemas.openxmlformats.org/drawingml/2006/main" name="New Microsoft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Microsoft PowerPoint Presentation</Template>
  <TotalTime>874</TotalTime>
  <Words>392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Roboto</vt:lpstr>
      <vt:lpstr>Times New Roman</vt:lpstr>
      <vt:lpstr>New Microsoft PowerPoint Presentation</vt:lpstr>
      <vt:lpstr>Title: AI-Driven Quality and Maturity Detection for Fruit Grading</vt:lpstr>
      <vt:lpstr>Objective</vt:lpstr>
      <vt:lpstr>Motivation</vt:lpstr>
      <vt:lpstr>Background Study</vt:lpstr>
      <vt:lpstr>Gap Analysis</vt:lpstr>
      <vt:lpstr>Methodology</vt:lpstr>
      <vt:lpstr>Expected Outcomes</vt:lpstr>
      <vt:lpstr>Conclusion</vt:lpstr>
      <vt:lpstr>PowerPoint Presentation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Valued Acer Customer</dc:creator>
  <cp:lastModifiedBy>Munna Biswas</cp:lastModifiedBy>
  <cp:revision>242</cp:revision>
  <dcterms:created xsi:type="dcterms:W3CDTF">2011-07-17T02:56:35Z</dcterms:created>
  <dcterms:modified xsi:type="dcterms:W3CDTF">2025-03-11T21:51:12Z</dcterms:modified>
</cp:coreProperties>
</file>