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9"/>
  </p:notesMasterIdLst>
  <p:sldIdLst>
    <p:sldId id="256" r:id="rId2"/>
    <p:sldId id="264" r:id="rId3"/>
    <p:sldId id="280" r:id="rId4"/>
    <p:sldId id="293" r:id="rId5"/>
    <p:sldId id="296" r:id="rId6"/>
    <p:sldId id="301" r:id="rId7"/>
    <p:sldId id="302" r:id="rId8"/>
    <p:sldId id="303" r:id="rId9"/>
    <p:sldId id="304" r:id="rId10"/>
    <p:sldId id="294" r:id="rId11"/>
    <p:sldId id="297" r:id="rId12"/>
    <p:sldId id="306" r:id="rId13"/>
    <p:sldId id="307" r:id="rId14"/>
    <p:sldId id="308" r:id="rId15"/>
    <p:sldId id="309" r:id="rId16"/>
    <p:sldId id="313" r:id="rId17"/>
    <p:sldId id="314" r:id="rId18"/>
    <p:sldId id="354" r:id="rId19"/>
    <p:sldId id="355" r:id="rId20"/>
    <p:sldId id="311" r:id="rId21"/>
    <p:sldId id="312" r:id="rId22"/>
    <p:sldId id="319" r:id="rId23"/>
    <p:sldId id="320" r:id="rId24"/>
    <p:sldId id="315" r:id="rId25"/>
    <p:sldId id="316" r:id="rId26"/>
    <p:sldId id="321" r:id="rId27"/>
    <p:sldId id="322" r:id="rId28"/>
    <p:sldId id="323" r:id="rId29"/>
    <p:sldId id="298"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43"/>
    <p:sldId id="337" r:id="rId44"/>
    <p:sldId id="338" r:id="rId45"/>
    <p:sldId id="342" r:id="rId46"/>
    <p:sldId id="356" r:id="rId47"/>
    <p:sldId id="343" r:id="rId48"/>
    <p:sldId id="344" r:id="rId49"/>
    <p:sldId id="358" r:id="rId50"/>
    <p:sldId id="300" r:id="rId51"/>
    <p:sldId id="291" r:id="rId52"/>
    <p:sldId id="299" r:id="rId53"/>
    <p:sldId id="349" r:id="rId54"/>
    <p:sldId id="357" r:id="rId55"/>
    <p:sldId id="350" r:id="rId56"/>
    <p:sldId id="351" r:id="rId57"/>
    <p:sldId id="295" r:id="rId5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6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94148" autoAdjust="0"/>
  </p:normalViewPr>
  <p:slideViewPr>
    <p:cSldViewPr showGuides="1">
      <p:cViewPr varScale="1">
        <p:scale>
          <a:sx n="92" d="100"/>
          <a:sy n="92" d="100"/>
        </p:scale>
        <p:origin x="293" y="67"/>
      </p:cViewPr>
      <p:guideLst>
        <p:guide orient="horz" pos="2159"/>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t>12/10/2025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74F9EEE2-E9EB-4A9B-98E9-725686B04912}" type="datetime1">
              <a:rPr lang="en-US" smtClean="0"/>
              <a:t>12/10/2025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C40A8941-93F0-4B14-9E16-4C86E9A56C4F}" type="datetime1">
              <a:rPr lang="en-US" smtClean="0"/>
              <a:t>12/10/2025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C0C121A3-9480-4BB0-A062-158D5A9D11B8}" type="datetime1">
              <a:rPr lang="en-US" smtClean="0"/>
              <a:t>12/10/2025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6B7E8A86-E942-4E7A-9614-82D129BA9EAE}" type="datetime1">
              <a:rPr lang="en-US" smtClean="0"/>
              <a:t>12/10/2025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45A03CE7-B7E7-4B4E-9DD2-144682810A6F}" type="datetime1">
              <a:rPr lang="en-US" smtClean="0"/>
              <a:t>12/10/2025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B3B2226A-A6B2-456F-8454-AFFE46997944}" type="datetime1">
              <a:rPr lang="en-US" smtClean="0"/>
              <a:t>12/10/2025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B0C659E4-0B99-4863-9C40-CFD2D853509D}" type="datetime1">
              <a:rPr lang="en-US" smtClean="0"/>
              <a:t>12/10/2025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3616104-059D-4F33-BD17-D8351EF06FD3}" type="datetime1">
              <a:rPr lang="en-US" smtClean="0"/>
              <a:t>12/10/2025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0ADE20D-17F0-4530-9B21-FD5F4C4A5199}" type="datetime1">
              <a:rPr lang="en-US" smtClean="0"/>
              <a:t>12/10/2025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B82C793D-0950-4A8B-8D35-93389F9A785E}" type="datetime1">
              <a:rPr lang="en-US" smtClean="0"/>
              <a:t>12/10/2025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9055A0BD-0A93-4A09-9A37-2799C356A8BE}" type="datetime1">
              <a:rPr lang="en-US" smtClean="0"/>
              <a:t>12/10/2025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B48CB4E6-BCBC-4D8B-BA9D-7AD337E3149C}" type="datetime1">
              <a:rPr lang="en-US" smtClean="0"/>
              <a:t>12/10/2025</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F89936B4-0252-4CBA-B19B-DE71F20CC16C}" type="datetime1">
              <a:rPr lang="en-US" smtClean="0"/>
              <a:t>12/10/2025</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496F9888-66AB-473E-A586-3F6B05B05808}" type="datetime1">
              <a:rPr lang="en-US" smtClean="0"/>
              <a:t>12/10/2025</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0AC6323-E827-458F-891F-12E54395AB8B}" type="datetime1">
              <a:rPr lang="en-US" smtClean="0"/>
              <a:t>12/10/2025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47700" y="1295400"/>
            <a:ext cx="10896600" cy="1701053"/>
          </a:xfrm>
        </p:spPr>
        <p:txBody>
          <a:bodyPr rtlCol="0">
            <a:noAutofit/>
          </a:bodyPr>
          <a:lstStyle/>
          <a:p>
            <a:pPr>
              <a:defRPr/>
            </a:pPr>
            <a:r>
              <a:rPr lang="en-US" sz="4500" dirty="0">
                <a:solidFill>
                  <a:srgbClr val="7030A0"/>
                </a:solidFill>
              </a:rPr>
              <a:t>A Deep Learning Approach for the Coconut Tree Disease Detection</a:t>
            </a:r>
          </a:p>
        </p:txBody>
      </p:sp>
      <p:sp>
        <p:nvSpPr>
          <p:cNvPr id="5" name="Subtitle 4"/>
          <p:cNvSpPr>
            <a:spLocks noGrp="1"/>
          </p:cNvSpPr>
          <p:nvPr>
            <p:ph type="subTitle" idx="1"/>
          </p:nvPr>
        </p:nvSpPr>
        <p:spPr>
          <a:xfrm>
            <a:off x="3138487" y="4712073"/>
            <a:ext cx="5915025" cy="1701053"/>
          </a:xfrm>
        </p:spPr>
        <p:txBody>
          <a:bodyPr rtlCol="0">
            <a:normAutofit fontScale="25000" lnSpcReduction="20000"/>
          </a:bodyPr>
          <a:lstStyle/>
          <a:p>
            <a:endParaRPr lang="en-US" sz="9600" dirty="0">
              <a:solidFill>
                <a:schemeClr val="tx1"/>
              </a:solidFill>
              <a:latin typeface="Times New Roman" panose="02020603050405020304" pitchFamily="18" charset="0"/>
              <a:cs typeface="Times New Roman" panose="02020603050405020304" pitchFamily="18" charset="0"/>
            </a:endParaRPr>
          </a:p>
          <a:p>
            <a:r>
              <a:rPr lang="en-US" sz="10800" b="1" dirty="0">
                <a:solidFill>
                  <a:schemeClr val="tx1"/>
                </a:solidFill>
                <a:latin typeface="Times New Roman" panose="02020603050405020304" pitchFamily="18" charset="0"/>
                <a:cs typeface="Times New Roman" panose="02020603050405020304" pitchFamily="18" charset="0"/>
              </a:rPr>
              <a:t>Department : </a:t>
            </a:r>
            <a:r>
              <a:rPr lang="en-US" sz="10800" dirty="0">
                <a:solidFill>
                  <a:schemeClr val="tx1"/>
                </a:solidFill>
                <a:latin typeface="Times New Roman" panose="02020603050405020304" pitchFamily="18" charset="0"/>
                <a:cs typeface="Times New Roman" panose="02020603050405020304" pitchFamily="18" charset="0"/>
              </a:rPr>
              <a:t>CSE</a:t>
            </a:r>
          </a:p>
          <a:p>
            <a:r>
              <a:rPr lang="en-US" sz="10800" dirty="0">
                <a:solidFill>
                  <a:schemeClr val="tx1"/>
                </a:solidFill>
                <a:latin typeface="Times New Roman" panose="02020603050405020304" pitchFamily="18" charset="0"/>
                <a:cs typeface="Times New Roman" panose="02020603050405020304" pitchFamily="18" charset="0"/>
              </a:rPr>
              <a:t>Daffodil International University</a:t>
            </a:r>
          </a:p>
          <a:p>
            <a:pPr>
              <a:defRPr/>
            </a:pPr>
            <a:endParaRPr lang="en-US" sz="2800" dirty="0">
              <a:solidFill>
                <a:schemeClr val="tx1"/>
              </a:solidFill>
              <a:latin typeface="Times New Roman" panose="02020603050405020304" pitchFamily="18" charset="0"/>
              <a:cs typeface="Times New Roman" panose="02020603050405020304" pitchFamily="18" charset="0"/>
            </a:endParaRPr>
          </a:p>
          <a:p>
            <a:pPr>
              <a:defRPr/>
            </a:pPr>
            <a:endParaRPr lang="en-US" dirty="0"/>
          </a:p>
        </p:txBody>
      </p:sp>
      <p:sp>
        <p:nvSpPr>
          <p:cNvPr id="7" name="Subtitle 4"/>
          <p:cNvSpPr txBox="1"/>
          <p:nvPr/>
        </p:nvSpPr>
        <p:spPr>
          <a:xfrm>
            <a:off x="5715000" y="3858600"/>
            <a:ext cx="3657600" cy="1295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2700" kern="1200">
                <a:solidFill>
                  <a:schemeClr val="accent1">
                    <a:lumMod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fontAlgn="auto">
              <a:spcAft>
                <a:spcPts val="0"/>
              </a:spcAft>
            </a:pPr>
            <a:r>
              <a:rPr lang="en-US" b="1" dirty="0">
                <a:solidFill>
                  <a:schemeClr val="tx1"/>
                </a:solidFill>
                <a:latin typeface="Times New Roman" panose="02020603050405020304" pitchFamily="18" charset="0"/>
                <a:cs typeface="Times New Roman" panose="02020603050405020304" pitchFamily="18" charset="0"/>
              </a:rPr>
              <a:t>Md. </a:t>
            </a:r>
            <a:r>
              <a:rPr lang="en-US" b="1" dirty="0" err="1">
                <a:solidFill>
                  <a:schemeClr val="tx1"/>
                </a:solidFill>
                <a:latin typeface="Times New Roman" panose="02020603050405020304" pitchFamily="18" charset="0"/>
                <a:cs typeface="Times New Roman" panose="02020603050405020304" pitchFamily="18" charset="0"/>
              </a:rPr>
              <a:t>Monowar</a:t>
            </a:r>
            <a:r>
              <a:rPr lang="en-US" b="1" dirty="0">
                <a:solidFill>
                  <a:schemeClr val="tx1"/>
                </a:solidFill>
                <a:latin typeface="Times New Roman" panose="02020603050405020304" pitchFamily="18" charset="0"/>
                <a:cs typeface="Times New Roman" panose="02020603050405020304" pitchFamily="18" charset="0"/>
              </a:rPr>
              <a:t> Hossain</a:t>
            </a:r>
          </a:p>
          <a:p>
            <a:pPr fontAlgn="auto">
              <a:spcAft>
                <a:spcPts val="0"/>
              </a:spcAft>
            </a:pPr>
            <a:r>
              <a:rPr lang="en-US" b="1" dirty="0">
                <a:solidFill>
                  <a:schemeClr val="tx1"/>
                </a:solidFill>
                <a:latin typeface="Times New Roman" panose="02020603050405020304" pitchFamily="18" charset="0"/>
                <a:cs typeface="Times New Roman" panose="02020603050405020304" pitchFamily="18" charset="0"/>
              </a:rPr>
              <a:t>ID : </a:t>
            </a:r>
            <a:r>
              <a:rPr lang="en-US" dirty="0">
                <a:solidFill>
                  <a:schemeClr val="tx1"/>
                </a:solidFill>
                <a:latin typeface="Times New Roman" panose="02020603050405020304" pitchFamily="18" charset="0"/>
                <a:cs typeface="Times New Roman" panose="02020603050405020304" pitchFamily="18" charset="0"/>
              </a:rPr>
              <a:t>221-15-5366</a:t>
            </a:r>
          </a:p>
          <a:p>
            <a:pPr fontAlgn="auto">
              <a:spcAft>
                <a:spcPts val="0"/>
              </a:spcAft>
            </a:pPr>
            <a:endParaRPr lang="en-US" sz="9600" dirty="0">
              <a:solidFill>
                <a:schemeClr val="tx1"/>
              </a:solidFill>
              <a:latin typeface="Times New Roman" panose="02020603050405020304" pitchFamily="18" charset="0"/>
              <a:cs typeface="Times New Roman" panose="02020603050405020304" pitchFamily="18" charset="0"/>
            </a:endParaRPr>
          </a:p>
          <a:p>
            <a:pPr fontAlgn="auto">
              <a:spcAft>
                <a:spcPts val="0"/>
              </a:spcAft>
              <a:defRPr/>
            </a:pPr>
            <a:endParaRPr lang="en-US" sz="2800" dirty="0">
              <a:solidFill>
                <a:schemeClr val="tx1"/>
              </a:solidFill>
              <a:latin typeface="Times New Roman" panose="02020603050405020304" pitchFamily="18" charset="0"/>
              <a:cs typeface="Times New Roman" panose="02020603050405020304" pitchFamily="18" charset="0"/>
            </a:endParaRPr>
          </a:p>
          <a:p>
            <a:pPr fontAlgn="auto">
              <a:spcAft>
                <a:spcPts val="0"/>
              </a:spcAft>
              <a:defRPr/>
            </a:pPr>
            <a:endParaRPr lang="en-US" dirty="0"/>
          </a:p>
        </p:txBody>
      </p:sp>
      <p:sp>
        <p:nvSpPr>
          <p:cNvPr id="8" name="Subtitle 4"/>
          <p:cNvSpPr txBox="1"/>
          <p:nvPr/>
        </p:nvSpPr>
        <p:spPr>
          <a:xfrm>
            <a:off x="2545556" y="3861254"/>
            <a:ext cx="3276600" cy="1292746"/>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2700" kern="1200">
                <a:solidFill>
                  <a:schemeClr val="accent1">
                    <a:lumMod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fontAlgn="auto">
              <a:spcAft>
                <a:spcPts val="0"/>
              </a:spcAft>
            </a:pPr>
            <a:r>
              <a:rPr lang="en-US" b="1" dirty="0">
                <a:solidFill>
                  <a:schemeClr val="tx1"/>
                </a:solidFill>
                <a:latin typeface="Times New Roman" panose="02020603050405020304" pitchFamily="18" charset="0"/>
                <a:cs typeface="Times New Roman" panose="02020603050405020304" pitchFamily="18" charset="0"/>
              </a:rPr>
              <a:t>Munna Biswas</a:t>
            </a:r>
          </a:p>
          <a:p>
            <a:pPr fontAlgn="auto">
              <a:spcAft>
                <a:spcPts val="0"/>
              </a:spcAft>
            </a:pPr>
            <a:r>
              <a:rPr lang="en-US" b="1" dirty="0">
                <a:solidFill>
                  <a:schemeClr val="tx1"/>
                </a:solidFill>
                <a:latin typeface="Times New Roman" panose="02020603050405020304" pitchFamily="18" charset="0"/>
                <a:cs typeface="Times New Roman" panose="02020603050405020304" pitchFamily="18" charset="0"/>
              </a:rPr>
              <a:t>ID: </a:t>
            </a:r>
            <a:r>
              <a:rPr lang="en-US" dirty="0">
                <a:solidFill>
                  <a:schemeClr val="tx1"/>
                </a:solidFill>
                <a:latin typeface="Times New Roman" panose="02020603050405020304" pitchFamily="18" charset="0"/>
                <a:cs typeface="Times New Roman" panose="02020603050405020304" pitchFamily="18" charset="0"/>
              </a:rPr>
              <a:t>221-15-5261</a:t>
            </a:r>
          </a:p>
          <a:p>
            <a:pPr fontAlgn="auto">
              <a:spcAft>
                <a:spcPts val="0"/>
              </a:spcAft>
            </a:pPr>
            <a:endParaRPr lang="en-US" dirty="0">
              <a:solidFill>
                <a:schemeClr val="tx1"/>
              </a:solidFill>
              <a:latin typeface="Times New Roman" panose="02020603050405020304" pitchFamily="18" charset="0"/>
              <a:cs typeface="Times New Roman" panose="02020603050405020304" pitchFamily="18" charset="0"/>
            </a:endParaRPr>
          </a:p>
          <a:p>
            <a:pPr fontAlgn="auto">
              <a:spcAft>
                <a:spcPts val="0"/>
              </a:spcAft>
              <a:defRPr/>
            </a:pPr>
            <a:endParaRPr lang="en-US" dirty="0"/>
          </a:p>
        </p:txBody>
      </p:sp>
      <p:sp>
        <p:nvSpPr>
          <p:cNvPr id="2" name="Slide Number Placeholder 1">
            <a:extLst>
              <a:ext uri="{FF2B5EF4-FFF2-40B4-BE49-F238E27FC236}">
                <a16:creationId xmlns:a16="http://schemas.microsoft.com/office/drawing/2014/main" id="{8E2B8017-0062-020F-B421-534492A7C778}"/>
              </a:ext>
            </a:extLst>
          </p:cNvPr>
          <p:cNvSpPr>
            <a:spLocks noGrp="1"/>
          </p:cNvSpPr>
          <p:nvPr>
            <p:ph type="sldNum" sz="quarter" idx="16"/>
          </p:nvPr>
        </p:nvSpPr>
        <p:spPr/>
        <p:txBody>
          <a:bodyPr/>
          <a:lstStyle/>
          <a:p>
            <a:pPr>
              <a:defRPr/>
            </a:pPr>
            <a:fld id="{E62AF6E4-9F0F-4D32-8D8E-755B2E69BAD2}"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Outline</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Objective</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Background Study</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Gap Analysis</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Methodology</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Results &amp; Analysis</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Novelty of the Work</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References</a:t>
            </a:r>
          </a:p>
          <a:p>
            <a:pPr>
              <a:buNone/>
            </a:pPr>
            <a:endParaRPr lang="en-US" dirty="0"/>
          </a:p>
        </p:txBody>
      </p:sp>
      <p:sp>
        <p:nvSpPr>
          <p:cNvPr id="4" name="Slide Number Placeholder 3"/>
          <p:cNvSpPr>
            <a:spLocks noGrp="1"/>
          </p:cNvSpPr>
          <p:nvPr>
            <p:ph type="sldNum" sz="quarter" idx="16"/>
          </p:nvPr>
        </p:nvSpPr>
        <p:spPr>
          <a:xfrm>
            <a:off x="4673600" y="6400799"/>
            <a:ext cx="2844800" cy="365125"/>
          </a:xfrm>
        </p:spPr>
        <p:txBody>
          <a:bodyPr/>
          <a:lstStyle/>
          <a:p>
            <a:pPr algn="ctr">
              <a:defRPr/>
            </a:pPr>
            <a:fld id="{4CD333A3-7515-47B8-9EDC-EE0892D9C861}" type="slidenum">
              <a:rPr lang="en-US" smtClean="0">
                <a:solidFill>
                  <a:schemeClr val="bg1"/>
                </a:solidFill>
              </a:rPr>
              <a:pPr algn="ctr">
                <a:defRPr/>
              </a:pPr>
              <a:t>2</a:t>
            </a:fld>
            <a:endParaRPr 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Introduction</a:t>
            </a:r>
            <a:endParaRPr lang="en-US" dirty="0">
              <a:solidFill>
                <a:srgbClr val="7030A0"/>
              </a:solidFill>
            </a:endParaRPr>
          </a:p>
        </p:txBody>
      </p:sp>
      <p:sp>
        <p:nvSpPr>
          <p:cNvPr id="3" name="Content Placeholder 2"/>
          <p:cNvSpPr>
            <a:spLocks noGrp="1"/>
          </p:cNvSpPr>
          <p:nvPr>
            <p:ph sz="quarter" idx="13"/>
          </p:nvPr>
        </p:nvSpPr>
        <p:spPr>
          <a:xfrm>
            <a:off x="533400" y="1524000"/>
            <a:ext cx="7658100" cy="4546600"/>
          </a:xfrm>
        </p:spPr>
        <p:txBody>
          <a:bodyPr>
            <a:noAutofit/>
          </a:bodyPr>
          <a:lstStyle/>
          <a:p>
            <a:pPr algn="just">
              <a:buFont typeface="Wingdings" panose="05000000000000000000" pitchFamily="2" charset="2"/>
              <a:buChar char="q"/>
            </a:pPr>
            <a:r>
              <a:rPr lang="en-GB" sz="2000" b="1" dirty="0">
                <a:solidFill>
                  <a:schemeClr val="tx1"/>
                </a:solidFill>
                <a:latin typeface="Times New Roman" panose="02020603050405020304" pitchFamily="18" charset="0"/>
                <a:cs typeface="Times New Roman" panose="02020603050405020304" pitchFamily="18" charset="0"/>
              </a:rPr>
              <a:t>The Problem: </a:t>
            </a:r>
            <a:r>
              <a:rPr lang="en-US" sz="2000" dirty="0">
                <a:solidFill>
                  <a:schemeClr val="tx1"/>
                </a:solidFill>
                <a:latin typeface="Times New Roman" panose="02020603050405020304" pitchFamily="18" charset="0"/>
                <a:cs typeface="Times New Roman" panose="02020603050405020304" pitchFamily="18" charset="0"/>
              </a:rPr>
              <a:t>Coconut diseases such as Bud Rot, Leaf Rot, Yellow Leaf Disease, Coconut Caterpillar, and Stem Bleeding cause major agricultural losses. Manual disease identification is slow, inconsistent, and highly expertise-dependent.</a:t>
            </a:r>
          </a:p>
          <a:p>
            <a:pPr algn="just">
              <a:buFont typeface="Wingdings" panose="05000000000000000000" pitchFamily="2" charset="2"/>
              <a:buChar char="q"/>
            </a:pPr>
            <a:endParaRPr lang="en-GB" sz="20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GB" sz="2000" b="1" dirty="0">
                <a:solidFill>
                  <a:schemeClr val="tx1"/>
                </a:solidFill>
                <a:latin typeface="Times New Roman" panose="02020603050405020304" pitchFamily="18" charset="0"/>
                <a:cs typeface="Times New Roman" panose="02020603050405020304" pitchFamily="18" charset="0"/>
              </a:rPr>
              <a:t>The Solution: </a:t>
            </a:r>
            <a:r>
              <a:rPr lang="en-GB" sz="2000" dirty="0">
                <a:solidFill>
                  <a:schemeClr val="tx1"/>
                </a:solidFill>
                <a:latin typeface="Times New Roman" panose="02020603050405020304" pitchFamily="18" charset="0"/>
                <a:cs typeface="Times New Roman" panose="02020603050405020304" pitchFamily="18" charset="0"/>
              </a:rPr>
              <a:t>This project uses deep learning models to classify the disease accurately.</a:t>
            </a:r>
          </a:p>
          <a:p>
            <a:pPr marL="0" indent="0" algn="just">
              <a:buNone/>
            </a:pPr>
            <a:endParaRPr lang="en-US" sz="20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GB" sz="2000" b="1" dirty="0">
                <a:solidFill>
                  <a:schemeClr val="tx1"/>
                </a:solidFill>
                <a:latin typeface="Times New Roman" panose="02020603050405020304" pitchFamily="18" charset="0"/>
                <a:cs typeface="Times New Roman" panose="02020603050405020304" pitchFamily="18" charset="0"/>
              </a:rPr>
              <a:t>The Gap: </a:t>
            </a:r>
            <a:r>
              <a:rPr lang="en-GB" sz="2000" dirty="0">
                <a:solidFill>
                  <a:schemeClr val="tx1"/>
                </a:solidFill>
                <a:latin typeface="Times New Roman" panose="02020603050405020304" pitchFamily="18" charset="0"/>
                <a:cs typeface="Times New Roman" panose="02020603050405020304" pitchFamily="18" charset="0"/>
              </a:rPr>
              <a:t>There aren’t few diverse coconut datasets available, and most existing models don’t explain how they make their predictions.</a:t>
            </a:r>
          </a:p>
          <a:p>
            <a:pPr marL="0" indent="0" algn="just">
              <a:buNone/>
            </a:pPr>
            <a:endParaRPr lang="en-US" sz="20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GB" sz="2000" b="1" dirty="0">
                <a:solidFill>
                  <a:schemeClr val="tx1"/>
                </a:solidFill>
                <a:latin typeface="Times New Roman" panose="02020603050405020304" pitchFamily="18" charset="0"/>
                <a:cs typeface="Times New Roman" panose="02020603050405020304" pitchFamily="18" charset="0"/>
              </a:rPr>
              <a:t>The Goal: </a:t>
            </a:r>
            <a:r>
              <a:rPr lang="en-GB" sz="2000" dirty="0">
                <a:solidFill>
                  <a:schemeClr val="tx1"/>
                </a:solidFill>
                <a:latin typeface="Times New Roman" panose="02020603050405020304" pitchFamily="18" charset="0"/>
                <a:cs typeface="Times New Roman" panose="02020603050405020304" pitchFamily="18" charset="0"/>
              </a:rPr>
              <a:t>Identify accurate and lightweight models, and use XAI tools to make the system transparent and reliable for real-world use.</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4A192F9-9D89-ED4C-88EC-D95511F7A3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09391" y="1752600"/>
            <a:ext cx="3301218" cy="3352800"/>
          </a:xfrm>
          <a:prstGeom prst="rect">
            <a:avLst/>
          </a:prstGeom>
        </p:spPr>
      </p:pic>
      <p:sp>
        <p:nvSpPr>
          <p:cNvPr id="10" name="Slide Number Placeholder 3">
            <a:extLst>
              <a:ext uri="{FF2B5EF4-FFF2-40B4-BE49-F238E27FC236}">
                <a16:creationId xmlns:a16="http://schemas.microsoft.com/office/drawing/2014/main" id="{9279B2DC-5413-55B7-70E4-3D7F56F6B1F4}"/>
              </a:ext>
            </a:extLst>
          </p:cNvPr>
          <p:cNvSpPr txBox="1">
            <a:spLocks/>
          </p:cNvSpPr>
          <p:nvPr/>
        </p:nvSpPr>
        <p:spPr>
          <a:xfrm>
            <a:off x="4673600" y="6400800"/>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a:t>
            </a:fld>
            <a:endParaRPr 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Objective</a:t>
            </a:r>
            <a:endParaRPr lang="en-US" dirty="0">
              <a:solidFill>
                <a:srgbClr val="7030A0"/>
              </a:solidFill>
            </a:endParaRPr>
          </a:p>
        </p:txBody>
      </p:sp>
      <p:sp>
        <p:nvSpPr>
          <p:cNvPr id="5" name="Rectangle 1"/>
          <p:cNvSpPr>
            <a:spLocks noGrp="1" noChangeArrowheads="1"/>
          </p:cNvSpPr>
          <p:nvPr>
            <p:ph sz="quarter" idx="13"/>
          </p:nvPr>
        </p:nvSpPr>
        <p:spPr bwMode="auto">
          <a:xfrm>
            <a:off x="1181100" y="1862554"/>
            <a:ext cx="98298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an accurate coconut disease classifier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 lightweight transfer-learning model (MobileNetV2, MobileNetV3).</a:t>
            </a:r>
          </a:p>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high-quality dataset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five coconut diseases using real-world images collected from publicly available datasets.</a:t>
            </a:r>
          </a:p>
          <a:p>
            <a:pPr marL="0" marR="0" lvl="0" indent="0" algn="just" defTabSz="914400" rtl="0" eaLnBrk="0" fontAlgn="base" latinLnBrk="0" hangingPunct="0">
              <a:lnSpc>
                <a:spcPct val="100000"/>
              </a:lnSpc>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model performance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key metrics: Accuracy, Precision, Recall, and F1-Score, to identify the most efficient and reliable architecture.</a:t>
            </a:r>
          </a:p>
          <a:p>
            <a:pPr marL="0" marR="0" lvl="0" indent="0" algn="just" defTabSz="914400" rtl="0" eaLnBrk="0" fontAlgn="base" latinLnBrk="0" hangingPunct="0">
              <a:lnSpc>
                <a:spcPct val="100000"/>
              </a:lnSpc>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Explainable AI (XAI)</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technique (Grad-CAM)</a:t>
            </a:r>
          </a:p>
        </p:txBody>
      </p:sp>
      <p:sp>
        <p:nvSpPr>
          <p:cNvPr id="3" name="Slide Number Placeholder 3">
            <a:extLst>
              <a:ext uri="{FF2B5EF4-FFF2-40B4-BE49-F238E27FC236}">
                <a16:creationId xmlns:a16="http://schemas.microsoft.com/office/drawing/2014/main" id="{55A5C276-BD70-EE1B-D99B-B420F38FE1C0}"/>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a:t>
            </a:fld>
            <a:endParaRPr lang="en-US"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Background Study</a:t>
            </a:r>
            <a:endParaRPr lang="en-US" dirty="0">
              <a:solidFill>
                <a:srgbClr val="7030A0"/>
              </a:solidFill>
            </a:endParaRPr>
          </a:p>
        </p:txBody>
      </p:sp>
      <p:sp>
        <p:nvSpPr>
          <p:cNvPr id="3" name="Content Placeholder 2"/>
          <p:cNvSpPr>
            <a:spLocks noGrp="1"/>
          </p:cNvSpPr>
          <p:nvPr>
            <p:ph sz="quarter" idx="13"/>
          </p:nvPr>
        </p:nvSpPr>
        <p:spPr>
          <a:xfrm>
            <a:off x="3276600" y="1711325"/>
            <a:ext cx="6553200" cy="4076700"/>
          </a:xfrm>
        </p:spPr>
        <p:txBody>
          <a:bodyPr>
            <a:no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a:t>
            </a:r>
            <a:r>
              <a:rPr lang="en-US" altLang="en-US" sz="2600" dirty="0">
                <a:solidFill>
                  <a:schemeClr val="tx1"/>
                </a:solidFill>
                <a:latin typeface="Times New Roman" panose="02020603050405020304" pitchFamily="18" charset="0"/>
                <a:cs typeface="Times New Roman" panose="02020603050405020304" pitchFamily="18" charset="0"/>
              </a:rPr>
              <a:t>coconut disease </a:t>
            </a: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 matters?</a:t>
            </a:r>
            <a:b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Drawbacks of manual identification.</a:t>
            </a:r>
            <a:b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Growth of machine vision &amp; AI.</a:t>
            </a:r>
          </a:p>
          <a:p>
            <a:pPr marL="0" marR="0" lvl="0" indent="0" algn="l" defTabSz="914400" rtl="0" eaLnBrk="0" fontAlgn="base" latinLnBrk="0" hangingPunct="0">
              <a:lnSpc>
                <a:spcPct val="100000"/>
              </a:lnSpc>
              <a:spcBef>
                <a:spcPct val="0"/>
              </a:spcBef>
              <a:spcAft>
                <a:spcPct val="0"/>
              </a:spcAft>
              <a:buClrTx/>
              <a:buSzTx/>
              <a:buNone/>
            </a:pPr>
            <a:endPar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 typeface="Wingdings" panose="05000000000000000000" pitchFamily="2" charset="2"/>
              <a:buChar char="q"/>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previous research achieved.</a:t>
            </a:r>
            <a:b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Remaining challenges &amp; need for this work.</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3">
            <a:extLst>
              <a:ext uri="{FF2B5EF4-FFF2-40B4-BE49-F238E27FC236}">
                <a16:creationId xmlns:a16="http://schemas.microsoft.com/office/drawing/2014/main" id="{CCBB585D-3385-A3B6-A62E-EE002A4F3971}"/>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a:t>
            </a:fld>
            <a:endParaRPr lang="en-US"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Similar  Studies</a:t>
            </a:r>
            <a:endParaRPr lang="en-US" dirty="0">
              <a:solidFill>
                <a:srgbClr val="7030A0"/>
              </a:solidFill>
            </a:endParaRPr>
          </a:p>
        </p:txBody>
      </p:sp>
      <p:sp>
        <p:nvSpPr>
          <p:cNvPr id="7" name="Rectangle 1"/>
          <p:cNvSpPr txBox="1">
            <a:spLocks noChangeArrowheads="1"/>
          </p:cNvSpPr>
          <p:nvPr/>
        </p:nvSpPr>
        <p:spPr bwMode="auto">
          <a:xfrm>
            <a:off x="990600" y="1261646"/>
            <a:ext cx="98298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sp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eaLnBrk="0" fontAlgn="base" hangingPunct="0">
              <a:spcBef>
                <a:spcPct val="0"/>
              </a:spcBef>
              <a:spcAft>
                <a:spcPct val="0"/>
              </a:spcAft>
              <a:buFont typeface="Wingdings" panose="05000000000000000000" pitchFamily="2" charset="2"/>
              <a:buChar char="q"/>
            </a:pPr>
            <a:r>
              <a:rPr lang="en-GB" altLang="en-US" sz="2200" b="1" dirty="0">
                <a:solidFill>
                  <a:schemeClr val="tx1"/>
                </a:solidFill>
                <a:latin typeface="Times New Roman" panose="02020603050405020304" pitchFamily="18" charset="0"/>
                <a:cs typeface="Times New Roman" panose="02020603050405020304" pitchFamily="18" charset="0"/>
              </a:rPr>
              <a:t>Deep Learning disease detection: </a:t>
            </a:r>
            <a:r>
              <a:rPr lang="en-US" altLang="en-US" sz="2200" dirty="0">
                <a:solidFill>
                  <a:schemeClr val="tx1"/>
                </a:solidFill>
                <a:latin typeface="Times New Roman" panose="02020603050405020304" pitchFamily="18" charset="0"/>
                <a:cs typeface="Times New Roman" panose="02020603050405020304" pitchFamily="18" charset="0"/>
              </a:rPr>
              <a:t>Many studies use deep learning models such as Faster R-CNN, SSD, YOLO, and various CNN architectures for pest identification, achieving strong performance ranging from 82% to 98% accuracy across different crops.</a:t>
            </a:r>
          </a:p>
          <a:p>
            <a:pPr algn="just" eaLnBrk="0" fontAlgn="base" hangingPunct="0">
              <a:spcBef>
                <a:spcPct val="0"/>
              </a:spcBef>
              <a:spcAft>
                <a:spcPct val="0"/>
              </a:spcAft>
              <a:buFont typeface="Wingdings" panose="05000000000000000000" pitchFamily="2" charset="2"/>
              <a:buChar char="q"/>
            </a:pPr>
            <a:endParaRPr lang="en-US" altLang="en-US" sz="2200" b="1"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Wingdings" panose="05000000000000000000" pitchFamily="2" charset="2"/>
              <a:buChar char="q"/>
            </a:pPr>
            <a:r>
              <a:rPr lang="en-US" altLang="en-US" sz="2200" b="1" dirty="0">
                <a:solidFill>
                  <a:schemeClr val="tx1"/>
                </a:solidFill>
                <a:latin typeface="Times New Roman" panose="02020603050405020304" pitchFamily="18" charset="0"/>
                <a:cs typeface="Times New Roman" panose="02020603050405020304" pitchFamily="18" charset="0"/>
              </a:rPr>
              <a:t>Use of Lightweight and Mobile-Friendly Models: </a:t>
            </a:r>
            <a:r>
              <a:rPr lang="en-US" altLang="en-US" sz="2200" dirty="0">
                <a:solidFill>
                  <a:schemeClr val="tx1"/>
                </a:solidFill>
                <a:latin typeface="Times New Roman" panose="02020603050405020304" pitchFamily="18" charset="0"/>
                <a:cs typeface="Times New Roman" panose="02020603050405020304" pitchFamily="18" charset="0"/>
              </a:rPr>
              <a:t>Research highlights the effectiveness of efficient models like </a:t>
            </a:r>
            <a:r>
              <a:rPr lang="en-US" altLang="en-US" sz="2200" dirty="0" err="1">
                <a:solidFill>
                  <a:schemeClr val="tx1"/>
                </a:solidFill>
                <a:latin typeface="Times New Roman" panose="02020603050405020304" pitchFamily="18" charset="0"/>
                <a:cs typeface="Times New Roman" panose="02020603050405020304" pitchFamily="18" charset="0"/>
              </a:rPr>
              <a:t>MobileNet</a:t>
            </a:r>
            <a:r>
              <a:rPr lang="en-US" altLang="en-US" sz="2200" dirty="0">
                <a:solidFill>
                  <a:schemeClr val="tx1"/>
                </a:solidFill>
                <a:latin typeface="Times New Roman" panose="02020603050405020304" pitchFamily="18" charset="0"/>
                <a:cs typeface="Times New Roman" panose="02020603050405020304" pitchFamily="18" charset="0"/>
              </a:rPr>
              <a:t> and MobileNetV3 for real-time detection, proving that lightweight architectures can operate reliably in resource-limited field environments.</a:t>
            </a:r>
            <a:endParaRPr lang="en-GB" altLang="en-US" sz="2200" dirty="0">
              <a:solidFill>
                <a:schemeClr val="tx1"/>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None/>
            </a:pPr>
            <a:endParaRPr lang="en-GB" altLang="en-US" sz="2200" b="1"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Wingdings" panose="05000000000000000000" pitchFamily="2" charset="2"/>
              <a:buChar char="q"/>
            </a:pPr>
            <a:r>
              <a:rPr lang="en-GB" altLang="en-US" sz="2200" b="1" dirty="0">
                <a:solidFill>
                  <a:schemeClr val="tx1"/>
                </a:solidFill>
                <a:latin typeface="Times New Roman" panose="02020603050405020304" pitchFamily="18" charset="0"/>
                <a:cs typeface="Times New Roman" panose="02020603050405020304" pitchFamily="18" charset="0"/>
              </a:rPr>
              <a:t>Real-Time Detection in Agriculture: </a:t>
            </a:r>
            <a:r>
              <a:rPr lang="en-US" altLang="en-US" sz="2200" dirty="0">
                <a:solidFill>
                  <a:schemeClr val="tx1"/>
                </a:solidFill>
                <a:latin typeface="Times New Roman" panose="02020603050405020304" pitchFamily="18" charset="0"/>
                <a:cs typeface="Times New Roman" panose="02020603050405020304" pitchFamily="18" charset="0"/>
              </a:rPr>
              <a:t>Works using Faster R-CNN, SSD, and YOLOv5-S demonstrate that pest detection</a:t>
            </a:r>
            <a:r>
              <a:rPr lang="en-GB" altLang="en-US" sz="2200" dirty="0">
                <a:solidFill>
                  <a:schemeClr val="tx1"/>
                </a:solidFill>
                <a:latin typeface="Times New Roman" panose="02020603050405020304" pitchFamily="18" charset="0"/>
                <a:cs typeface="Times New Roman" panose="02020603050405020304" pitchFamily="18" charset="0"/>
              </a:rPr>
              <a:t> highlights the importance of reliable classification using deep learning models.</a:t>
            </a:r>
          </a:p>
          <a:p>
            <a:pPr marL="0" indent="0" algn="just" eaLnBrk="0" fontAlgn="base" hangingPunct="0">
              <a:spcBef>
                <a:spcPct val="0"/>
              </a:spcBef>
              <a:spcAft>
                <a:spcPct val="0"/>
              </a:spcAft>
              <a:buNone/>
            </a:pPr>
            <a:endParaRPr lang="en-US" altLang="en-US" sz="22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DA3D94AA-E697-0501-5F35-F91470AA07B3}"/>
              </a:ext>
            </a:extLst>
          </p:cNvPr>
          <p:cNvSpPr txBox="1">
            <a:spLocks/>
          </p:cNvSpPr>
          <p:nvPr/>
        </p:nvSpPr>
        <p:spPr>
          <a:xfrm>
            <a:off x="5816600" y="6400799"/>
            <a:ext cx="5080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6</a:t>
            </a:fld>
            <a:endParaRPr lang="en-US"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Similar  Studies</a:t>
            </a:r>
            <a:endParaRPr lang="en-US" dirty="0">
              <a:solidFill>
                <a:srgbClr val="7030A0"/>
              </a:solidFill>
            </a:endParaRPr>
          </a:p>
        </p:txBody>
      </p:sp>
      <p:sp>
        <p:nvSpPr>
          <p:cNvPr id="7" name="Rectangle 1"/>
          <p:cNvSpPr txBox="1">
            <a:spLocks noChangeArrowheads="1"/>
          </p:cNvSpPr>
          <p:nvPr/>
        </p:nvSpPr>
        <p:spPr bwMode="auto">
          <a:xfrm>
            <a:off x="1066800" y="2133600"/>
            <a:ext cx="982980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sp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eaLnBrk="0" fontAlgn="base" hangingPunct="0">
              <a:spcBef>
                <a:spcPct val="0"/>
              </a:spcBef>
              <a:spcAft>
                <a:spcPct val="0"/>
              </a:spcAft>
              <a:buFont typeface="Wingdings" panose="05000000000000000000" pitchFamily="2" charset="2"/>
              <a:buChar char="q"/>
            </a:pPr>
            <a:r>
              <a:rPr lang="en-GB" altLang="en-US" sz="2200" b="1" dirty="0">
                <a:solidFill>
                  <a:schemeClr val="tx1"/>
                </a:solidFill>
                <a:latin typeface="Times New Roman" panose="02020603050405020304" pitchFamily="18" charset="0"/>
                <a:cs typeface="Times New Roman" panose="02020603050405020304" pitchFamily="18" charset="0"/>
              </a:rPr>
              <a:t>Explainable AI in Agriculture: </a:t>
            </a:r>
            <a:r>
              <a:rPr lang="en-GB" altLang="en-US" sz="2200" dirty="0">
                <a:solidFill>
                  <a:schemeClr val="tx1"/>
                </a:solidFill>
                <a:latin typeface="Times New Roman" panose="02020603050405020304" pitchFamily="18" charset="0"/>
                <a:cs typeface="Times New Roman" panose="02020603050405020304" pitchFamily="18" charset="0"/>
              </a:rPr>
              <a:t>Recent research introduces Grad-CAM and similar visualization methods to interpret model decisions, making tree disease identification systems more transparent for botanical experts.</a:t>
            </a:r>
          </a:p>
          <a:p>
            <a:pPr marL="0" indent="0" algn="just" eaLnBrk="0" fontAlgn="base" hangingPunct="0">
              <a:spcBef>
                <a:spcPct val="0"/>
              </a:spcBef>
              <a:spcAft>
                <a:spcPct val="0"/>
              </a:spcAft>
              <a:buNone/>
            </a:pPr>
            <a:endParaRPr lang="en-US" altLang="en-US" sz="2200"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Wingdings" panose="05000000000000000000" pitchFamily="2" charset="2"/>
              <a:buChar char="q"/>
            </a:pPr>
            <a:r>
              <a:rPr lang="en-GB" altLang="en-US" sz="2200" b="1" dirty="0">
                <a:solidFill>
                  <a:schemeClr val="tx1"/>
                </a:solidFill>
                <a:latin typeface="Times New Roman" panose="02020603050405020304" pitchFamily="18" charset="0"/>
                <a:cs typeface="Times New Roman" panose="02020603050405020304" pitchFamily="18" charset="0"/>
              </a:rPr>
              <a:t>Challenges Noted in Previous Work: </a:t>
            </a:r>
            <a:r>
              <a:rPr lang="en-GB" altLang="en-US" sz="2200" dirty="0">
                <a:solidFill>
                  <a:schemeClr val="tx1"/>
                </a:solidFill>
                <a:latin typeface="Times New Roman" panose="02020603050405020304" pitchFamily="18" charset="0"/>
                <a:cs typeface="Times New Roman" panose="02020603050405020304" pitchFamily="18" charset="0"/>
              </a:rPr>
              <a:t>Studies often struggle with visual disease, cluttered backgrounds, and inconsistent lighting, emphasizing the need for robust preprocessing and augmentation; issues this project directly addresses.</a:t>
            </a:r>
          </a:p>
          <a:p>
            <a:pPr marL="0" indent="0" algn="just" eaLnBrk="0" fontAlgn="base" hangingPunct="0">
              <a:spcBef>
                <a:spcPct val="0"/>
              </a:spcBef>
              <a:spcAft>
                <a:spcPct val="0"/>
              </a:spcAft>
              <a:buNone/>
            </a:pPr>
            <a:endParaRPr lang="en-US" altLang="en-US" sz="22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3800A689-CA25-F60E-2295-4572D568E340}"/>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7</a:t>
            </a:fld>
            <a:endParaRPr lang="en-US"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21985"/>
            <a:ext cx="8763000" cy="868362"/>
          </a:xfrm>
        </p:spPr>
        <p:txBody>
          <a:bodyPr>
            <a:normAutofit fontScale="90000"/>
          </a:bodyPr>
          <a:lstStyle/>
          <a:p>
            <a:r>
              <a:rPr lang="en-US" dirty="0">
                <a:solidFill>
                  <a:srgbClr val="7030A0"/>
                </a:solidFill>
                <a:latin typeface="Times New Roman" panose="02020603050405020304" pitchFamily="18" charset="0"/>
                <a:cs typeface="Times New Roman" panose="02020603050405020304" pitchFamily="18" charset="0"/>
              </a:rPr>
              <a:t>Comparison Between Existing Works </a:t>
            </a:r>
            <a:endParaRPr lang="en-US" dirty="0">
              <a:solidFill>
                <a:srgbClr val="7030A0"/>
              </a:solidFill>
            </a:endParaRPr>
          </a:p>
        </p:txBody>
      </p:sp>
      <p:graphicFrame>
        <p:nvGraphicFramePr>
          <p:cNvPr id="7" name="Content Placeholder 6">
            <a:extLst>
              <a:ext uri="{FF2B5EF4-FFF2-40B4-BE49-F238E27FC236}">
                <a16:creationId xmlns:a16="http://schemas.microsoft.com/office/drawing/2014/main" id="{B73D993F-9A2D-78A2-8443-40D1E53877A1}"/>
              </a:ext>
            </a:extLst>
          </p:cNvPr>
          <p:cNvGraphicFramePr>
            <a:graphicFrameLocks noGrp="1"/>
          </p:cNvGraphicFramePr>
          <p:nvPr>
            <p:ph sz="quarter" idx="13"/>
            <p:extLst>
              <p:ext uri="{D42A27DB-BD31-4B8C-83A1-F6EECF244321}">
                <p14:modId xmlns:p14="http://schemas.microsoft.com/office/powerpoint/2010/main" val="3905982040"/>
              </p:ext>
            </p:extLst>
          </p:nvPr>
        </p:nvGraphicFramePr>
        <p:xfrm>
          <a:off x="2133601" y="1221204"/>
          <a:ext cx="7924798" cy="4487464"/>
        </p:xfrm>
        <a:graphic>
          <a:graphicData uri="http://schemas.openxmlformats.org/drawingml/2006/table">
            <a:tbl>
              <a:tblPr/>
              <a:tblGrid>
                <a:gridCol w="1192229">
                  <a:extLst>
                    <a:ext uri="{9D8B030D-6E8A-4147-A177-3AD203B41FA5}">
                      <a16:colId xmlns:a16="http://schemas.microsoft.com/office/drawing/2014/main" val="1253143119"/>
                    </a:ext>
                  </a:extLst>
                </a:gridCol>
                <a:gridCol w="869623">
                  <a:extLst>
                    <a:ext uri="{9D8B030D-6E8A-4147-A177-3AD203B41FA5}">
                      <a16:colId xmlns:a16="http://schemas.microsoft.com/office/drawing/2014/main" val="2309582326"/>
                    </a:ext>
                  </a:extLst>
                </a:gridCol>
                <a:gridCol w="1823404">
                  <a:extLst>
                    <a:ext uri="{9D8B030D-6E8A-4147-A177-3AD203B41FA5}">
                      <a16:colId xmlns:a16="http://schemas.microsoft.com/office/drawing/2014/main" val="1287003815"/>
                    </a:ext>
                  </a:extLst>
                </a:gridCol>
                <a:gridCol w="1823404">
                  <a:extLst>
                    <a:ext uri="{9D8B030D-6E8A-4147-A177-3AD203B41FA5}">
                      <a16:colId xmlns:a16="http://schemas.microsoft.com/office/drawing/2014/main" val="3886924295"/>
                    </a:ext>
                  </a:extLst>
                </a:gridCol>
                <a:gridCol w="2216138">
                  <a:extLst>
                    <a:ext uri="{9D8B030D-6E8A-4147-A177-3AD203B41FA5}">
                      <a16:colId xmlns:a16="http://schemas.microsoft.com/office/drawing/2014/main" val="2002557389"/>
                    </a:ext>
                  </a:extLst>
                </a:gridCol>
              </a:tblGrid>
              <a:tr h="424327">
                <a:tc>
                  <a:txBody>
                    <a:bodyPr/>
                    <a:lstStyle/>
                    <a:p>
                      <a:pPr marL="77470" rtl="0" fontAlgn="t">
                        <a:buNone/>
                      </a:pPr>
                      <a:r>
                        <a:rPr lang="en-US" sz="1600" b="1" i="0" u="none" strike="noStrike" dirty="0">
                          <a:solidFill>
                            <a:srgbClr val="000000"/>
                          </a:solidFill>
                          <a:effectLst/>
                          <a:latin typeface="Century" panose="02040604050505020304" pitchFamily="18" charset="0"/>
                        </a:rPr>
                        <a:t>Author</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7470" rtl="0" fontAlgn="t">
                        <a:buNone/>
                      </a:pPr>
                      <a:r>
                        <a:rPr lang="en-US" sz="1600" b="1" i="0" u="none" strike="noStrike" dirty="0">
                          <a:solidFill>
                            <a:srgbClr val="000000"/>
                          </a:solidFill>
                          <a:effectLst/>
                          <a:latin typeface="Century" panose="02040604050505020304" pitchFamily="18" charset="0"/>
                        </a:rPr>
                        <a:t>Year</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rtl="0" fontAlgn="t">
                        <a:buNone/>
                      </a:pPr>
                      <a:r>
                        <a:rPr lang="en-US" sz="1600" b="1" i="0" u="none" strike="noStrike" dirty="0">
                          <a:solidFill>
                            <a:srgbClr val="000000"/>
                          </a:solidFill>
                          <a:effectLst/>
                          <a:latin typeface="Century" panose="02040604050505020304" pitchFamily="18" charset="0"/>
                        </a:rPr>
                        <a:t>Title</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rtl="0" fontAlgn="t">
                        <a:buNone/>
                      </a:pPr>
                      <a:r>
                        <a:rPr lang="en-US" sz="1600" b="1" i="0" u="none" strike="noStrike" dirty="0">
                          <a:solidFill>
                            <a:srgbClr val="000000"/>
                          </a:solidFill>
                          <a:effectLst/>
                          <a:latin typeface="Century" panose="02040604050505020304" pitchFamily="18" charset="0"/>
                        </a:rPr>
                        <a:t>Methodology</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algn="l" rtl="0" fontAlgn="t">
                        <a:buNone/>
                      </a:pPr>
                      <a:r>
                        <a:rPr lang="en-US" sz="1600" b="1" i="0" u="none" strike="noStrike" dirty="0">
                          <a:solidFill>
                            <a:srgbClr val="000000"/>
                          </a:solidFill>
                          <a:effectLst/>
                          <a:latin typeface="Century" panose="02040604050505020304" pitchFamily="18" charset="0"/>
                        </a:rPr>
                        <a:t>Key Findings</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1943797"/>
                  </a:ext>
                </a:extLst>
              </a:tr>
              <a:tr h="927747">
                <a:tc>
                  <a:txBody>
                    <a:bodyPr/>
                    <a:lstStyle/>
                    <a:p>
                      <a:pPr marL="77470" rtl="0" fontAlgn="t">
                        <a:buNone/>
                      </a:pPr>
                      <a:r>
                        <a:rPr lang="en-US" sz="1600" b="0" i="0" u="none" strike="noStrike" dirty="0" err="1">
                          <a:solidFill>
                            <a:srgbClr val="000000"/>
                          </a:solidFill>
                          <a:effectLst/>
                          <a:latin typeface="Century" panose="02040604050505020304" pitchFamily="18" charset="0"/>
                        </a:rPr>
                        <a:t>Subbaian</a:t>
                      </a:r>
                      <a:r>
                        <a:rPr lang="en-US" sz="1600" b="0" i="0" u="none" strike="noStrike" dirty="0">
                          <a:solidFill>
                            <a:srgbClr val="000000"/>
                          </a:solidFill>
                          <a:effectLst/>
                          <a:latin typeface="Century" panose="02040604050505020304" pitchFamily="18" charset="0"/>
                        </a:rPr>
                        <a:t> et al. [1]</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2024</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76835" marR="71755" rtl="0" fontAlgn="t">
                        <a:spcBef>
                          <a:spcPts val="5"/>
                        </a:spcBef>
                        <a:buNone/>
                      </a:pPr>
                      <a:r>
                        <a:rPr lang="en-US" sz="1600" b="0" i="0" u="none" strike="noStrike" dirty="0">
                          <a:solidFill>
                            <a:srgbClr val="000000"/>
                          </a:solidFill>
                          <a:effectLst/>
                          <a:latin typeface="Century" panose="02040604050505020304" pitchFamily="18" charset="0"/>
                        </a:rPr>
                        <a:t>Coconut leaf disease detection</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76835" rtl="0" fontAlgn="t">
                        <a:spcBef>
                          <a:spcPts val="10"/>
                        </a:spcBef>
                        <a:buNone/>
                      </a:pPr>
                      <a:r>
                        <a:rPr lang="en-US" sz="1600" b="0" i="0" u="none" strike="noStrike" dirty="0">
                          <a:solidFill>
                            <a:srgbClr val="000000"/>
                          </a:solidFill>
                          <a:effectLst/>
                          <a:latin typeface="Century" panose="02040604050505020304" pitchFamily="18" charset="0"/>
                        </a:rPr>
                        <a:t>YOLOv4</a:t>
                      </a:r>
                      <a:endParaRPr lang="en-US" sz="1600" dirty="0">
                        <a:effectLst/>
                        <a:latin typeface="Century" panose="02040604050505020304" pitchFamily="18" charset="0"/>
                      </a:endParaRPr>
                    </a:p>
                    <a:p>
                      <a:pPr fontAlgn="t">
                        <a:buNone/>
                      </a:pPr>
                      <a:br>
                        <a:rPr lang="en-US" sz="1600" dirty="0">
                          <a:effectLst/>
                          <a:latin typeface="Century" panose="02040604050505020304" pitchFamily="18" charset="0"/>
                        </a:rPr>
                      </a:b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76835" marR="69850" algn="l" rtl="0" fontAlgn="t">
                        <a:spcBef>
                          <a:spcPts val="5"/>
                        </a:spcBef>
                        <a:buNone/>
                      </a:pPr>
                      <a:r>
                        <a:rPr lang="en-US" sz="1600" b="0" i="0" u="none" strike="noStrike" dirty="0">
                          <a:solidFill>
                            <a:srgbClr val="000000"/>
                          </a:solidFill>
                          <a:effectLst/>
                          <a:latin typeface="Century" panose="02040604050505020304" pitchFamily="18" charset="0"/>
                        </a:rPr>
                        <a:t>Achieved 88% F1-score and 85% </a:t>
                      </a:r>
                      <a:r>
                        <a:rPr lang="en-US" sz="1600" b="0" i="0" u="none" strike="noStrike" dirty="0" err="1">
                          <a:solidFill>
                            <a:srgbClr val="000000"/>
                          </a:solidFill>
                          <a:effectLst/>
                          <a:latin typeface="Century" panose="02040604050505020304" pitchFamily="18" charset="0"/>
                        </a:rPr>
                        <a:t>mAP</a:t>
                      </a:r>
                      <a:r>
                        <a:rPr lang="en-US" sz="1600" b="0" i="0" u="none" strike="noStrike" dirty="0">
                          <a:solidFill>
                            <a:srgbClr val="000000"/>
                          </a:solidFill>
                          <a:effectLst/>
                          <a:latin typeface="Century" panose="02040604050505020304" pitchFamily="18" charset="0"/>
                        </a:rPr>
                        <a:t> for leaf disease detection.</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23259275"/>
                  </a:ext>
                </a:extLst>
              </a:tr>
              <a:tr h="818638">
                <a:tc>
                  <a:txBody>
                    <a:bodyPr/>
                    <a:lstStyle/>
                    <a:p>
                      <a:pPr marL="77470" rtl="0" fontAlgn="t">
                        <a:buNone/>
                      </a:pPr>
                      <a:r>
                        <a:rPr lang="en-US" sz="1600" b="0" i="0" u="none" strike="noStrike" dirty="0">
                          <a:solidFill>
                            <a:srgbClr val="000000"/>
                          </a:solidFill>
                          <a:effectLst/>
                          <a:latin typeface="Century" panose="02040604050505020304" pitchFamily="18" charset="0"/>
                        </a:rPr>
                        <a:t>Singh et al. [2]</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2021</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rtl="0" fontAlgn="t">
                        <a:spcBef>
                          <a:spcPts val="10"/>
                        </a:spcBef>
                        <a:buNone/>
                      </a:pPr>
                      <a:r>
                        <a:rPr lang="en-US" sz="1600" b="0" i="0" u="none" strike="noStrike" dirty="0">
                          <a:solidFill>
                            <a:srgbClr val="000000"/>
                          </a:solidFill>
                          <a:effectLst/>
                          <a:latin typeface="Century" panose="02040604050505020304" pitchFamily="18" charset="0"/>
                        </a:rPr>
                        <a:t>Coconut disease and pest detection</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rtl="0" fontAlgn="t">
                        <a:buNone/>
                      </a:pPr>
                      <a:r>
                        <a:rPr lang="en-US" sz="1600" b="0" i="0" u="none" strike="noStrike" dirty="0">
                          <a:solidFill>
                            <a:srgbClr val="000000"/>
                          </a:solidFill>
                          <a:effectLst/>
                          <a:latin typeface="Century" panose="02040604050505020304" pitchFamily="18" charset="0"/>
                        </a:rPr>
                        <a:t>CNN, </a:t>
                      </a:r>
                      <a:r>
                        <a:rPr lang="en-US" sz="1600" b="0" i="0" u="none" strike="noStrike" dirty="0" err="1">
                          <a:solidFill>
                            <a:srgbClr val="000000"/>
                          </a:solidFill>
                          <a:effectLst/>
                          <a:latin typeface="Century" panose="02040604050505020304" pitchFamily="18" charset="0"/>
                        </a:rPr>
                        <a:t>MobileNet</a:t>
                      </a:r>
                      <a:r>
                        <a:rPr lang="en-US" sz="1600" b="0" i="0" u="none" strike="noStrike" dirty="0">
                          <a:solidFill>
                            <a:srgbClr val="000000"/>
                          </a:solidFill>
                          <a:effectLst/>
                          <a:latin typeface="Century" panose="02040604050505020304" pitchFamily="18" charset="0"/>
                        </a:rPr>
                        <a:t>, InceptionResNetV2</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marR="71755" algn="l" rtl="0" fontAlgn="t">
                        <a:spcBef>
                          <a:spcPts val="5"/>
                        </a:spcBef>
                        <a:buNone/>
                      </a:pPr>
                      <a:r>
                        <a:rPr lang="en-US" sz="1600" b="0" i="0" u="none" strike="noStrike" dirty="0">
                          <a:solidFill>
                            <a:srgbClr val="000000"/>
                          </a:solidFill>
                          <a:effectLst/>
                          <a:latin typeface="Century" panose="02040604050505020304" pitchFamily="18" charset="0"/>
                        </a:rPr>
                        <a:t>Custom CNN achieved 96.94% accuracy.</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26192169"/>
                  </a:ext>
                </a:extLst>
              </a:tr>
              <a:tr h="818638">
                <a:tc>
                  <a:txBody>
                    <a:bodyPr/>
                    <a:lstStyle/>
                    <a:p>
                      <a:pPr marL="77470" rtl="0" fontAlgn="t">
                        <a:spcBef>
                          <a:spcPts val="10"/>
                        </a:spcBef>
                        <a:buNone/>
                      </a:pPr>
                      <a:r>
                        <a:rPr lang="en-US" sz="1600" b="0" i="0" u="none" strike="noStrike" dirty="0">
                          <a:solidFill>
                            <a:srgbClr val="000000"/>
                          </a:solidFill>
                          <a:effectLst/>
                          <a:latin typeface="Century" panose="02040604050505020304" pitchFamily="18" charset="0"/>
                        </a:rPr>
                        <a:t>Nivethitha et al. [5]</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2022</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rtl="0" fontAlgn="t">
                        <a:spcBef>
                          <a:spcPts val="10"/>
                        </a:spcBef>
                        <a:buNone/>
                      </a:pPr>
                      <a:r>
                        <a:rPr lang="en-US" sz="1600" b="0" i="0" u="none" strike="noStrike" dirty="0">
                          <a:solidFill>
                            <a:srgbClr val="000000"/>
                          </a:solidFill>
                          <a:effectLst/>
                          <a:latin typeface="Century" panose="02040604050505020304" pitchFamily="18" charset="0"/>
                        </a:rPr>
                        <a:t>Review on coconut disease detection</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rtl="0" fontAlgn="t">
                        <a:spcBef>
                          <a:spcPts val="10"/>
                        </a:spcBef>
                        <a:buNone/>
                      </a:pPr>
                      <a:r>
                        <a:rPr lang="en-US" sz="1600" b="0" i="0" u="none" strike="noStrike" dirty="0">
                          <a:solidFill>
                            <a:srgbClr val="000000"/>
                          </a:solidFill>
                          <a:effectLst/>
                          <a:latin typeface="Century" panose="02040604050505020304" pitchFamily="18" charset="0"/>
                        </a:rPr>
                        <a:t>Deep Learning Review</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1755" algn="l" rtl="0" fontAlgn="t">
                        <a:spcBef>
                          <a:spcPts val="5"/>
                        </a:spcBef>
                        <a:buNone/>
                      </a:pPr>
                      <a:r>
                        <a:rPr lang="en-US" sz="1600" b="0" i="0" u="none" strike="noStrike" dirty="0">
                          <a:solidFill>
                            <a:srgbClr val="000000"/>
                          </a:solidFill>
                          <a:effectLst/>
                          <a:latin typeface="Century" panose="02040604050505020304" pitchFamily="18" charset="0"/>
                        </a:rPr>
                        <a:t>Summarized CNN-based methods and challenges.</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extLst>
                  <a:ext uri="{0D108BD9-81ED-4DB2-BD59-A6C34878D82A}">
                    <a16:rowId xmlns:a16="http://schemas.microsoft.com/office/drawing/2014/main" val="1308943108"/>
                  </a:ext>
                </a:extLst>
              </a:tr>
              <a:tr h="818638">
                <a:tc>
                  <a:txBody>
                    <a:bodyPr/>
                    <a:lstStyle/>
                    <a:p>
                      <a:pPr marL="77470" rtl="0" fontAlgn="t">
                        <a:spcBef>
                          <a:spcPts val="10"/>
                        </a:spcBef>
                        <a:buNone/>
                      </a:pPr>
                      <a:r>
                        <a:rPr lang="en-US" sz="1600" b="0" i="0" u="none" strike="noStrike">
                          <a:solidFill>
                            <a:srgbClr val="000000"/>
                          </a:solidFill>
                          <a:effectLst/>
                          <a:latin typeface="Century" panose="02040604050505020304" pitchFamily="18" charset="0"/>
                        </a:rPr>
                        <a:t>Muthulakshmi et al. [7]</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2025</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marR="72390" rtl="0" fontAlgn="t">
                        <a:spcBef>
                          <a:spcPts val="10"/>
                        </a:spcBef>
                        <a:buNone/>
                      </a:pPr>
                      <a:r>
                        <a:rPr lang="en-US" sz="1600" b="0" i="0" u="none" strike="noStrike">
                          <a:solidFill>
                            <a:srgbClr val="000000"/>
                          </a:solidFill>
                          <a:effectLst/>
                          <a:latin typeface="Century" panose="02040604050505020304" pitchFamily="18" charset="0"/>
                        </a:rPr>
                        <a:t>Coconut disease classification</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rtl="0" fontAlgn="t">
                        <a:buNone/>
                      </a:pPr>
                      <a:r>
                        <a:rPr lang="en-US" sz="1600" b="0" i="0" u="none" strike="noStrike">
                          <a:solidFill>
                            <a:srgbClr val="000000"/>
                          </a:solidFill>
                          <a:effectLst/>
                          <a:latin typeface="Century" panose="02040604050505020304" pitchFamily="18" charset="0"/>
                        </a:rPr>
                        <a:t>DenseNet201, ResNet50, EfficientNetB0</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marR="71755" algn="l" rtl="0" fontAlgn="t">
                        <a:spcBef>
                          <a:spcPts val="5"/>
                        </a:spcBef>
                        <a:buNone/>
                      </a:pPr>
                      <a:r>
                        <a:rPr lang="en-US" sz="1600" b="0" i="0" u="none" strike="noStrike" dirty="0">
                          <a:solidFill>
                            <a:srgbClr val="000000"/>
                          </a:solidFill>
                          <a:effectLst/>
                          <a:latin typeface="Century" panose="02040604050505020304" pitchFamily="18" charset="0"/>
                        </a:rPr>
                        <a:t>Achieved up to 99.85% accuracy.</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60927846"/>
                  </a:ext>
                </a:extLst>
              </a:tr>
              <a:tr h="607603">
                <a:tc>
                  <a:txBody>
                    <a:bodyPr/>
                    <a:lstStyle/>
                    <a:p>
                      <a:pPr marL="77470" rtl="0" fontAlgn="t">
                        <a:spcBef>
                          <a:spcPts val="10"/>
                        </a:spcBef>
                        <a:buNone/>
                      </a:pPr>
                      <a:r>
                        <a:rPr lang="en-US" sz="1600" b="0" i="0" u="none" strike="noStrike">
                          <a:solidFill>
                            <a:srgbClr val="000000"/>
                          </a:solidFill>
                          <a:effectLst/>
                          <a:latin typeface="Century" panose="02040604050505020304" pitchFamily="18" charset="0"/>
                        </a:rPr>
                        <a:t>George et al. [8]</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7470" rtl="0" fontAlgn="t">
                        <a:buNone/>
                      </a:pPr>
                      <a:r>
                        <a:rPr lang="en-US" sz="1600" b="0" i="0" u="none" strike="noStrike">
                          <a:solidFill>
                            <a:srgbClr val="000000"/>
                          </a:solidFill>
                          <a:effectLst/>
                          <a:latin typeface="Century" panose="02040604050505020304" pitchFamily="18" charset="0"/>
                        </a:rPr>
                        <a:t>2023</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2390" rtl="0" fontAlgn="t">
                        <a:spcBef>
                          <a:spcPts val="10"/>
                        </a:spcBef>
                        <a:buNone/>
                      </a:pPr>
                      <a:r>
                        <a:rPr lang="en-US" sz="1600" b="0" i="0" u="none" strike="noStrike">
                          <a:solidFill>
                            <a:srgbClr val="000000"/>
                          </a:solidFill>
                          <a:effectLst/>
                          <a:latin typeface="Century" panose="02040604050505020304" pitchFamily="18" charset="0"/>
                        </a:rPr>
                        <a:t>Early detection of stem bleeding</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rtl="0" fontAlgn="t">
                        <a:buNone/>
                      </a:pPr>
                      <a:r>
                        <a:rPr lang="en-US" sz="1600" b="0" i="0" u="none" strike="noStrike" dirty="0">
                          <a:solidFill>
                            <a:srgbClr val="000000"/>
                          </a:solidFill>
                          <a:effectLst/>
                          <a:latin typeface="Century" panose="02040604050505020304" pitchFamily="18" charset="0"/>
                        </a:rPr>
                        <a:t>Color thresholding</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1755" algn="l" rtl="0" fontAlgn="t">
                        <a:spcBef>
                          <a:spcPts val="5"/>
                        </a:spcBef>
                        <a:buNone/>
                      </a:pPr>
                      <a:r>
                        <a:rPr lang="en-US" sz="1600" b="0" i="0" u="none" strike="noStrike" dirty="0">
                          <a:solidFill>
                            <a:srgbClr val="000000"/>
                          </a:solidFill>
                          <a:effectLst/>
                          <a:latin typeface="Century" panose="02040604050505020304" pitchFamily="18" charset="0"/>
                        </a:rPr>
                        <a:t>Achieved 80.36% accuracy.</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extLst>
                  <a:ext uri="{0D108BD9-81ED-4DB2-BD59-A6C34878D82A}">
                    <a16:rowId xmlns:a16="http://schemas.microsoft.com/office/drawing/2014/main" val="3016977327"/>
                  </a:ext>
                </a:extLst>
              </a:tr>
            </a:tbl>
          </a:graphicData>
        </a:graphic>
      </p:graphicFrame>
      <p:sp>
        <p:nvSpPr>
          <p:cNvPr id="9" name="TextBox 8">
            <a:extLst>
              <a:ext uri="{FF2B5EF4-FFF2-40B4-BE49-F238E27FC236}">
                <a16:creationId xmlns:a16="http://schemas.microsoft.com/office/drawing/2014/main" id="{49661216-B303-4BB1-6CBC-C6617BE977A2}"/>
              </a:ext>
            </a:extLst>
          </p:cNvPr>
          <p:cNvSpPr txBox="1"/>
          <p:nvPr/>
        </p:nvSpPr>
        <p:spPr>
          <a:xfrm>
            <a:off x="2438400" y="5771631"/>
            <a:ext cx="6781800" cy="338554"/>
          </a:xfrm>
          <a:prstGeom prst="rect">
            <a:avLst/>
          </a:prstGeom>
          <a:noFill/>
        </p:spPr>
        <p:txBody>
          <a:bodyPr wrap="square" rtlCol="0">
            <a:spAutoFit/>
          </a:bodyPr>
          <a:lstStyle/>
          <a:p>
            <a:pPr algn="ctr"/>
            <a:r>
              <a:rPr lang="en-US" sz="1600" dirty="0">
                <a:latin typeface="Century" panose="02040604050505020304" pitchFamily="18" charset="0"/>
              </a:rPr>
              <a:t>Table 1.1 </a:t>
            </a:r>
            <a:r>
              <a:rPr lang="en-US" sz="1600" dirty="0">
                <a:latin typeface="Century" panose="02040604050505020304" pitchFamily="18" charset="0"/>
                <a:cs typeface="Times New Roman" panose="02020603050405020304" pitchFamily="18" charset="0"/>
              </a:rPr>
              <a:t>Comparison Between Existing Works </a:t>
            </a:r>
            <a:endParaRPr lang="en-US" sz="1600" dirty="0">
              <a:latin typeface="Century" panose="02040604050505020304" pitchFamily="18" charset="0"/>
            </a:endParaRPr>
          </a:p>
        </p:txBody>
      </p:sp>
      <p:sp>
        <p:nvSpPr>
          <p:cNvPr id="10" name="Slide Number Placeholder 3">
            <a:extLst>
              <a:ext uri="{FF2B5EF4-FFF2-40B4-BE49-F238E27FC236}">
                <a16:creationId xmlns:a16="http://schemas.microsoft.com/office/drawing/2014/main" id="{52AC7D40-32DB-6240-B76E-919A4AB10739}"/>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8</a:t>
            </a:fld>
            <a:endParaRPr lang="en-US"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77435"/>
            <a:ext cx="8763000" cy="868362"/>
          </a:xfrm>
        </p:spPr>
        <p:txBody>
          <a:bodyPr>
            <a:normAutofit fontScale="90000"/>
          </a:bodyPr>
          <a:lstStyle/>
          <a:p>
            <a:r>
              <a:rPr lang="en-US" dirty="0">
                <a:solidFill>
                  <a:srgbClr val="7030A0"/>
                </a:solidFill>
                <a:latin typeface="Times New Roman" panose="02020603050405020304" pitchFamily="18" charset="0"/>
                <a:cs typeface="Times New Roman" panose="02020603050405020304" pitchFamily="18" charset="0"/>
              </a:rPr>
              <a:t>Comparison Between Existing Works </a:t>
            </a:r>
            <a:endParaRPr lang="en-US" dirty="0">
              <a:solidFill>
                <a:srgbClr val="7030A0"/>
              </a:solidFill>
            </a:endParaRPr>
          </a:p>
        </p:txBody>
      </p:sp>
      <p:graphicFrame>
        <p:nvGraphicFramePr>
          <p:cNvPr id="15" name="Content Placeholder 14">
            <a:extLst>
              <a:ext uri="{FF2B5EF4-FFF2-40B4-BE49-F238E27FC236}">
                <a16:creationId xmlns:a16="http://schemas.microsoft.com/office/drawing/2014/main" id="{8A1F4D8D-6E79-AEB9-0E75-13E1953F0E02}"/>
              </a:ext>
            </a:extLst>
          </p:cNvPr>
          <p:cNvGraphicFramePr>
            <a:graphicFrameLocks noGrp="1"/>
          </p:cNvGraphicFramePr>
          <p:nvPr>
            <p:ph sz="quarter" idx="13"/>
            <p:extLst>
              <p:ext uri="{D42A27DB-BD31-4B8C-83A1-F6EECF244321}">
                <p14:modId xmlns:p14="http://schemas.microsoft.com/office/powerpoint/2010/main" val="4285239482"/>
              </p:ext>
            </p:extLst>
          </p:nvPr>
        </p:nvGraphicFramePr>
        <p:xfrm>
          <a:off x="2256158" y="1422625"/>
          <a:ext cx="8173295" cy="4012749"/>
        </p:xfrm>
        <a:graphic>
          <a:graphicData uri="http://schemas.openxmlformats.org/drawingml/2006/table">
            <a:tbl>
              <a:tblPr/>
              <a:tblGrid>
                <a:gridCol w="1229611">
                  <a:extLst>
                    <a:ext uri="{9D8B030D-6E8A-4147-A177-3AD203B41FA5}">
                      <a16:colId xmlns:a16="http://schemas.microsoft.com/office/drawing/2014/main" val="3600331505"/>
                    </a:ext>
                  </a:extLst>
                </a:gridCol>
                <a:gridCol w="896892">
                  <a:extLst>
                    <a:ext uri="{9D8B030D-6E8A-4147-A177-3AD203B41FA5}">
                      <a16:colId xmlns:a16="http://schemas.microsoft.com/office/drawing/2014/main" val="1218139857"/>
                    </a:ext>
                  </a:extLst>
                </a:gridCol>
                <a:gridCol w="1880581">
                  <a:extLst>
                    <a:ext uri="{9D8B030D-6E8A-4147-A177-3AD203B41FA5}">
                      <a16:colId xmlns:a16="http://schemas.microsoft.com/office/drawing/2014/main" val="4202946782"/>
                    </a:ext>
                  </a:extLst>
                </a:gridCol>
                <a:gridCol w="1880581">
                  <a:extLst>
                    <a:ext uri="{9D8B030D-6E8A-4147-A177-3AD203B41FA5}">
                      <a16:colId xmlns:a16="http://schemas.microsoft.com/office/drawing/2014/main" val="771365859"/>
                    </a:ext>
                  </a:extLst>
                </a:gridCol>
                <a:gridCol w="2285630">
                  <a:extLst>
                    <a:ext uri="{9D8B030D-6E8A-4147-A177-3AD203B41FA5}">
                      <a16:colId xmlns:a16="http://schemas.microsoft.com/office/drawing/2014/main" val="2176007594"/>
                    </a:ext>
                  </a:extLst>
                </a:gridCol>
              </a:tblGrid>
              <a:tr h="450705">
                <a:tc>
                  <a:txBody>
                    <a:bodyPr/>
                    <a:lstStyle/>
                    <a:p>
                      <a:pPr marL="77470" marR="0" lvl="0" indent="0" algn="l" defTabSz="914400" rtl="0" eaLnBrk="1" fontAlgn="t" latinLnBrk="0" hangingPunct="1">
                        <a:lnSpc>
                          <a:spcPct val="100000"/>
                        </a:lnSpc>
                        <a:spcBef>
                          <a:spcPts val="10"/>
                        </a:spcBef>
                        <a:spcAft>
                          <a:spcPts val="0"/>
                        </a:spcAft>
                        <a:buClrTx/>
                        <a:buSzTx/>
                        <a:buFontTx/>
                        <a:buNone/>
                        <a:tabLst/>
                        <a:defRPr/>
                      </a:pPr>
                      <a:r>
                        <a:rPr lang="en-US" sz="1600" b="1" i="0" u="none" strike="noStrike" dirty="0">
                          <a:solidFill>
                            <a:srgbClr val="000000"/>
                          </a:solidFill>
                          <a:effectLst/>
                          <a:latin typeface="Century" panose="02040604050505020304" pitchFamily="18" charset="0"/>
                        </a:rPr>
                        <a:t>Author</a:t>
                      </a:r>
                      <a:endParaRPr lang="en-US" sz="1600" dirty="0">
                        <a:effectLst/>
                        <a:latin typeface="Century" panose="02040604050505020304" pitchFamily="18" charset="0"/>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7470" rtl="0" fontAlgn="t">
                        <a:buNone/>
                      </a:pPr>
                      <a:r>
                        <a:rPr lang="en-US" sz="1600" b="1" i="0" u="none" strike="noStrike" dirty="0">
                          <a:solidFill>
                            <a:srgbClr val="000000"/>
                          </a:solidFill>
                          <a:effectLst/>
                          <a:latin typeface="Century" panose="02040604050505020304" pitchFamily="18" charset="0"/>
                        </a:rPr>
                        <a:t>Year</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marR="72390" lvl="0" indent="0" algn="l" defTabSz="914400" rtl="0" eaLnBrk="1" fontAlgn="t" latinLnBrk="0" hangingPunct="1">
                        <a:lnSpc>
                          <a:spcPct val="100000"/>
                        </a:lnSpc>
                        <a:spcBef>
                          <a:spcPts val="10"/>
                        </a:spcBef>
                        <a:spcAft>
                          <a:spcPts val="0"/>
                        </a:spcAft>
                        <a:buClrTx/>
                        <a:buSzTx/>
                        <a:buFontTx/>
                        <a:buNone/>
                        <a:tabLst/>
                        <a:defRPr/>
                      </a:pPr>
                      <a:r>
                        <a:rPr lang="en-US" sz="1600" b="1" i="0" u="none" strike="noStrike" dirty="0">
                          <a:solidFill>
                            <a:srgbClr val="000000"/>
                          </a:solidFill>
                          <a:effectLst/>
                          <a:latin typeface="Century" panose="02040604050505020304" pitchFamily="18" charset="0"/>
                        </a:rPr>
                        <a:t>Title</a:t>
                      </a:r>
                      <a:endParaRPr lang="en-US" sz="1600" dirty="0">
                        <a:effectLst/>
                        <a:latin typeface="Century" panose="02040604050505020304" pitchFamily="18" charset="0"/>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rtl="0" fontAlgn="t">
                        <a:buNone/>
                      </a:pPr>
                      <a:r>
                        <a:rPr lang="en-US" sz="1600" b="1" i="0" u="none" strike="noStrike" dirty="0">
                          <a:solidFill>
                            <a:srgbClr val="000000"/>
                          </a:solidFill>
                          <a:effectLst/>
                          <a:latin typeface="Century" panose="02040604050505020304" pitchFamily="18" charset="0"/>
                        </a:rPr>
                        <a:t>Methodology</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marR="71755" lvl="0" indent="0" algn="just" defTabSz="914400" rtl="0" eaLnBrk="1" fontAlgn="t" latinLnBrk="0" hangingPunct="1">
                        <a:lnSpc>
                          <a:spcPct val="100000"/>
                        </a:lnSpc>
                        <a:spcBef>
                          <a:spcPts val="5"/>
                        </a:spcBef>
                        <a:spcAft>
                          <a:spcPts val="0"/>
                        </a:spcAft>
                        <a:buClrTx/>
                        <a:buSzTx/>
                        <a:buFontTx/>
                        <a:buNone/>
                        <a:tabLst/>
                        <a:defRPr/>
                      </a:pPr>
                      <a:r>
                        <a:rPr lang="en-US" sz="1600" b="1" i="0" u="none" strike="noStrike" dirty="0">
                          <a:solidFill>
                            <a:srgbClr val="000000"/>
                          </a:solidFill>
                          <a:effectLst/>
                          <a:latin typeface="Century" panose="02040604050505020304" pitchFamily="18" charset="0"/>
                        </a:rPr>
                        <a:t>Key Findings</a:t>
                      </a:r>
                      <a:endParaRPr lang="en-US" sz="1600" dirty="0">
                        <a:effectLst/>
                        <a:latin typeface="Century" panose="02040604050505020304" pitchFamily="18" charset="0"/>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3653389"/>
                  </a:ext>
                </a:extLst>
              </a:tr>
              <a:tr h="1189818">
                <a:tc>
                  <a:txBody>
                    <a:bodyPr/>
                    <a:lstStyle/>
                    <a:p>
                      <a:pPr marL="77470" rtl="0" fontAlgn="t">
                        <a:spcBef>
                          <a:spcPts val="10"/>
                        </a:spcBef>
                        <a:buNone/>
                      </a:pPr>
                      <a:r>
                        <a:rPr lang="en-US" sz="1600" b="0" i="0" u="none" strike="noStrike" dirty="0">
                          <a:solidFill>
                            <a:srgbClr val="000000"/>
                          </a:solidFill>
                          <a:effectLst/>
                          <a:latin typeface="Century" panose="02040604050505020304" pitchFamily="18" charset="0"/>
                        </a:rPr>
                        <a:t>Santhi &amp; Murugan [12]</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2025</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2390" rtl="0" fontAlgn="t">
                        <a:spcBef>
                          <a:spcPts val="10"/>
                        </a:spcBef>
                        <a:buNone/>
                      </a:pPr>
                      <a:r>
                        <a:rPr lang="en-US" sz="1600" b="0" i="0" u="none" strike="noStrike" dirty="0" err="1">
                          <a:solidFill>
                            <a:srgbClr val="000000"/>
                          </a:solidFill>
                          <a:effectLst/>
                          <a:latin typeface="Century" panose="02040604050505020304" pitchFamily="18" charset="0"/>
                        </a:rPr>
                        <a:t>Cocoscan</a:t>
                      </a:r>
                      <a:r>
                        <a:rPr lang="en-US" sz="1600" b="0" i="0" u="none" strike="noStrike" dirty="0">
                          <a:solidFill>
                            <a:srgbClr val="000000"/>
                          </a:solidFill>
                          <a:effectLst/>
                          <a:latin typeface="Century" panose="02040604050505020304" pitchFamily="18" charset="0"/>
                        </a:rPr>
                        <a:t>: Precision diagnostics for coconut leaf disease</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rtl="0" fontAlgn="t">
                        <a:buNone/>
                      </a:pPr>
                      <a:r>
                        <a:rPr lang="en-US" sz="1600" b="0" i="0" u="none" strike="noStrike">
                          <a:solidFill>
                            <a:srgbClr val="000000"/>
                          </a:solidFill>
                          <a:effectLst/>
                          <a:latin typeface="Century" panose="02040604050505020304" pitchFamily="18" charset="0"/>
                        </a:rPr>
                        <a:t>InceptionV3, Web App, XAI</a:t>
                      </a:r>
                      <a:endParaRPr lang="en-US" sz="160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1755" algn="just" rtl="0" fontAlgn="t">
                        <a:spcBef>
                          <a:spcPts val="5"/>
                        </a:spcBef>
                        <a:buNone/>
                      </a:pPr>
                      <a:r>
                        <a:rPr lang="en-US" sz="1600" b="0" i="0" u="none" strike="noStrike" dirty="0">
                          <a:solidFill>
                            <a:srgbClr val="000000"/>
                          </a:solidFill>
                          <a:effectLst/>
                          <a:latin typeface="Century" panose="02040604050505020304" pitchFamily="18" charset="0"/>
                        </a:rPr>
                        <a:t>Real-time disease diagnosis with XAI-based visual explanations for user trust</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extLst>
                  <a:ext uri="{0D108BD9-81ED-4DB2-BD59-A6C34878D82A}">
                    <a16:rowId xmlns:a16="http://schemas.microsoft.com/office/drawing/2014/main" val="100825016"/>
                  </a:ext>
                </a:extLst>
              </a:tr>
              <a:tr h="1175629">
                <a:tc>
                  <a:txBody>
                    <a:bodyPr/>
                    <a:lstStyle/>
                    <a:p>
                      <a:pPr marL="77470" rtl="0" fontAlgn="t">
                        <a:spcBef>
                          <a:spcPts val="10"/>
                        </a:spcBef>
                        <a:buNone/>
                      </a:pPr>
                      <a:r>
                        <a:rPr lang="en-US" sz="1600" b="0" i="0" u="none" strike="noStrike">
                          <a:solidFill>
                            <a:srgbClr val="000000"/>
                          </a:solidFill>
                          <a:effectLst/>
                          <a:latin typeface="Century" panose="02040604050505020304" pitchFamily="18" charset="0"/>
                        </a:rPr>
                        <a:t>Pandian et al. [15]</a:t>
                      </a:r>
                      <a:endParaRPr lang="en-US" sz="160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2022</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marR="72390" rtl="0" fontAlgn="t">
                        <a:spcBef>
                          <a:spcPts val="10"/>
                        </a:spcBef>
                        <a:buNone/>
                      </a:pPr>
                      <a:r>
                        <a:rPr lang="en-US" sz="1600" b="0" i="0" u="none" strike="noStrike">
                          <a:solidFill>
                            <a:srgbClr val="000000"/>
                          </a:solidFill>
                          <a:effectLst/>
                          <a:latin typeface="Century" panose="02040604050505020304" pitchFamily="18" charset="0"/>
                        </a:rPr>
                        <a:t>Plant disease detection using deep CNN</a:t>
                      </a:r>
                      <a:endParaRPr lang="en-US" sz="160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rtl="0" fontAlgn="t">
                        <a:buNone/>
                      </a:pPr>
                      <a:r>
                        <a:rPr lang="en-US" sz="1600" b="0" i="0" u="none" strike="noStrike" dirty="0">
                          <a:solidFill>
                            <a:srgbClr val="000000"/>
                          </a:solidFill>
                          <a:effectLst/>
                          <a:latin typeface="Century" panose="02040604050505020304" pitchFamily="18" charset="0"/>
                        </a:rPr>
                        <a:t>14-layer custom DCNN</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marR="71755" algn="just" rtl="0" fontAlgn="t">
                        <a:spcBef>
                          <a:spcPts val="5"/>
                        </a:spcBef>
                        <a:buNone/>
                      </a:pPr>
                      <a:r>
                        <a:rPr lang="en-US" sz="1600" b="0" i="0" u="none" strike="noStrike" dirty="0">
                          <a:solidFill>
                            <a:srgbClr val="000000"/>
                          </a:solidFill>
                          <a:effectLst/>
                          <a:latin typeface="Century" panose="02040604050505020304" pitchFamily="18" charset="0"/>
                        </a:rPr>
                        <a:t>Achieved 99.97% accuracy with large augmented dataset across 58 disease classes.</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56710118"/>
                  </a:ext>
                </a:extLst>
              </a:tr>
              <a:tr h="852658">
                <a:tc>
                  <a:txBody>
                    <a:bodyPr/>
                    <a:lstStyle/>
                    <a:p>
                      <a:pPr marL="77470" rtl="0" fontAlgn="t">
                        <a:spcBef>
                          <a:spcPts val="10"/>
                        </a:spcBef>
                        <a:buNone/>
                      </a:pPr>
                      <a:r>
                        <a:rPr lang="en-US" sz="1600" b="0" i="0" u="none" strike="noStrike" dirty="0" err="1">
                          <a:solidFill>
                            <a:srgbClr val="000000"/>
                          </a:solidFill>
                          <a:effectLst/>
                          <a:latin typeface="Century" panose="02040604050505020304" pitchFamily="18" charset="0"/>
                        </a:rPr>
                        <a:t>Vidhanaarachchi</a:t>
                      </a:r>
                      <a:r>
                        <a:rPr lang="en-US" sz="1600" b="0" i="0" u="none" strike="noStrike" dirty="0">
                          <a:solidFill>
                            <a:srgbClr val="000000"/>
                          </a:solidFill>
                          <a:effectLst/>
                          <a:latin typeface="Century" panose="02040604050505020304" pitchFamily="18" charset="0"/>
                        </a:rPr>
                        <a:t> et al. [21]</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2025</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2390" rtl="0" fontAlgn="t">
                        <a:spcBef>
                          <a:spcPts val="10"/>
                        </a:spcBef>
                        <a:buNone/>
                      </a:pPr>
                      <a:r>
                        <a:rPr lang="en-US" sz="1600" b="0" i="0" u="none" strike="noStrike">
                          <a:solidFill>
                            <a:srgbClr val="000000"/>
                          </a:solidFill>
                          <a:effectLst/>
                          <a:latin typeface="Century" panose="02040604050505020304" pitchFamily="18" charset="0"/>
                        </a:rPr>
                        <a:t>Early diagnosis of coconut leaf wilt &amp; caterpillar infestation</a:t>
                      </a:r>
                      <a:endParaRPr lang="en-US" sz="160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rtl="0" fontAlgn="t">
                        <a:buNone/>
                      </a:pPr>
                      <a:r>
                        <a:rPr lang="en-US" sz="1600" b="0" i="0" u="none" strike="noStrike">
                          <a:solidFill>
                            <a:srgbClr val="000000"/>
                          </a:solidFill>
                          <a:effectLst/>
                          <a:latin typeface="Century" panose="02040604050505020304" pitchFamily="18" charset="0"/>
                        </a:rPr>
                        <a:t>CNN, Mask R-CNN, YOLO</a:t>
                      </a:r>
                      <a:endParaRPr lang="en-US" sz="160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1755" algn="just" rtl="0" fontAlgn="t">
                        <a:spcBef>
                          <a:spcPts val="5"/>
                        </a:spcBef>
                        <a:buNone/>
                      </a:pPr>
                      <a:r>
                        <a:rPr lang="en-US" sz="1600" b="0" i="0" u="none" strike="noStrike" dirty="0">
                          <a:solidFill>
                            <a:srgbClr val="000000"/>
                          </a:solidFill>
                          <a:effectLst/>
                          <a:latin typeface="Century" panose="02040604050505020304" pitchFamily="18" charset="0"/>
                        </a:rPr>
                        <a:t>Achieved 90–97% disease accuracy and &gt;95% caterpillar detection rate.</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extLst>
                  <a:ext uri="{0D108BD9-81ED-4DB2-BD59-A6C34878D82A}">
                    <a16:rowId xmlns:a16="http://schemas.microsoft.com/office/drawing/2014/main" val="3363400391"/>
                  </a:ext>
                </a:extLst>
              </a:tr>
            </a:tbl>
          </a:graphicData>
        </a:graphic>
      </p:graphicFrame>
      <p:sp>
        <p:nvSpPr>
          <p:cNvPr id="19" name="TextBox 18">
            <a:extLst>
              <a:ext uri="{FF2B5EF4-FFF2-40B4-BE49-F238E27FC236}">
                <a16:creationId xmlns:a16="http://schemas.microsoft.com/office/drawing/2014/main" id="{95248940-958F-3D68-A4A3-07CF5CA8364E}"/>
              </a:ext>
            </a:extLst>
          </p:cNvPr>
          <p:cNvSpPr txBox="1"/>
          <p:nvPr/>
        </p:nvSpPr>
        <p:spPr>
          <a:xfrm>
            <a:off x="2438400" y="5771631"/>
            <a:ext cx="6781800" cy="338554"/>
          </a:xfrm>
          <a:prstGeom prst="rect">
            <a:avLst/>
          </a:prstGeom>
          <a:noFill/>
        </p:spPr>
        <p:txBody>
          <a:bodyPr wrap="square" rtlCol="0">
            <a:spAutoFit/>
          </a:bodyPr>
          <a:lstStyle/>
          <a:p>
            <a:pPr algn="ctr"/>
            <a:r>
              <a:rPr lang="en-US" sz="1600" dirty="0">
                <a:latin typeface="Century" panose="02040604050505020304" pitchFamily="18" charset="0"/>
              </a:rPr>
              <a:t>Table 1.1 </a:t>
            </a:r>
            <a:r>
              <a:rPr lang="en-US" sz="1600" dirty="0">
                <a:latin typeface="Century" panose="02040604050505020304" pitchFamily="18" charset="0"/>
                <a:cs typeface="Times New Roman" panose="02020603050405020304" pitchFamily="18" charset="0"/>
              </a:rPr>
              <a:t>Comparison Between Existing Works </a:t>
            </a:r>
            <a:endParaRPr lang="en-US" sz="1600" dirty="0">
              <a:latin typeface="Century" panose="02040604050505020304" pitchFamily="18" charset="0"/>
            </a:endParaRPr>
          </a:p>
        </p:txBody>
      </p:sp>
      <p:sp>
        <p:nvSpPr>
          <p:cNvPr id="20" name="Slide Number Placeholder 3">
            <a:extLst>
              <a:ext uri="{FF2B5EF4-FFF2-40B4-BE49-F238E27FC236}">
                <a16:creationId xmlns:a16="http://schemas.microsoft.com/office/drawing/2014/main" id="{1AE78DC4-18DC-1A83-0814-752AAB95F0F2}"/>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9</a:t>
            </a:fld>
            <a:endParaRPr lang="en-US"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Gap Analysis</a:t>
            </a:r>
            <a:endParaRPr lang="en-US" dirty="0">
              <a:solidFill>
                <a:srgbClr val="7030A0"/>
              </a:solidFill>
            </a:endParaRPr>
          </a:p>
        </p:txBody>
      </p:sp>
      <p:sp>
        <p:nvSpPr>
          <p:cNvPr id="3" name="Content Placeholder 2"/>
          <p:cNvSpPr>
            <a:spLocks noGrp="1"/>
          </p:cNvSpPr>
          <p:nvPr>
            <p:ph sz="quarter" idx="13"/>
          </p:nvPr>
        </p:nvSpPr>
        <p:spPr>
          <a:xfrm>
            <a:off x="609600" y="1447800"/>
            <a:ext cx="10972800" cy="4572000"/>
          </a:xfrm>
        </p:spPr>
        <p:txBody>
          <a:bodyPr>
            <a:normAutofit fontScale="70000" lnSpcReduction="20000"/>
          </a:bodyPr>
          <a:lstStyle/>
          <a:p>
            <a:pPr algn="just">
              <a:lnSpc>
                <a:spcPct val="150000"/>
              </a:lnSpc>
              <a:buFont typeface="Wingdings" panose="05000000000000000000" pitchFamily="2" charset="2"/>
              <a:buChar char="q"/>
            </a:pPr>
            <a:r>
              <a:rPr lang="en-GB" sz="3200" b="1" dirty="0">
                <a:solidFill>
                  <a:schemeClr val="tx1"/>
                </a:solidFill>
                <a:latin typeface="Times New Roman" panose="02020603050405020304" pitchFamily="18" charset="0"/>
                <a:cs typeface="Times New Roman" panose="02020603050405020304" pitchFamily="18" charset="0"/>
              </a:rPr>
              <a:t>Limited studies focus on coconut tree disease.</a:t>
            </a:r>
          </a:p>
          <a:p>
            <a:pPr algn="just">
              <a:lnSpc>
                <a:spcPct val="150000"/>
              </a:lnSpc>
              <a:buFont typeface="Wingdings" panose="05000000000000000000" pitchFamily="2" charset="2"/>
              <a:buChar char="q"/>
            </a:pPr>
            <a:r>
              <a:rPr lang="en-GB" sz="3200" b="1" dirty="0">
                <a:solidFill>
                  <a:schemeClr val="tx1"/>
                </a:solidFill>
                <a:latin typeface="Times New Roman" panose="02020603050405020304" pitchFamily="18" charset="0"/>
                <a:cs typeface="Times New Roman" panose="02020603050405020304" pitchFamily="18" charset="0"/>
              </a:rPr>
              <a:t>Datasets are limited or imbalanced, </a:t>
            </a:r>
            <a:r>
              <a:rPr lang="en-GB" sz="3200" dirty="0">
                <a:solidFill>
                  <a:schemeClr val="tx1"/>
                </a:solidFill>
                <a:latin typeface="Times New Roman" panose="02020603050405020304" pitchFamily="18" charset="0"/>
                <a:cs typeface="Times New Roman" panose="02020603050405020304" pitchFamily="18" charset="0"/>
              </a:rPr>
              <a:t>lacking real-world variation.</a:t>
            </a:r>
          </a:p>
          <a:p>
            <a:pPr algn="just">
              <a:lnSpc>
                <a:spcPct val="150000"/>
              </a:lnSpc>
              <a:buFont typeface="Wingdings" panose="05000000000000000000" pitchFamily="2" charset="2"/>
              <a:buChar char="q"/>
            </a:pPr>
            <a:r>
              <a:rPr lang="en-GB" sz="3200" b="1" dirty="0">
                <a:solidFill>
                  <a:schemeClr val="tx1"/>
                </a:solidFill>
                <a:latin typeface="Times New Roman" panose="02020603050405020304" pitchFamily="18" charset="0"/>
                <a:cs typeface="Times New Roman" panose="02020603050405020304" pitchFamily="18" charset="0"/>
              </a:rPr>
              <a:t>Heavy models dominate research; </a:t>
            </a:r>
            <a:r>
              <a:rPr lang="en-GB" sz="3200" dirty="0">
                <a:solidFill>
                  <a:schemeClr val="tx1"/>
                </a:solidFill>
                <a:latin typeface="Times New Roman" panose="02020603050405020304" pitchFamily="18" charset="0"/>
                <a:cs typeface="Times New Roman" panose="02020603050405020304" pitchFamily="18" charset="0"/>
              </a:rPr>
              <a:t>lightweight, mobile-friendly models are rarely explored.</a:t>
            </a:r>
          </a:p>
          <a:p>
            <a:pPr algn="just">
              <a:lnSpc>
                <a:spcPct val="150000"/>
              </a:lnSpc>
              <a:buFont typeface="Wingdings" panose="05000000000000000000" pitchFamily="2" charset="2"/>
              <a:buChar char="q"/>
            </a:pPr>
            <a:r>
              <a:rPr lang="en-GB" sz="3200" b="1" dirty="0">
                <a:solidFill>
                  <a:schemeClr val="tx1"/>
                </a:solidFill>
                <a:latin typeface="Times New Roman" panose="02020603050405020304" pitchFamily="18" charset="0"/>
                <a:cs typeface="Times New Roman" panose="02020603050405020304" pitchFamily="18" charset="0"/>
              </a:rPr>
              <a:t>XAI is missing in most works, </a:t>
            </a:r>
            <a:r>
              <a:rPr lang="en-GB" sz="3200" dirty="0">
                <a:solidFill>
                  <a:schemeClr val="tx1"/>
                </a:solidFill>
                <a:latin typeface="Times New Roman" panose="02020603050405020304" pitchFamily="18" charset="0"/>
                <a:cs typeface="Times New Roman" panose="02020603050405020304" pitchFamily="18" charset="0"/>
              </a:rPr>
              <a:t>making predictions hard to interpret.</a:t>
            </a:r>
          </a:p>
          <a:p>
            <a:pPr algn="just">
              <a:lnSpc>
                <a:spcPct val="150000"/>
              </a:lnSpc>
              <a:buFont typeface="Wingdings" panose="05000000000000000000" pitchFamily="2" charset="2"/>
              <a:buChar char="q"/>
            </a:pPr>
            <a:r>
              <a:rPr lang="en-GB" sz="3200" b="1" dirty="0">
                <a:solidFill>
                  <a:schemeClr val="tx1"/>
                </a:solidFill>
                <a:latin typeface="Times New Roman" panose="02020603050405020304" pitchFamily="18" charset="0"/>
                <a:cs typeface="Times New Roman" panose="02020603050405020304" pitchFamily="18" charset="0"/>
              </a:rPr>
              <a:t>Minimal multi-model comparison </a:t>
            </a:r>
            <a:r>
              <a:rPr lang="en-GB" sz="3200" dirty="0">
                <a:solidFill>
                  <a:schemeClr val="tx1"/>
                </a:solidFill>
                <a:latin typeface="Times New Roman" panose="02020603050405020304" pitchFamily="18" charset="0"/>
                <a:cs typeface="Times New Roman" panose="02020603050405020304" pitchFamily="18" charset="0"/>
              </a:rPr>
              <a:t>on a single dataset to identify the best architecture.</a:t>
            </a:r>
          </a:p>
          <a:p>
            <a:pPr algn="just">
              <a:lnSpc>
                <a:spcPct val="150000"/>
              </a:lnSpc>
              <a:buFont typeface="Wingdings" panose="05000000000000000000" pitchFamily="2" charset="2"/>
              <a:buChar char="q"/>
            </a:pPr>
            <a:r>
              <a:rPr lang="en-GB" dirty="0">
                <a:solidFill>
                  <a:schemeClr val="tx1"/>
                </a:solidFill>
                <a:latin typeface="Times New Roman" panose="02020603050405020304" pitchFamily="18" charset="0"/>
                <a:cs typeface="Times New Roman" panose="02020603050405020304" pitchFamily="18" charset="0"/>
              </a:rPr>
              <a:t> </a:t>
            </a:r>
            <a:r>
              <a:rPr lang="en-GB" b="1" dirty="0">
                <a:solidFill>
                  <a:schemeClr val="tx1"/>
                </a:solidFill>
                <a:latin typeface="Times New Roman" panose="02020603050405020304" pitchFamily="18" charset="0"/>
                <a:cs typeface="Times New Roman" panose="02020603050405020304" pitchFamily="18" charset="0"/>
              </a:rPr>
              <a:t>Lack of practical systems</a:t>
            </a:r>
            <a:r>
              <a:rPr lang="en-GB" dirty="0">
                <a:solidFill>
                  <a:schemeClr val="tx1"/>
                </a:solidFill>
                <a:latin typeface="Times New Roman" panose="02020603050405020304" pitchFamily="18" charset="0"/>
                <a:cs typeface="Times New Roman" panose="02020603050405020304" pitchFamily="18" charset="0"/>
              </a:rPr>
              <a:t>, such as deployable apps or user-facing interfaces.</a:t>
            </a:r>
          </a:p>
          <a:p>
            <a:pPr algn="just">
              <a:lnSpc>
                <a:spcPct val="150000"/>
              </a:lnSpc>
              <a:buFont typeface="Wingdings" panose="05000000000000000000" pitchFamily="2" charset="2"/>
              <a:buChar char="q"/>
            </a:pPr>
            <a:r>
              <a:rPr lang="en-GB" sz="3000" dirty="0">
                <a:solidFill>
                  <a:schemeClr val="tx1"/>
                </a:solidFill>
                <a:latin typeface="Times New Roman" panose="02020603050405020304" pitchFamily="18" charset="0"/>
                <a:cs typeface="Times New Roman" panose="02020603050405020304" pitchFamily="18" charset="0"/>
              </a:rPr>
              <a:t> </a:t>
            </a:r>
            <a:r>
              <a:rPr lang="en-GB" sz="3000" b="1" dirty="0">
                <a:solidFill>
                  <a:schemeClr val="tx1"/>
                </a:solidFill>
                <a:latin typeface="Times New Roman" panose="02020603050405020304" pitchFamily="18" charset="0"/>
                <a:cs typeface="Times New Roman" panose="02020603050405020304" pitchFamily="18" charset="0"/>
              </a:rPr>
              <a:t>Real-world challenges</a:t>
            </a:r>
            <a:r>
              <a:rPr lang="en-GB" sz="3000" dirty="0">
                <a:solidFill>
                  <a:schemeClr val="tx1"/>
                </a:solidFill>
                <a:latin typeface="Times New Roman" panose="02020603050405020304" pitchFamily="18" charset="0"/>
                <a:cs typeface="Times New Roman" panose="02020603050405020304" pitchFamily="18" charset="0"/>
              </a:rPr>
              <a:t> like diverse regions, lighting variation, and similar diseases are not well addressed.</a:t>
            </a:r>
          </a:p>
        </p:txBody>
      </p:sp>
      <p:sp>
        <p:nvSpPr>
          <p:cNvPr id="5" name="Slide Number Placeholder 3">
            <a:extLst>
              <a:ext uri="{FF2B5EF4-FFF2-40B4-BE49-F238E27FC236}">
                <a16:creationId xmlns:a16="http://schemas.microsoft.com/office/drawing/2014/main" id="{6535C3EA-E370-4417-0CE4-9B6295DC4F1A}"/>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10</a:t>
            </a:fld>
            <a:endParaRPr lang="en-US"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7" name="TextBox 6"/>
          <p:cNvSpPr txBox="1"/>
          <p:nvPr/>
        </p:nvSpPr>
        <p:spPr>
          <a:xfrm>
            <a:off x="3033713" y="5431848"/>
            <a:ext cx="6124574" cy="389787"/>
          </a:xfrm>
          <a:prstGeom prst="rect">
            <a:avLst/>
          </a:prstGeom>
          <a:noFill/>
        </p:spPr>
        <p:txBody>
          <a:bodyPr wrap="square">
            <a:spAutoFit/>
          </a:bodyPr>
          <a:lstStyle/>
          <a:p>
            <a:pPr marL="0" marR="252095" algn="ctr">
              <a:lnSpc>
                <a:spcPct val="115000"/>
              </a:lnSpc>
              <a:spcBef>
                <a:spcPts val="275"/>
              </a:spcBef>
              <a:spcAft>
                <a:spcPts val="0"/>
              </a:spcAft>
            </a:pPr>
            <a:r>
              <a:rPr lang="en-US" sz="18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a:t>
            </a:r>
            <a:r>
              <a:rPr lang="en-US" dirty="0">
                <a:solidFill>
                  <a:srgbClr val="000000"/>
                </a:solidFill>
                <a:latin typeface="Century" panose="02040604050505020304" pitchFamily="18" charset="0"/>
                <a:ea typeface="Century" panose="02040604050505020304" pitchFamily="18" charset="0"/>
                <a:cs typeface="Century" panose="02040604050505020304" pitchFamily="18" charset="0"/>
              </a:rPr>
              <a:t>1.1</a:t>
            </a:r>
            <a:r>
              <a:rPr lang="en-US" sz="18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 Detailed Methodology Diagram </a:t>
            </a:r>
            <a:endParaRPr lang="en-US" sz="1800" dirty="0">
              <a:effectLst/>
              <a:latin typeface="Calibri" panose="020F0502020204030204" pitchFamily="34" charset="0"/>
              <a:ea typeface="Calibri" panose="020F0502020204030204" pitchFamily="34" charset="0"/>
            </a:endParaRPr>
          </a:p>
        </p:txBody>
      </p:sp>
      <p:pic>
        <p:nvPicPr>
          <p:cNvPr id="8" name="Picture 7" descr="A diagram of a process">
            <a:extLst>
              <a:ext uri="{FF2B5EF4-FFF2-40B4-BE49-F238E27FC236}">
                <a16:creationId xmlns:a16="http://schemas.microsoft.com/office/drawing/2014/main" id="{BA2AF017-5C10-C821-5B94-844D114FFC2B}"/>
              </a:ext>
            </a:extLst>
          </p:cNvPr>
          <p:cNvPicPr>
            <a:picLocks noChangeAspect="1"/>
          </p:cNvPicPr>
          <p:nvPr/>
        </p:nvPicPr>
        <p:blipFill>
          <a:blip r:embed="rId2"/>
          <a:stretch>
            <a:fillRect/>
          </a:stretch>
        </p:blipFill>
        <p:spPr>
          <a:xfrm>
            <a:off x="1066800" y="1605619"/>
            <a:ext cx="10321974" cy="3646761"/>
          </a:xfrm>
          <a:prstGeom prst="rect">
            <a:avLst/>
          </a:prstGeom>
        </p:spPr>
      </p:pic>
      <p:sp>
        <p:nvSpPr>
          <p:cNvPr id="9" name="Slide Number Placeholder 3">
            <a:extLst>
              <a:ext uri="{FF2B5EF4-FFF2-40B4-BE49-F238E27FC236}">
                <a16:creationId xmlns:a16="http://schemas.microsoft.com/office/drawing/2014/main" id="{3AA10AAD-511D-AB85-8AD9-547B7848DC61}"/>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11</a:t>
            </a:fld>
            <a:endParaRPr lang="en-US"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8" name="Content Placeholder 2"/>
          <p:cNvSpPr>
            <a:spLocks noGrp="1"/>
          </p:cNvSpPr>
          <p:nvPr>
            <p:ph sz="quarter" idx="13"/>
          </p:nvPr>
        </p:nvSpPr>
        <p:spPr>
          <a:xfrm>
            <a:off x="762000" y="1692022"/>
            <a:ext cx="6629400" cy="4175378"/>
          </a:xfrm>
        </p:spPr>
        <p:txBody>
          <a:bodyPr>
            <a:normAutofit fontScale="92500" lnSpcReduction="10000"/>
          </a:bodyPr>
          <a:lstStyle/>
          <a:p>
            <a:pPr marL="0" indent="0" algn="just">
              <a:buNone/>
            </a:pPr>
            <a:r>
              <a:rPr lang="en-US" b="1" dirty="0">
                <a:solidFill>
                  <a:schemeClr val="tx1"/>
                </a:solidFill>
                <a:latin typeface="Times New Roman" panose="02020603050405020304" pitchFamily="18" charset="0"/>
                <a:cs typeface="Times New Roman" panose="02020603050405020304" pitchFamily="18" charset="0"/>
              </a:rPr>
              <a:t>Data Collection:</a:t>
            </a:r>
          </a:p>
          <a:p>
            <a:pPr marL="0" indent="0" algn="just">
              <a:buNone/>
            </a:pPr>
            <a:endParaRPr lang="en-US" sz="2100" b="1" dirty="0">
              <a:solidFill>
                <a:schemeClr val="tx1"/>
              </a:solidFill>
              <a:latin typeface="Times New Roman" panose="02020603050405020304" pitchFamily="18" charset="0"/>
              <a:cs typeface="Times New Roman" panose="02020603050405020304" pitchFamily="18" charset="0"/>
            </a:endParaRPr>
          </a:p>
          <a:p>
            <a:pPr algn="just">
              <a:lnSpc>
                <a:spcPct val="120000"/>
              </a:lnSpc>
            </a:pPr>
            <a:r>
              <a:rPr lang="en-GB" sz="2600" dirty="0">
                <a:solidFill>
                  <a:schemeClr val="tx1"/>
                </a:solidFill>
                <a:latin typeface="Times New Roman" panose="02020603050405020304" pitchFamily="18" charset="0"/>
                <a:cs typeface="Times New Roman" panose="02020603050405020304" pitchFamily="18" charset="0"/>
              </a:rPr>
              <a:t>Data was collected from</a:t>
            </a:r>
            <a:r>
              <a:rPr lang="en-US" sz="2600" dirty="0">
                <a:solidFill>
                  <a:schemeClr val="tx1"/>
                </a:solidFill>
                <a:latin typeface="Times New Roman" panose="02020603050405020304" pitchFamily="18" charset="0"/>
                <a:cs typeface="Times New Roman" panose="02020603050405020304" pitchFamily="18" charset="0"/>
              </a:rPr>
              <a:t> multiple publicly available online datasets.</a:t>
            </a:r>
            <a:endParaRPr lang="en-GB" sz="2600" dirty="0">
              <a:solidFill>
                <a:schemeClr val="tx1"/>
              </a:solidFill>
              <a:latin typeface="Times New Roman" panose="02020603050405020304" pitchFamily="18" charset="0"/>
              <a:cs typeface="Times New Roman" panose="02020603050405020304" pitchFamily="18" charset="0"/>
            </a:endParaRPr>
          </a:p>
          <a:p>
            <a:pPr algn="just">
              <a:lnSpc>
                <a:spcPct val="120000"/>
              </a:lnSpc>
            </a:pPr>
            <a:r>
              <a:rPr lang="en-GB" sz="2600" dirty="0">
                <a:solidFill>
                  <a:schemeClr val="tx1"/>
                </a:solidFill>
                <a:latin typeface="Times New Roman" panose="02020603050405020304" pitchFamily="18" charset="0"/>
                <a:cs typeface="Times New Roman" panose="02020603050405020304" pitchFamily="18" charset="0"/>
              </a:rPr>
              <a:t>Faced challenges with lighting variability and cluttered backgrounds, addressed through data preprocessing and cleaning.</a:t>
            </a:r>
          </a:p>
          <a:p>
            <a:pPr algn="just">
              <a:lnSpc>
                <a:spcPct val="120000"/>
              </a:lnSpc>
            </a:pPr>
            <a:r>
              <a:rPr lang="en-GB" sz="2600" dirty="0">
                <a:solidFill>
                  <a:schemeClr val="tx1"/>
                </a:solidFill>
                <a:latin typeface="Times New Roman" panose="02020603050405020304" pitchFamily="18" charset="0"/>
                <a:cs typeface="Times New Roman" panose="02020603050405020304" pitchFamily="18" charset="0"/>
              </a:rPr>
              <a:t>Expanded the dataset to </a:t>
            </a:r>
            <a:r>
              <a:rPr lang="en-GB" sz="2600" b="1" dirty="0">
                <a:solidFill>
                  <a:schemeClr val="tx1"/>
                </a:solidFill>
                <a:latin typeface="Times New Roman" panose="02020603050405020304" pitchFamily="18" charset="0"/>
                <a:cs typeface="Times New Roman" panose="02020603050405020304" pitchFamily="18" charset="0"/>
              </a:rPr>
              <a:t>5000</a:t>
            </a:r>
            <a:r>
              <a:rPr lang="en-GB" sz="2600" dirty="0">
                <a:solidFill>
                  <a:schemeClr val="tx1"/>
                </a:solidFill>
                <a:latin typeface="Times New Roman" panose="02020603050405020304" pitchFamily="18" charset="0"/>
                <a:cs typeface="Times New Roman" panose="02020603050405020304" pitchFamily="18" charset="0"/>
              </a:rPr>
              <a:t> sample images after augmentation.</a:t>
            </a:r>
          </a:p>
          <a:p>
            <a:pPr marL="0" indent="0">
              <a:buNone/>
            </a:pPr>
            <a:endParaRPr lang="en-US" sz="2000" b="1"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8215313" y="5027723"/>
            <a:ext cx="3976687" cy="307135"/>
          </a:xfrm>
          <a:prstGeom prst="rect">
            <a:avLst/>
          </a:prstGeom>
          <a:noFill/>
        </p:spPr>
        <p:txBody>
          <a:bodyPr wrap="square">
            <a:spAutoFit/>
          </a:bodyPr>
          <a:lstStyle/>
          <a:p>
            <a:pPr marL="0" marR="252095" algn="ctr">
              <a:lnSpc>
                <a:spcPct val="115000"/>
              </a:lnSpc>
              <a:spcBef>
                <a:spcPts val="275"/>
              </a:spcBef>
              <a:spcAft>
                <a:spcPts val="0"/>
              </a:spcAft>
            </a:pPr>
            <a:r>
              <a:rPr lang="en-GB" sz="13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a:t>
            </a:r>
            <a:r>
              <a:rPr lang="en-GB" sz="1300" dirty="0">
                <a:solidFill>
                  <a:srgbClr val="000000"/>
                </a:solidFill>
                <a:latin typeface="Century" panose="02040604050505020304" pitchFamily="18" charset="0"/>
                <a:ea typeface="Century" panose="02040604050505020304" pitchFamily="18" charset="0"/>
                <a:cs typeface="Century" panose="02040604050505020304" pitchFamily="18" charset="0"/>
              </a:rPr>
              <a:t>1.2</a:t>
            </a:r>
            <a:r>
              <a:rPr lang="en-GB" sz="13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 </a:t>
            </a:r>
            <a:r>
              <a:rPr lang="en-GB" sz="1300" dirty="0">
                <a:solidFill>
                  <a:srgbClr val="000000"/>
                </a:solidFill>
                <a:latin typeface="Century" panose="02040604050505020304" pitchFamily="18" charset="0"/>
                <a:ea typeface="Century" panose="02040604050505020304" pitchFamily="18" charset="0"/>
                <a:cs typeface="Century" panose="02040604050505020304" pitchFamily="18" charset="0"/>
              </a:rPr>
              <a:t>Sample images from each class.</a:t>
            </a:r>
            <a:endParaRPr lang="en-US" sz="1300" dirty="0">
              <a:effectLst/>
              <a:latin typeface="Calibri" panose="020F0502020204030204" pitchFamily="34" charset="0"/>
              <a:ea typeface="Calibri" panose="020F0502020204030204" pitchFamily="34" charset="0"/>
            </a:endParaRPr>
          </a:p>
        </p:txBody>
      </p:sp>
      <p:pic>
        <p:nvPicPr>
          <p:cNvPr id="3" name="Picture 4">
            <a:extLst>
              <a:ext uri="{FF2B5EF4-FFF2-40B4-BE49-F238E27FC236}">
                <a16:creationId xmlns:a16="http://schemas.microsoft.com/office/drawing/2014/main" id="{7C24276A-7DA8-B1D1-A551-6FC5E536D60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01000" y="2163905"/>
            <a:ext cx="3976686" cy="286381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3">
            <a:extLst>
              <a:ext uri="{FF2B5EF4-FFF2-40B4-BE49-F238E27FC236}">
                <a16:creationId xmlns:a16="http://schemas.microsoft.com/office/drawing/2014/main" id="{327DBDB4-15BA-28F1-F13E-F83F034EF89F}"/>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12</a:t>
            </a:fld>
            <a:endParaRPr lang="en-US"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3" name="Content Placeholder 2"/>
          <p:cNvSpPr>
            <a:spLocks noGrp="1"/>
          </p:cNvSpPr>
          <p:nvPr>
            <p:ph sz="quarter" idx="13"/>
          </p:nvPr>
        </p:nvSpPr>
        <p:spPr>
          <a:xfrm>
            <a:off x="1851229" y="1590804"/>
            <a:ext cx="8489542" cy="1767780"/>
          </a:xfrm>
        </p:spPr>
        <p:txBody>
          <a:bodyPr>
            <a:normAutofit/>
          </a:bodyPr>
          <a:lstStyle/>
          <a:p>
            <a:pPr marL="0" indent="0" algn="just">
              <a:buNone/>
            </a:pPr>
            <a:r>
              <a:rPr lang="en-US" sz="2000" b="1" dirty="0">
                <a:solidFill>
                  <a:schemeClr val="tx1"/>
                </a:solidFill>
                <a:latin typeface="Times New Roman" panose="02020603050405020304" pitchFamily="18" charset="0"/>
                <a:cs typeface="Times New Roman" panose="02020603050405020304" pitchFamily="18" charset="0"/>
              </a:rPr>
              <a:t>Image Preprocessing:</a:t>
            </a:r>
          </a:p>
          <a:p>
            <a:pPr algn="just">
              <a:buFont typeface="Wingdings" panose="05000000000000000000" pitchFamily="2" charset="2"/>
              <a:buChar char="v"/>
            </a:pPr>
            <a:r>
              <a:rPr lang="en-US" sz="2000" b="1" dirty="0">
                <a:solidFill>
                  <a:schemeClr val="tx1"/>
                </a:solidFill>
                <a:latin typeface="Times New Roman" panose="02020603050405020304" pitchFamily="18" charset="0"/>
                <a:cs typeface="Times New Roman" panose="02020603050405020304" pitchFamily="18" charset="0"/>
              </a:rPr>
              <a:t> </a:t>
            </a:r>
            <a:r>
              <a:rPr lang="en-GB" sz="2000" dirty="0">
                <a:solidFill>
                  <a:schemeClr val="tx1"/>
                </a:solidFill>
                <a:latin typeface="Times New Roman" panose="02020603050405020304" pitchFamily="18" charset="0"/>
                <a:cs typeface="Times New Roman" panose="02020603050405020304" pitchFamily="18" charset="0"/>
              </a:rPr>
              <a:t>Resized images to 224 x 224 for uniform input.</a:t>
            </a:r>
          </a:p>
          <a:p>
            <a:pPr algn="just">
              <a:buFont typeface="Wingdings" panose="05000000000000000000" pitchFamily="2" charset="2"/>
              <a:buChar char="v"/>
            </a:pPr>
            <a:r>
              <a:rPr lang="en-GB" sz="2000" dirty="0">
                <a:solidFill>
                  <a:schemeClr val="tx1"/>
                </a:solidFill>
                <a:latin typeface="Times New Roman" panose="02020603050405020304" pitchFamily="18" charset="0"/>
                <a:cs typeface="Times New Roman" panose="02020603050405020304" pitchFamily="18" charset="0"/>
              </a:rPr>
              <a:t>Applied contrast enhancement and noise reduction.</a:t>
            </a:r>
          </a:p>
          <a:p>
            <a:pPr algn="just">
              <a:buFont typeface="Wingdings" panose="05000000000000000000" pitchFamily="2" charset="2"/>
              <a:buChar char="v"/>
            </a:pPr>
            <a:r>
              <a:rPr lang="en-GB" sz="2000" dirty="0">
                <a:solidFill>
                  <a:schemeClr val="tx1"/>
                </a:solidFill>
                <a:latin typeface="Times New Roman" panose="02020603050405020304" pitchFamily="18" charset="0"/>
                <a:cs typeface="Times New Roman" panose="02020603050405020304" pitchFamily="18" charset="0"/>
              </a:rPr>
              <a:t> Performed manual labeling for accurate class assignment.</a:t>
            </a:r>
            <a:endParaRPr lang="en-US" sz="30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15" name="Content Placeholder 2"/>
          <p:cNvSpPr txBox="1"/>
          <p:nvPr/>
        </p:nvSpPr>
        <p:spPr>
          <a:xfrm>
            <a:off x="1889329" y="3806388"/>
            <a:ext cx="7496176" cy="2286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None/>
            </a:pPr>
            <a:r>
              <a:rPr lang="en-US" sz="2000" b="1" dirty="0">
                <a:solidFill>
                  <a:schemeClr val="tx1"/>
                </a:solidFill>
                <a:latin typeface="Times New Roman" panose="02020603050405020304" pitchFamily="18" charset="0"/>
                <a:cs typeface="Times New Roman" panose="02020603050405020304" pitchFamily="18" charset="0"/>
              </a:rPr>
              <a:t>Data Augmentation:       </a:t>
            </a:r>
          </a:p>
          <a:p>
            <a:pPr algn="just" fontAlgn="auto">
              <a:lnSpc>
                <a:spcPct val="120000"/>
              </a:lnSpc>
              <a:spcBef>
                <a:spcPts val="525"/>
              </a:spcBef>
              <a:spcAft>
                <a:spcPts val="0"/>
              </a:spcAft>
              <a:buFont typeface="Wingdings" panose="05000000000000000000" pitchFamily="2" charset="2"/>
              <a:buChar char="v"/>
            </a:pPr>
            <a:r>
              <a:rPr lang="en-GB" sz="2000" dirty="0">
                <a:solidFill>
                  <a:schemeClr val="tx1"/>
                </a:solidFill>
                <a:latin typeface="Times New Roman" panose="02020603050405020304" pitchFamily="18" charset="0"/>
                <a:cs typeface="Times New Roman" panose="02020603050405020304" pitchFamily="18" charset="0"/>
              </a:rPr>
              <a:t>Techniques: rotation, width/height shift, zoom (≤20%), brightness adjustment, rescaling.</a:t>
            </a:r>
          </a:p>
          <a:p>
            <a:pPr algn="just" fontAlgn="auto">
              <a:lnSpc>
                <a:spcPct val="120000"/>
              </a:lnSpc>
              <a:spcBef>
                <a:spcPts val="525"/>
              </a:spcBef>
              <a:spcAft>
                <a:spcPts val="0"/>
              </a:spcAft>
              <a:buFont typeface="Wingdings" panose="05000000000000000000" pitchFamily="2" charset="2"/>
              <a:buChar char="v"/>
            </a:pPr>
            <a:r>
              <a:rPr lang="en-GB" sz="2000" dirty="0">
                <a:solidFill>
                  <a:schemeClr val="tx1"/>
                </a:solidFill>
                <a:latin typeface="Times New Roman" panose="02020603050405020304" pitchFamily="18" charset="0"/>
                <a:cs typeface="Times New Roman" panose="02020603050405020304" pitchFamily="18" charset="0"/>
              </a:rPr>
              <a:t> Enhanced dataset diversity without altering key features.</a:t>
            </a:r>
          </a:p>
          <a:p>
            <a:pPr algn="just" fontAlgn="auto">
              <a:lnSpc>
                <a:spcPct val="120000"/>
              </a:lnSpc>
              <a:spcBef>
                <a:spcPts val="525"/>
              </a:spcBef>
              <a:spcAft>
                <a:spcPts val="0"/>
              </a:spcAft>
              <a:buFont typeface="Wingdings" panose="05000000000000000000" pitchFamily="2" charset="2"/>
              <a:buChar char="v"/>
            </a:pPr>
            <a:r>
              <a:rPr lang="en-GB" sz="2000" dirty="0">
                <a:solidFill>
                  <a:schemeClr val="tx1"/>
                </a:solidFill>
                <a:latin typeface="Times New Roman" panose="02020603050405020304" pitchFamily="18" charset="0"/>
                <a:cs typeface="Times New Roman" panose="02020603050405020304" pitchFamily="18" charset="0"/>
              </a:rPr>
              <a:t> Expanded dataset to 5000 images evenly across 5 coconut diseases.</a:t>
            </a:r>
          </a:p>
          <a:p>
            <a:pPr marL="0" indent="0" algn="just" fontAlgn="auto">
              <a:lnSpc>
                <a:spcPct val="120000"/>
              </a:lnSpc>
              <a:spcBef>
                <a:spcPts val="525"/>
              </a:spcBef>
              <a:spcAft>
                <a:spcPts val="0"/>
              </a:spcAft>
              <a:buFont typeface="Arial" panose="020B0604020202020204" pitchFamily="34" charset="0"/>
              <a:buNone/>
            </a:pPr>
            <a:r>
              <a:rPr lang="en-GB" sz="2200" dirty="0">
                <a:solidFill>
                  <a:schemeClr val="tx1"/>
                </a:solidFill>
                <a:latin typeface="Times New Roman" panose="02020603050405020304" pitchFamily="18" charset="0"/>
                <a:cs typeface="Times New Roman" panose="02020603050405020304" pitchFamily="18" charset="0"/>
              </a:rPr>
              <a:t>     </a:t>
            </a:r>
          </a:p>
          <a:p>
            <a:pPr marL="0" indent="0" fontAlgn="auto">
              <a:spcAft>
                <a:spcPts val="0"/>
              </a:spcAft>
              <a:buFont typeface="Arial" panose="020B0604020202020204" pitchFamily="34" charset="0"/>
              <a:buNone/>
            </a:pPr>
            <a:r>
              <a:rPr lang="en-GB" sz="2200" b="1" dirty="0">
                <a:solidFill>
                  <a:schemeClr val="tx1"/>
                </a:solidFill>
                <a:latin typeface="Times New Roman" panose="02020603050405020304" pitchFamily="18" charset="0"/>
                <a:cs typeface="Times New Roman" panose="02020603050405020304" pitchFamily="18" charset="0"/>
              </a:rPr>
              <a:t> </a:t>
            </a:r>
            <a:endParaRPr lang="en-US" sz="2200" b="1" dirty="0">
              <a:solidFill>
                <a:schemeClr val="tx1"/>
              </a:solidFill>
              <a:latin typeface="Times New Roman" panose="02020603050405020304" pitchFamily="18" charset="0"/>
              <a:cs typeface="Times New Roman" panose="02020603050405020304" pitchFamily="18" charset="0"/>
            </a:endParaRPr>
          </a:p>
          <a:p>
            <a:pPr marL="0" indent="0" fontAlgn="auto">
              <a:spcAft>
                <a:spcPts val="0"/>
              </a:spcAft>
              <a:buFont typeface="Arial" panose="020B0604020202020204" pitchFamily="34" charset="0"/>
              <a:buNone/>
            </a:pPr>
            <a:endParaRPr lang="en-US" sz="2200" b="1"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70BF63F3-30A7-EE48-5BD6-C975F744E78D}"/>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13</a:t>
            </a:fld>
            <a:endParaRPr lang="en-US"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4" name="TextBox 13"/>
          <p:cNvSpPr txBox="1"/>
          <p:nvPr/>
        </p:nvSpPr>
        <p:spPr>
          <a:xfrm>
            <a:off x="1219200" y="5608801"/>
            <a:ext cx="3976687" cy="537198"/>
          </a:xfrm>
          <a:prstGeom prst="rect">
            <a:avLst/>
          </a:prstGeom>
          <a:noFill/>
        </p:spPr>
        <p:txBody>
          <a:bodyPr wrap="square">
            <a:spAutoFit/>
          </a:bodyPr>
          <a:lstStyle/>
          <a:p>
            <a:pPr marL="0" marR="252095" algn="ctr">
              <a:lnSpc>
                <a:spcPct val="115000"/>
              </a:lnSpc>
              <a:spcBef>
                <a:spcPts val="275"/>
              </a:spcBef>
              <a:spcAft>
                <a:spcPts val="0"/>
              </a:spcAft>
            </a:pPr>
            <a:r>
              <a:rPr lang="en-GB" sz="1300" dirty="0">
                <a:solidFill>
                  <a:srgbClr val="000000"/>
                </a:solidFill>
                <a:latin typeface="Century" panose="02040604050505020304" pitchFamily="18" charset="0"/>
                <a:ea typeface="Century" panose="02040604050505020304" pitchFamily="18" charset="0"/>
                <a:cs typeface="Century" panose="02040604050505020304" pitchFamily="18" charset="0"/>
              </a:rPr>
              <a:t>Figure 1.3</a:t>
            </a:r>
            <a:r>
              <a:rPr lang="en-GB" sz="13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 Class distribution after data augmentation</a:t>
            </a:r>
            <a:endParaRPr lang="en-US" sz="1300" dirty="0">
              <a:effectLst/>
              <a:latin typeface="Calibri" panose="020F0502020204030204" pitchFamily="34" charset="0"/>
              <a:ea typeface="Calibri" panose="020F0502020204030204" pitchFamily="34" charset="0"/>
            </a:endParaRPr>
          </a:p>
        </p:txBody>
      </p:sp>
      <p:sp>
        <p:nvSpPr>
          <p:cNvPr id="16" name="TextBox 9"/>
          <p:cNvSpPr txBox="1"/>
          <p:nvPr/>
        </p:nvSpPr>
        <p:spPr>
          <a:xfrm>
            <a:off x="3429000" y="1258724"/>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Data Visualization</a:t>
            </a:r>
          </a:p>
        </p:txBody>
      </p:sp>
      <p:sp>
        <p:nvSpPr>
          <p:cNvPr id="17" name="TextBox 16"/>
          <p:cNvSpPr txBox="1"/>
          <p:nvPr/>
        </p:nvSpPr>
        <p:spPr>
          <a:xfrm>
            <a:off x="7162800" y="5562600"/>
            <a:ext cx="3976687" cy="537198"/>
          </a:xfrm>
          <a:prstGeom prst="rect">
            <a:avLst/>
          </a:prstGeom>
          <a:noFill/>
        </p:spPr>
        <p:txBody>
          <a:bodyPr wrap="square">
            <a:spAutoFit/>
          </a:bodyPr>
          <a:lstStyle/>
          <a:p>
            <a:pPr marL="0" marR="252095" algn="ctr">
              <a:lnSpc>
                <a:spcPct val="115000"/>
              </a:lnSpc>
              <a:spcBef>
                <a:spcPts val="275"/>
              </a:spcBef>
              <a:spcAft>
                <a:spcPts val="0"/>
              </a:spcAft>
            </a:pPr>
            <a:r>
              <a:rPr lang="en-GB" sz="1300" dirty="0">
                <a:solidFill>
                  <a:srgbClr val="000000"/>
                </a:solidFill>
                <a:latin typeface="Century" panose="02040604050505020304" pitchFamily="18" charset="0"/>
                <a:ea typeface="Century" panose="02040604050505020304" pitchFamily="18" charset="0"/>
                <a:cs typeface="Century" panose="02040604050505020304" pitchFamily="18" charset="0"/>
              </a:rPr>
              <a:t>Figure 1.4</a:t>
            </a:r>
            <a:r>
              <a:rPr lang="en-GB" sz="13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 Sample images from each class (After Augmentation)</a:t>
            </a:r>
            <a:endParaRPr lang="en-US" sz="1300" dirty="0">
              <a:effectLst/>
              <a:latin typeface="Calibri" panose="020F0502020204030204" pitchFamily="34" charset="0"/>
              <a:ea typeface="Calibri" panose="020F0502020204030204" pitchFamily="34" charset="0"/>
            </a:endParaRPr>
          </a:p>
        </p:txBody>
      </p:sp>
      <p:pic>
        <p:nvPicPr>
          <p:cNvPr id="4100" name="Picture 4">
            <a:extLst>
              <a:ext uri="{FF2B5EF4-FFF2-40B4-BE49-F238E27FC236}">
                <a16:creationId xmlns:a16="http://schemas.microsoft.com/office/drawing/2014/main" id="{7A692AC9-7696-DDFF-D5B0-906FF2E9FC8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24600" y="2423702"/>
            <a:ext cx="4317384" cy="283316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3A1047EC-9C6A-6E9B-EF91-B40DD8C12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123" y="2404652"/>
            <a:ext cx="5190680" cy="283316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C05AFF6F-2592-DD06-0761-5621F8107850}"/>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14</a:t>
            </a:fld>
            <a:endParaRPr lang="en-US"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90967"/>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3" name="Content Placeholder 2"/>
          <p:cNvSpPr txBox="1"/>
          <p:nvPr/>
        </p:nvSpPr>
        <p:spPr>
          <a:xfrm>
            <a:off x="537882" y="1551613"/>
            <a:ext cx="11044518" cy="4396125"/>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dirty="0">
                <a:solidFill>
                  <a:schemeClr val="tx1"/>
                </a:solidFill>
                <a:latin typeface="Times New Roman" panose="02020603050405020304" pitchFamily="18" charset="0"/>
                <a:cs typeface="Times New Roman" panose="02020603050405020304" pitchFamily="18" charset="0"/>
              </a:rPr>
              <a:t>The research used a systematic research process to come up with a reliable and scalable taxonomic system of the coconut leaf diseases. To begin with, related literature on the application of deep learning in the diagnosis of plant diseases was reviewed[1][2]. It involved CNN architectures[5], mobile-deployable lightweight models, ensemble learning, and Explainable AI technologies such as Grad-CAM[12]. The review allowed us to identify some of the key flaws of prior research, such as not having a balanced set of datasets, mistakenly grouped diseases, and models that are not user-friendly. The given methodology will aim to increase accuracy through fusion models, reduce computational requirements by using lightweight networks, balance the dataset, and provide explainability to strengthen trust in forecasting. Testing the performance, the comparison of various models, and making preparations to use it in real-time are also aspects of the methodology.</a:t>
            </a:r>
          </a:p>
          <a:p>
            <a:pPr marL="0" indent="0"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CAEEE508-4E6E-55AF-024A-383EC0E66CB3}"/>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15</a:t>
            </a:fld>
            <a:endParaRPr lang="en-US"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6" name="TextBox 9"/>
          <p:cNvSpPr txBox="1"/>
          <p:nvPr/>
        </p:nvSpPr>
        <p:spPr>
          <a:xfrm>
            <a:off x="3340100" y="1094697"/>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Selection</a:t>
            </a:r>
          </a:p>
        </p:txBody>
      </p:sp>
      <p:sp>
        <p:nvSpPr>
          <p:cNvPr id="7" name="Content Placeholder 2"/>
          <p:cNvSpPr txBox="1"/>
          <p:nvPr/>
        </p:nvSpPr>
        <p:spPr>
          <a:xfrm>
            <a:off x="537882" y="1981200"/>
            <a:ext cx="11044518" cy="4038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II) Transfer Learning Models:</a:t>
            </a:r>
          </a:p>
          <a:p>
            <a:pPr marL="0" indent="0" algn="just" fontAlgn="auto">
              <a:lnSpc>
                <a:spcPct val="150000"/>
              </a:lnSpc>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MobileNetV2</a:t>
            </a:r>
          </a:p>
          <a:p>
            <a:pPr marL="0" indent="0" algn="just" fontAlgn="auto">
              <a:lnSpc>
                <a:spcPct val="150000"/>
              </a:lnSpc>
              <a:spcAft>
                <a:spcPts val="0"/>
              </a:spcAft>
              <a:buNone/>
            </a:pPr>
            <a:r>
              <a:rPr lang="en-GB"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MobileNetV2 is a small model that can be used to implement high-speed inferences and, therefore, can be deployed on mobile and real-time applications of disease recognition. It’s separable convolutions that can be computed depth-wise, saving on a lot of computations, but offer high levels of accuracy, as has been evident in the region of medicinal plant and general object classification [2][36]. MobileNetV2 plays an important role in our study as it is applied to assess the fast and efficient performance of classifications, which is relevant in cases when applications demand low-latency classifications.</a:t>
            </a: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28AD8070-CA7B-45C6-D19A-CA19D61DEDBA}"/>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16</a:t>
            </a:fld>
            <a:endParaRPr lang="en-US"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1" name="TextBox 9"/>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Visualization</a:t>
            </a:r>
          </a:p>
        </p:txBody>
      </p:sp>
      <p:sp>
        <p:nvSpPr>
          <p:cNvPr id="7" name="TextBox 6"/>
          <p:cNvSpPr txBox="1"/>
          <p:nvPr/>
        </p:nvSpPr>
        <p:spPr>
          <a:xfrm>
            <a:off x="3880758" y="5457569"/>
            <a:ext cx="4430483" cy="571438"/>
          </a:xfrm>
          <a:prstGeom prst="rect">
            <a:avLst/>
          </a:prstGeom>
          <a:noFill/>
        </p:spPr>
        <p:txBody>
          <a:bodyPr wrap="square">
            <a:spAutoFit/>
          </a:bodyPr>
          <a:lstStyle/>
          <a:p>
            <a:pPr marL="0" marR="252095" algn="ctr">
              <a:lnSpc>
                <a:spcPct val="115000"/>
              </a:lnSpc>
              <a:spcBef>
                <a:spcPts val="275"/>
              </a:spcBef>
              <a:spcAft>
                <a:spcPts val="0"/>
              </a:spcAft>
            </a:pPr>
            <a:r>
              <a:rPr lang="nl-NL"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1.5: MobileNetV2 Architecture Diagram Mifthauddin et al.2025[36]</a:t>
            </a:r>
            <a:endParaRPr lang="en-US" sz="1400" dirty="0">
              <a:effectLst/>
              <a:latin typeface="Calibri" panose="020F0502020204030204" pitchFamily="34" charset="0"/>
              <a:ea typeface="Calibri" panose="020F0502020204030204" pitchFamily="34" charset="0"/>
            </a:endParaRPr>
          </a:p>
        </p:txBody>
      </p:sp>
      <p:pic>
        <p:nvPicPr>
          <p:cNvPr id="7170" name="Picture 2">
            <a:extLst>
              <a:ext uri="{FF2B5EF4-FFF2-40B4-BE49-F238E27FC236}">
                <a16:creationId xmlns:a16="http://schemas.microsoft.com/office/drawing/2014/main" id="{0915984C-ED35-D73E-673B-451ADFA6589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84" t="9469" r="5983" b="11677"/>
          <a:stretch>
            <a:fillRect/>
          </a:stretch>
        </p:blipFill>
        <p:spPr bwMode="auto">
          <a:xfrm>
            <a:off x="2476500" y="1832298"/>
            <a:ext cx="7239000" cy="365792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B8FD7C43-5C1E-68C5-F786-FEE1F968F532}"/>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17</a:t>
            </a:fld>
            <a:endParaRPr lang="en-US"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4FE76-D0B1-5756-4244-CB0738BF6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66B85-5499-9ECA-5065-759F51593DEB}"/>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6" name="TextBox 9">
            <a:extLst>
              <a:ext uri="{FF2B5EF4-FFF2-40B4-BE49-F238E27FC236}">
                <a16:creationId xmlns:a16="http://schemas.microsoft.com/office/drawing/2014/main" id="{E13CC1AB-507C-66CC-6E81-1EF75DAE9093}"/>
              </a:ext>
            </a:extLst>
          </p:cNvPr>
          <p:cNvSpPr txBox="1"/>
          <p:nvPr/>
        </p:nvSpPr>
        <p:spPr>
          <a:xfrm>
            <a:off x="3340100" y="1094697"/>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Selection</a:t>
            </a:r>
          </a:p>
        </p:txBody>
      </p:sp>
      <p:sp>
        <p:nvSpPr>
          <p:cNvPr id="7" name="Content Placeholder 2">
            <a:extLst>
              <a:ext uri="{FF2B5EF4-FFF2-40B4-BE49-F238E27FC236}">
                <a16:creationId xmlns:a16="http://schemas.microsoft.com/office/drawing/2014/main" id="{B0863BA0-1DDD-C372-4D12-595EBEC02977}"/>
              </a:ext>
            </a:extLst>
          </p:cNvPr>
          <p:cNvSpPr txBox="1"/>
          <p:nvPr/>
        </p:nvSpPr>
        <p:spPr>
          <a:xfrm>
            <a:off x="537882" y="1981200"/>
            <a:ext cx="11044518" cy="4038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II) Transfer Learning Models:</a:t>
            </a:r>
          </a:p>
          <a:p>
            <a:pPr marL="0" indent="0" algn="just" fontAlgn="auto">
              <a:lnSpc>
                <a:spcPct val="150000"/>
              </a:lnSpc>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ii) </a:t>
            </a:r>
            <a:r>
              <a:rPr lang="en-US" sz="2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MobileNetV3</a:t>
            </a:r>
          </a:p>
          <a:p>
            <a:pPr marL="0" indent="0" algn="just" fontAlgn="auto">
              <a:lnSpc>
                <a:spcPct val="150000"/>
              </a:lnSpc>
              <a:spcAft>
                <a:spcPts val="0"/>
              </a:spcAft>
              <a:buNone/>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MobileNetV3 will utilize MobileNetV2, although it includes the neural architecture search (NAS) and squeeze-and-excitation (SE) modules to enhance the network automatically. It is available in two sizes, Small and Large. The two are designed to be as efficient and precise as possible. MobileNetV3 is even more efficient in consuming computer resources than the former and performs better in a variety of benchmark datasets [36].</a:t>
            </a: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2692D31F-9CF5-CCE7-FD1C-88EC503BF640}"/>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18</a:t>
            </a:fld>
            <a:endParaRPr lang="en-US" dirty="0">
              <a:solidFill>
                <a:schemeClr val="bg1"/>
              </a:solidFill>
            </a:endParaRPr>
          </a:p>
        </p:txBody>
      </p:sp>
    </p:spTree>
    <p:extLst>
      <p:ext uri="{BB962C8B-B14F-4D97-AF65-F5344CB8AC3E}">
        <p14:creationId xmlns:p14="http://schemas.microsoft.com/office/powerpoint/2010/main" val="2473950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E72CD-820C-4736-1A45-1AF7BC09D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85DD88-81CE-9D54-212B-24792A49BDD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1" name="TextBox 9">
            <a:extLst>
              <a:ext uri="{FF2B5EF4-FFF2-40B4-BE49-F238E27FC236}">
                <a16:creationId xmlns:a16="http://schemas.microsoft.com/office/drawing/2014/main" id="{1D1CBEE1-995C-C3C7-835D-1921B44B6A9C}"/>
              </a:ext>
            </a:extLst>
          </p:cNvPr>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Visualization</a:t>
            </a:r>
          </a:p>
        </p:txBody>
      </p:sp>
      <p:sp>
        <p:nvSpPr>
          <p:cNvPr id="7" name="TextBox 6">
            <a:extLst>
              <a:ext uri="{FF2B5EF4-FFF2-40B4-BE49-F238E27FC236}">
                <a16:creationId xmlns:a16="http://schemas.microsoft.com/office/drawing/2014/main" id="{3D3DEF12-898D-F0C4-32D4-7F54D87F9BBC}"/>
              </a:ext>
            </a:extLst>
          </p:cNvPr>
          <p:cNvSpPr txBox="1"/>
          <p:nvPr/>
        </p:nvSpPr>
        <p:spPr>
          <a:xfrm>
            <a:off x="3880758" y="5457569"/>
            <a:ext cx="4430483" cy="571438"/>
          </a:xfrm>
          <a:prstGeom prst="rect">
            <a:avLst/>
          </a:prstGeom>
          <a:noFill/>
        </p:spPr>
        <p:txBody>
          <a:bodyPr wrap="square">
            <a:spAutoFit/>
          </a:bodyPr>
          <a:lstStyle/>
          <a:p>
            <a:pPr marL="0" marR="252095" algn="ctr">
              <a:lnSpc>
                <a:spcPct val="115000"/>
              </a:lnSpc>
              <a:spcBef>
                <a:spcPts val="275"/>
              </a:spcBef>
              <a:spcAft>
                <a:spcPts val="0"/>
              </a:spcAft>
            </a:pPr>
            <a:r>
              <a:rPr lang="nl-NL"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1.6: MobileNetV23 Architecture Mifthauddin et al.2025[36]]</a:t>
            </a:r>
            <a:endParaRPr lang="en-US" sz="1400" dirty="0">
              <a:effectLst/>
              <a:latin typeface="Calibri" panose="020F0502020204030204" pitchFamily="34" charset="0"/>
              <a:ea typeface="Calibri" panose="020F0502020204030204" pitchFamily="34" charset="0"/>
            </a:endParaRPr>
          </a:p>
        </p:txBody>
      </p:sp>
      <p:pic>
        <p:nvPicPr>
          <p:cNvPr id="10242" name="Picture 2">
            <a:extLst>
              <a:ext uri="{FF2B5EF4-FFF2-40B4-BE49-F238E27FC236}">
                <a16:creationId xmlns:a16="http://schemas.microsoft.com/office/drawing/2014/main" id="{8D9E71B5-5B39-1D6D-5BAC-3ECBC41618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483" t="35104" r="22113" b="28194"/>
          <a:stretch>
            <a:fillRect/>
          </a:stretch>
        </p:blipFill>
        <p:spPr bwMode="auto">
          <a:xfrm>
            <a:off x="1860550" y="1794594"/>
            <a:ext cx="8470900" cy="334651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8E20654C-6EB0-89A7-E56A-B194D936BE5C}"/>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19</a:t>
            </a:fld>
            <a:endParaRPr lang="en-US" dirty="0">
              <a:solidFill>
                <a:schemeClr val="bg1"/>
              </a:solidFill>
            </a:endParaRPr>
          </a:p>
        </p:txBody>
      </p:sp>
    </p:spTree>
    <p:extLst>
      <p:ext uri="{BB962C8B-B14F-4D97-AF65-F5344CB8AC3E}">
        <p14:creationId xmlns:p14="http://schemas.microsoft.com/office/powerpoint/2010/main" val="3305197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6" name="TextBox 9"/>
          <p:cNvSpPr txBox="1"/>
          <p:nvPr/>
        </p:nvSpPr>
        <p:spPr>
          <a:xfrm>
            <a:off x="3340100" y="1094697"/>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Selection</a:t>
            </a:r>
          </a:p>
        </p:txBody>
      </p:sp>
      <p:sp>
        <p:nvSpPr>
          <p:cNvPr id="7" name="Content Placeholder 2"/>
          <p:cNvSpPr txBox="1"/>
          <p:nvPr/>
        </p:nvSpPr>
        <p:spPr>
          <a:xfrm>
            <a:off x="537882" y="1981200"/>
            <a:ext cx="11044518" cy="4038600"/>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II) Transfer Learning Models:</a:t>
            </a:r>
          </a:p>
          <a:p>
            <a:pPr marL="0" indent="0" algn="just" fontAlgn="auto">
              <a:lnSpc>
                <a:spcPct val="150000"/>
              </a:lnSpc>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iii) </a:t>
            </a:r>
            <a:r>
              <a:rPr lang="en-US" sz="2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DenseNet121:</a:t>
            </a:r>
          </a:p>
          <a:p>
            <a:pPr marL="0" indent="0" fontAlgn="auto">
              <a:spcAft>
                <a:spcPts val="0"/>
              </a:spcAft>
              <a:buFont typeface="Arial" panose="020B0604020202020204" pitchFamily="34" charset="0"/>
              <a:buNone/>
            </a:pPr>
            <a:r>
              <a:rPr lang="en-US" sz="2200" dirty="0">
                <a:solidFill>
                  <a:schemeClr val="tx1"/>
                </a:solidFill>
                <a:latin typeface="Times New Roman" panose="02020603050405020304" pitchFamily="18" charset="0"/>
                <a:cs typeface="Times New Roman" panose="02020603050405020304" pitchFamily="18" charset="0"/>
              </a:rPr>
              <a:t>DenseNet121 is a convolutional net architecture that combines dense skip connections between all the layers. This design allows the feature maps to travel smoothly across the network, which accelerates gradient propagation and reduces the probability of the disappearance of the gradient during training. DenseNet121 promotes feature reuse, whereby earlier learned representations can be utilized by later layers. It is smaller in size and has fewer parameters than other deep architectures. DenseNet121 particularly performs well in tasks such as locating coconut disease since it is able to retain small information in leaf patterns, textures, and laceration forms. DenseNet121 is an effective backbone model in a variety of agricultural image classification tasks since it is efficient and able to generalize. A DenseNet121 architecture is shown in Figure 3.6 [34].</a:t>
            </a: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7570BCF2-2349-6313-9627-F572C6F5A7F1}"/>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20</a:t>
            </a:fld>
            <a:endParaRPr lang="en-US"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1" name="TextBox 9"/>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Visualization</a:t>
            </a:r>
          </a:p>
        </p:txBody>
      </p:sp>
      <p:sp>
        <p:nvSpPr>
          <p:cNvPr id="7" name="TextBox 6"/>
          <p:cNvSpPr txBox="1"/>
          <p:nvPr/>
        </p:nvSpPr>
        <p:spPr>
          <a:xfrm>
            <a:off x="4307117" y="5394226"/>
            <a:ext cx="4430483" cy="609911"/>
          </a:xfrm>
          <a:prstGeom prst="rect">
            <a:avLst/>
          </a:prstGeom>
          <a:noFill/>
        </p:spPr>
        <p:txBody>
          <a:bodyPr wrap="square">
            <a:spAutoFit/>
          </a:bodyPr>
          <a:lstStyle/>
          <a:p>
            <a:pPr marL="0" marR="252095" algn="ctr">
              <a:lnSpc>
                <a:spcPct val="115000"/>
              </a:lnSpc>
              <a:spcBef>
                <a:spcPts val="275"/>
              </a:spcBef>
              <a:spcAft>
                <a:spcPts val="0"/>
              </a:spcAft>
            </a:pPr>
            <a:r>
              <a:rPr lang="nl-NL"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1.7: DenseNet121 Architecture.Diagram </a:t>
            </a:r>
          </a:p>
          <a:p>
            <a:pPr marL="0" marR="252095" algn="ctr">
              <a:lnSpc>
                <a:spcPct val="115000"/>
              </a:lnSpc>
              <a:spcBef>
                <a:spcPts val="275"/>
              </a:spcBef>
              <a:spcAft>
                <a:spcPts val="0"/>
              </a:spcAft>
            </a:pPr>
            <a:r>
              <a:rPr lang="nl-NL"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Mifthauddin, et al.2025[34]</a:t>
            </a:r>
            <a:endParaRPr lang="en-US" sz="1400" dirty="0">
              <a:effectLst/>
              <a:latin typeface="Calibri" panose="020F0502020204030204" pitchFamily="34" charset="0"/>
              <a:ea typeface="Calibri" panose="020F0502020204030204" pitchFamily="34" charset="0"/>
            </a:endParaRPr>
          </a:p>
        </p:txBody>
      </p:sp>
      <p:pic>
        <p:nvPicPr>
          <p:cNvPr id="5122" name="Picture 2">
            <a:extLst>
              <a:ext uri="{FF2B5EF4-FFF2-40B4-BE49-F238E27FC236}">
                <a16:creationId xmlns:a16="http://schemas.microsoft.com/office/drawing/2014/main" id="{0C227F7F-1167-56E3-29D2-C7D284C834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333" b="47778"/>
          <a:stretch>
            <a:fillRect/>
          </a:stretch>
        </p:blipFill>
        <p:spPr bwMode="auto">
          <a:xfrm>
            <a:off x="2459038" y="1932668"/>
            <a:ext cx="7751762" cy="290255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FBA144ED-1E18-D5BC-6B22-FF4F6F1C8852}"/>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21</a:t>
            </a:fld>
            <a:endParaRPr lang="en-US"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6" name="TextBox 9"/>
          <p:cNvSpPr txBox="1"/>
          <p:nvPr/>
        </p:nvSpPr>
        <p:spPr>
          <a:xfrm>
            <a:off x="3340100" y="1094697"/>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Selection</a:t>
            </a:r>
          </a:p>
        </p:txBody>
      </p:sp>
      <p:sp>
        <p:nvSpPr>
          <p:cNvPr id="7" name="Content Placeholder 2"/>
          <p:cNvSpPr txBox="1"/>
          <p:nvPr/>
        </p:nvSpPr>
        <p:spPr>
          <a:xfrm>
            <a:off x="537882" y="1981200"/>
            <a:ext cx="11044518" cy="4038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II) Transfer Learning Models:</a:t>
            </a:r>
          </a:p>
          <a:p>
            <a:pPr marL="0" indent="0" algn="just" fontAlgn="auto">
              <a:lnSpc>
                <a:spcPct val="150000"/>
              </a:lnSpc>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iv) </a:t>
            </a:r>
            <a:r>
              <a:rPr lang="en-US" sz="2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ResNet50</a:t>
            </a:r>
          </a:p>
          <a:p>
            <a:pPr marL="0" indent="0" algn="just" fontAlgn="auto">
              <a:lnSpc>
                <a:spcPct val="150000"/>
              </a:lnSpc>
              <a:spcAft>
                <a:spcPts val="0"/>
              </a:spcAft>
              <a:buNone/>
            </a:pPr>
            <a:r>
              <a:rPr lang="en-GB"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ResNet50 training system uses residual learning, which allows deep networks to be trained without vanishing gradients. It has proven to be efficient in bio-image and natural image classification in various studies, such as the classification of plant and crop species [</a:t>
            </a:r>
            <a:r>
              <a:rPr lang="en-GB"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35]</a:t>
            </a:r>
            <a:r>
              <a:rPr lang="en-GB"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This study uses ResNet50 to assess the effectiveness of the skip-connection network in detecting the specific structural clues evident among various species of flowers.</a:t>
            </a: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26482B0A-D592-3E3D-9497-13CC1BC6693A}"/>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22</a:t>
            </a:fld>
            <a:endParaRPr lang="en-US" dirty="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1" name="TextBox 9"/>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Visualization</a:t>
            </a:r>
          </a:p>
        </p:txBody>
      </p:sp>
      <p:sp>
        <p:nvSpPr>
          <p:cNvPr id="7" name="TextBox 6"/>
          <p:cNvSpPr txBox="1"/>
          <p:nvPr/>
        </p:nvSpPr>
        <p:spPr>
          <a:xfrm>
            <a:off x="3880758" y="5297188"/>
            <a:ext cx="4430483" cy="571438"/>
          </a:xfrm>
          <a:prstGeom prst="rect">
            <a:avLst/>
          </a:prstGeom>
          <a:noFill/>
        </p:spPr>
        <p:txBody>
          <a:bodyPr wrap="square">
            <a:spAutoFit/>
          </a:bodyPr>
          <a:lstStyle/>
          <a:p>
            <a:pPr marL="0" marR="252095" algn="ctr">
              <a:lnSpc>
                <a:spcPct val="115000"/>
              </a:lnSpc>
              <a:spcBef>
                <a:spcPts val="275"/>
              </a:spcBef>
              <a:spcAft>
                <a:spcPts val="0"/>
              </a:spcAft>
            </a:pPr>
            <a:r>
              <a:rPr lang="nl-NL"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1.8: ResNet50 Architecture Diagram S. Mukherjee et al.2022[35]</a:t>
            </a:r>
            <a:endParaRPr lang="en-US" sz="1400" dirty="0">
              <a:effectLst/>
              <a:latin typeface="Calibri" panose="020F0502020204030204" pitchFamily="34" charset="0"/>
              <a:ea typeface="Calibri" panose="020F0502020204030204" pitchFamily="34" charset="0"/>
            </a:endParaRPr>
          </a:p>
        </p:txBody>
      </p:sp>
      <p:pic>
        <p:nvPicPr>
          <p:cNvPr id="9218" name="Picture 2">
            <a:extLst>
              <a:ext uri="{FF2B5EF4-FFF2-40B4-BE49-F238E27FC236}">
                <a16:creationId xmlns:a16="http://schemas.microsoft.com/office/drawing/2014/main" id="{99DC6120-837F-82CD-88B6-70998CF14D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06" t="36539" r="3931" b="24999"/>
          <a:stretch>
            <a:fillRect/>
          </a:stretch>
        </p:blipFill>
        <p:spPr bwMode="auto">
          <a:xfrm>
            <a:off x="1267020" y="2024206"/>
            <a:ext cx="9657960" cy="280958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5E1736F9-887A-8C46-6808-14C7940278B9}"/>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23</a:t>
            </a:fld>
            <a:endParaRPr lang="en-US"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6" name="TextBox 9"/>
          <p:cNvSpPr txBox="1"/>
          <p:nvPr/>
        </p:nvSpPr>
        <p:spPr>
          <a:xfrm>
            <a:off x="3340100" y="1094697"/>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Selection</a:t>
            </a:r>
          </a:p>
        </p:txBody>
      </p:sp>
      <p:sp>
        <p:nvSpPr>
          <p:cNvPr id="7" name="Content Placeholder 2"/>
          <p:cNvSpPr txBox="1"/>
          <p:nvPr/>
        </p:nvSpPr>
        <p:spPr>
          <a:xfrm>
            <a:off x="537882" y="1981200"/>
            <a:ext cx="11044518" cy="4038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II) Transfer Learning Models:</a:t>
            </a:r>
          </a:p>
          <a:p>
            <a:pPr marL="0" indent="0" algn="just" fontAlgn="auto">
              <a:lnSpc>
                <a:spcPct val="150000"/>
              </a:lnSpc>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v) </a:t>
            </a:r>
            <a:r>
              <a:rPr lang="en-US" sz="2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Xception</a:t>
            </a:r>
          </a:p>
          <a:p>
            <a:pPr marL="0" indent="0" algn="just" fontAlgn="auto">
              <a:lnSpc>
                <a:spcPct val="150000"/>
              </a:lnSpc>
              <a:spcAft>
                <a:spcPts val="0"/>
              </a:spcAft>
              <a:buNone/>
            </a:pPr>
            <a:r>
              <a:rPr lang="en-GB"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Xception is a neural network that applies depth-wise separable convolution to learn very thin discriminative visual patterns. Previous research indicates that Xception performs better than conventional CNNs in the intricate image classification problems, such as flower and botanical [10][15]. It is best suited to extracting fine-grained patterns of species with similar colour tones or petal shapes. Xception is used in this work as a high-performance baseline in the assessment of an advanced model’s accuracy.</a:t>
            </a:r>
            <a:endParaRPr lang="en-US" sz="3000" dirty="0">
              <a:solidFill>
                <a:schemeClr val="tx1"/>
              </a:solidFill>
              <a:latin typeface="Times New Roman" panose="02020603050405020304" pitchFamily="18" charset="0"/>
              <a:cs typeface="Times New Roman" panose="02020603050405020304" pitchFamily="18" charset="0"/>
            </a:endParaRPr>
          </a:p>
          <a:p>
            <a:pPr marL="0" indent="0" algn="just"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8BF24857-49DF-9A86-829D-3A617695A4E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24</a:t>
            </a:fld>
            <a:endParaRPr lang="en-US" dirty="0">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1" name="TextBox 9"/>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Visualization</a:t>
            </a:r>
          </a:p>
        </p:txBody>
      </p:sp>
      <p:sp>
        <p:nvSpPr>
          <p:cNvPr id="7" name="TextBox 6"/>
          <p:cNvSpPr txBox="1"/>
          <p:nvPr/>
        </p:nvSpPr>
        <p:spPr>
          <a:xfrm>
            <a:off x="3880758" y="5457569"/>
            <a:ext cx="4430483" cy="571438"/>
          </a:xfrm>
          <a:prstGeom prst="rect">
            <a:avLst/>
          </a:prstGeom>
          <a:noFill/>
        </p:spPr>
        <p:txBody>
          <a:bodyPr wrap="square">
            <a:spAutoFit/>
          </a:bodyPr>
          <a:lstStyle/>
          <a:p>
            <a:pPr marL="0" marR="252095" algn="ctr">
              <a:lnSpc>
                <a:spcPct val="115000"/>
              </a:lnSpc>
              <a:spcBef>
                <a:spcPts val="275"/>
              </a:spcBef>
              <a:spcAft>
                <a:spcPts val="0"/>
              </a:spcAft>
            </a:pPr>
            <a:r>
              <a:rPr lang="fr-FR" sz="1400" dirty="0">
                <a:solidFill>
                  <a:srgbClr val="000000"/>
                </a:solidFill>
                <a:latin typeface="Century" panose="02040604050505020304" pitchFamily="18" charset="0"/>
                <a:ea typeface="Century" panose="02040604050505020304" pitchFamily="18" charset="0"/>
                <a:cs typeface="Century" panose="02040604050505020304" pitchFamily="18" charset="0"/>
              </a:rPr>
              <a:t>Figure 1.9</a:t>
            </a:r>
            <a:r>
              <a:rPr lang="fr-FR"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 Xception Architecture Diagram K. Srinivasan et al.2021[3</a:t>
            </a:r>
            <a:r>
              <a:rPr lang="fr-FR" sz="1400" dirty="0">
                <a:solidFill>
                  <a:srgbClr val="000000"/>
                </a:solidFill>
                <a:latin typeface="Century" panose="02040604050505020304" pitchFamily="18" charset="0"/>
                <a:ea typeface="Century" panose="02040604050505020304" pitchFamily="18" charset="0"/>
                <a:cs typeface="Century" panose="02040604050505020304" pitchFamily="18" charset="0"/>
              </a:rPr>
              <a:t>7</a:t>
            </a:r>
            <a:r>
              <a:rPr lang="fr-FR"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a:t>
            </a:r>
            <a:endParaRPr lang="en-US" sz="1400" dirty="0">
              <a:effectLst/>
              <a:latin typeface="Calibri" panose="020F0502020204030204" pitchFamily="34" charset="0"/>
              <a:ea typeface="Calibri" panose="020F0502020204030204" pitchFamily="34" charset="0"/>
            </a:endParaRPr>
          </a:p>
        </p:txBody>
      </p:sp>
      <p:pic>
        <p:nvPicPr>
          <p:cNvPr id="8194" name="Picture 2">
            <a:extLst>
              <a:ext uri="{FF2B5EF4-FFF2-40B4-BE49-F238E27FC236}">
                <a16:creationId xmlns:a16="http://schemas.microsoft.com/office/drawing/2014/main" id="{EE69BC46-458C-A505-0444-51179F6019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98" t="18580" b="16163"/>
          <a:stretch>
            <a:fillRect/>
          </a:stretch>
        </p:blipFill>
        <p:spPr bwMode="auto">
          <a:xfrm>
            <a:off x="2549977" y="1752704"/>
            <a:ext cx="7432223" cy="329256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3">
            <a:extLst>
              <a:ext uri="{FF2B5EF4-FFF2-40B4-BE49-F238E27FC236}">
                <a16:creationId xmlns:a16="http://schemas.microsoft.com/office/drawing/2014/main" id="{321FBAA8-91C1-29C8-1D27-2B7943155934}"/>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25</a:t>
            </a:fld>
            <a:endParaRPr lang="en-US"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mc:AlternateContent xmlns:mc="http://schemas.openxmlformats.org/markup-compatibility/2006" xmlns:a14="http://schemas.microsoft.com/office/drawing/2010/main">
        <mc:Choice Requires="a14">
          <p:sp>
            <p:nvSpPr>
              <p:cNvPr id="8" name="Content Placeholder 2"/>
              <p:cNvSpPr txBox="1"/>
              <p:nvPr/>
            </p:nvSpPr>
            <p:spPr>
              <a:xfrm>
                <a:off x="537882" y="1477204"/>
                <a:ext cx="11044518" cy="4910898"/>
              </a:xfrm>
              <a:prstGeom prst="rect">
                <a:avLst/>
              </a:prstGeom>
            </p:spPr>
            <p:txBody>
              <a:bodyPr vert="horz" lIns="91440" tIns="45720" rIns="91440" bIns="45720" rtlCol="0">
                <a:normAutofit fontScale="7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Performance Evaluation Metrics:</a:t>
                </a:r>
              </a:p>
              <a:p>
                <a:pPr marL="0" indent="0" algn="just" fontAlgn="auto">
                  <a:lnSpc>
                    <a:spcPct val="170000"/>
                  </a:lnSpc>
                  <a:spcAft>
                    <a:spcPts val="0"/>
                  </a:spcAft>
                  <a:buNone/>
                </a:pPr>
                <a:r>
                  <a:rPr lang="en-US" sz="2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Accuracy, Precision, Recall, and F1-Score were computed to validate classification effectiveness. </a:t>
                </a:r>
                <a:r>
                  <a:rPr lang="en-US" sz="2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 this instance, we figure out the job's efficiency using accuracy, precision, recall, and the F1-Score. This four-factor paradigm is quite helpful for analyzing predictive data. </a:t>
                </a:r>
              </a:p>
              <a:p>
                <a:pPr algn="just" fontAlgn="auto">
                  <a:lnSpc>
                    <a:spcPct val="170000"/>
                  </a:lnSpc>
                  <a:spcAft>
                    <a:spcPts val="0"/>
                  </a:spcAft>
                  <a:buFont typeface="Wingdings" panose="05000000000000000000" pitchFamily="2" charset="2"/>
                  <a:buChar char="q"/>
                </a:pPr>
                <a:r>
                  <a:rPr lang="en-US" sz="2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GB" sz="22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Accuracy: </a:t>
                </a:r>
                <a:r>
                  <a:rPr lang="en-GB" sz="2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Correct predictions over total predictions → </a:t>
                </a:r>
                <a14:m>
                  <m:oMath xmlns:m="http://schemas.openxmlformats.org/officeDocument/2006/math">
                    <m:f>
                      <m:fPr>
                        <m:ctrlPr>
                          <a:rPr lang="en-GB" sz="22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fPr>
                      <m:num>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𝑇𝑃</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𝑇𝑁</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num>
                      <m:den>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𝑇𝑃</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𝐹𝑃</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𝐹𝑁</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𝑇𝑁</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den>
                    </m:f>
                  </m:oMath>
                </a14:m>
                <a:endParaRPr lang="en-US" sz="2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fontAlgn="auto">
                  <a:lnSpc>
                    <a:spcPct val="170000"/>
                  </a:lnSpc>
                  <a:spcAft>
                    <a:spcPts val="0"/>
                  </a:spcAft>
                  <a:buFont typeface="Wingdings" panose="05000000000000000000" pitchFamily="2" charset="2"/>
                  <a:buChar char="q"/>
                </a:pPr>
                <a:r>
                  <a:rPr lang="en-US" sz="2200" b="1" dirty="0">
                    <a:solidFill>
                      <a:schemeClr val="tx1"/>
                    </a:solidFill>
                    <a:latin typeface="Times New Roman" panose="02020603050405020304" pitchFamily="18" charset="0"/>
                    <a:cs typeface="Times New Roman" panose="02020603050405020304" pitchFamily="18" charset="0"/>
                  </a:rPr>
                  <a:t> </a:t>
                </a:r>
                <a:r>
                  <a:rPr lang="en-GB" sz="2200" b="1" dirty="0">
                    <a:solidFill>
                      <a:schemeClr val="tx1"/>
                    </a:solidFill>
                    <a:latin typeface="Times New Roman" panose="02020603050405020304" pitchFamily="18" charset="0"/>
                    <a:cs typeface="Times New Roman" panose="02020603050405020304" pitchFamily="18" charset="0"/>
                  </a:rPr>
                  <a:t>Precision:</a:t>
                </a:r>
                <a:r>
                  <a:rPr lang="en-GB" sz="2200" dirty="0">
                    <a:solidFill>
                      <a:schemeClr val="tx1"/>
                    </a:solidFill>
                    <a:latin typeface="Times New Roman" panose="02020603050405020304" pitchFamily="18" charset="0"/>
                    <a:cs typeface="Times New Roman" panose="02020603050405020304" pitchFamily="18" charset="0"/>
                  </a:rPr>
                  <a:t> Correctly predicted positives over total predicted positives → </a:t>
                </a:r>
                <a14:m>
                  <m:oMath xmlns:m="http://schemas.openxmlformats.org/officeDocument/2006/math">
                    <m:f>
                      <m:fPr>
                        <m:ctrlPr>
                          <a:rPr lang="en-GB" sz="2200" i="1" smtClean="0">
                            <a:solidFill>
                              <a:schemeClr val="tx1"/>
                            </a:solidFill>
                            <a:latin typeface="Cambria Math" panose="02040503050406030204" pitchFamily="18" charset="0"/>
                            <a:cs typeface="Times New Roman" panose="02020603050405020304" pitchFamily="18" charset="0"/>
                          </a:rPr>
                        </m:ctrlPr>
                      </m:fPr>
                      <m:num>
                        <m:r>
                          <a:rPr lang="en-GB" sz="2200" b="0" i="1" smtClean="0">
                            <a:solidFill>
                              <a:schemeClr val="tx1"/>
                            </a:solidFill>
                            <a:latin typeface="Cambria Math" panose="02040503050406030204" pitchFamily="18" charset="0"/>
                            <a:cs typeface="Times New Roman" panose="02020603050405020304" pitchFamily="18" charset="0"/>
                          </a:rPr>
                          <m:t>𝑇𝑃</m:t>
                        </m:r>
                      </m:num>
                      <m:den>
                        <m:r>
                          <a:rPr lang="en-GB" sz="2200" b="0" i="1" smtClean="0">
                            <a:solidFill>
                              <a:schemeClr val="tx1"/>
                            </a:solidFill>
                            <a:latin typeface="Cambria Math" panose="02040503050406030204" pitchFamily="18" charset="0"/>
                            <a:cs typeface="Times New Roman" panose="02020603050405020304" pitchFamily="18" charset="0"/>
                          </a:rPr>
                          <m:t>(</m:t>
                        </m:r>
                        <m:r>
                          <a:rPr lang="en-GB" sz="2200" b="0" i="1" smtClean="0">
                            <a:solidFill>
                              <a:schemeClr val="tx1"/>
                            </a:solidFill>
                            <a:latin typeface="Cambria Math" panose="02040503050406030204" pitchFamily="18" charset="0"/>
                            <a:cs typeface="Times New Roman" panose="02020603050405020304" pitchFamily="18" charset="0"/>
                          </a:rPr>
                          <m:t>𝑇𝑃</m:t>
                        </m:r>
                        <m:r>
                          <a:rPr lang="en-GB" sz="2200" b="0" i="1" smtClean="0">
                            <a:solidFill>
                              <a:schemeClr val="tx1"/>
                            </a:solidFill>
                            <a:latin typeface="Cambria Math" panose="02040503050406030204" pitchFamily="18" charset="0"/>
                            <a:cs typeface="Times New Roman" panose="02020603050405020304" pitchFamily="18" charset="0"/>
                          </a:rPr>
                          <m:t>+</m:t>
                        </m:r>
                        <m:r>
                          <a:rPr lang="en-GB" sz="2200" b="0" i="1" smtClean="0">
                            <a:solidFill>
                              <a:schemeClr val="tx1"/>
                            </a:solidFill>
                            <a:latin typeface="Cambria Math" panose="02040503050406030204" pitchFamily="18" charset="0"/>
                            <a:cs typeface="Times New Roman" panose="02020603050405020304" pitchFamily="18" charset="0"/>
                          </a:rPr>
                          <m:t>𝐹𝑃</m:t>
                        </m:r>
                        <m:r>
                          <a:rPr lang="en-GB" sz="2200" b="0" i="1" smtClean="0">
                            <a:solidFill>
                              <a:schemeClr val="tx1"/>
                            </a:solidFill>
                            <a:latin typeface="Cambria Math" panose="02040503050406030204" pitchFamily="18" charset="0"/>
                            <a:cs typeface="Times New Roman" panose="02020603050405020304" pitchFamily="18" charset="0"/>
                          </a:rPr>
                          <m:t>)</m:t>
                        </m:r>
                      </m:den>
                    </m:f>
                  </m:oMath>
                </a14:m>
                <a:endParaRPr lang="en-US" sz="2200" dirty="0">
                  <a:solidFill>
                    <a:schemeClr val="tx1"/>
                  </a:solidFill>
                  <a:latin typeface="Times New Roman" panose="02020603050405020304" pitchFamily="18" charset="0"/>
                  <a:cs typeface="Times New Roman" panose="02020603050405020304" pitchFamily="18" charset="0"/>
                </a:endParaRPr>
              </a:p>
              <a:p>
                <a:pPr algn="just" fontAlgn="auto">
                  <a:lnSpc>
                    <a:spcPct val="170000"/>
                  </a:lnSpc>
                  <a:spcAft>
                    <a:spcPts val="0"/>
                  </a:spcAft>
                  <a:buFont typeface="Wingdings" panose="05000000000000000000" pitchFamily="2" charset="2"/>
                  <a:buChar char="q"/>
                </a:pPr>
                <a:r>
                  <a:rPr lang="en-US" sz="2200" b="1" dirty="0">
                    <a:solidFill>
                      <a:schemeClr val="tx1"/>
                    </a:solidFill>
                    <a:latin typeface="Times New Roman" panose="02020603050405020304" pitchFamily="18" charset="0"/>
                    <a:cs typeface="Times New Roman" panose="02020603050405020304" pitchFamily="18" charset="0"/>
                  </a:rPr>
                  <a:t> </a:t>
                </a:r>
                <a:r>
                  <a:rPr lang="en-GB" sz="2200" b="1" dirty="0">
                    <a:solidFill>
                      <a:schemeClr val="tx1"/>
                    </a:solidFill>
                    <a:latin typeface="Times New Roman" panose="02020603050405020304" pitchFamily="18" charset="0"/>
                    <a:cs typeface="Times New Roman" panose="02020603050405020304" pitchFamily="18" charset="0"/>
                  </a:rPr>
                  <a:t>Recall: </a:t>
                </a:r>
                <a:r>
                  <a:rPr lang="en-GB" sz="2200" dirty="0">
                    <a:solidFill>
                      <a:schemeClr val="tx1"/>
                    </a:solidFill>
                    <a:latin typeface="Times New Roman" panose="02020603050405020304" pitchFamily="18" charset="0"/>
                    <a:cs typeface="Times New Roman" panose="02020603050405020304" pitchFamily="18" charset="0"/>
                  </a:rPr>
                  <a:t>Correctly predicted positives over all actual positives → </a:t>
                </a:r>
                <a14:m>
                  <m:oMath xmlns:m="http://schemas.openxmlformats.org/officeDocument/2006/math">
                    <m:f>
                      <m:fPr>
                        <m:ctrlPr>
                          <a:rPr lang="en-GB" sz="2200" i="1" smtClean="0">
                            <a:solidFill>
                              <a:schemeClr val="tx1"/>
                            </a:solidFill>
                            <a:latin typeface="Cambria Math" panose="02040503050406030204" pitchFamily="18" charset="0"/>
                            <a:cs typeface="Times New Roman" panose="02020603050405020304" pitchFamily="18" charset="0"/>
                          </a:rPr>
                        </m:ctrlPr>
                      </m:fPr>
                      <m:num>
                        <m:r>
                          <a:rPr lang="en-GB" sz="2200" b="0" i="1" smtClean="0">
                            <a:solidFill>
                              <a:schemeClr val="tx1"/>
                            </a:solidFill>
                            <a:latin typeface="Cambria Math" panose="02040503050406030204" pitchFamily="18" charset="0"/>
                            <a:cs typeface="Times New Roman" panose="02020603050405020304" pitchFamily="18" charset="0"/>
                          </a:rPr>
                          <m:t>𝑇𝑃</m:t>
                        </m:r>
                      </m:num>
                      <m:den>
                        <m:r>
                          <a:rPr lang="en-GB" sz="2200" b="0" i="1" smtClean="0">
                            <a:solidFill>
                              <a:schemeClr val="tx1"/>
                            </a:solidFill>
                            <a:latin typeface="Cambria Math" panose="02040503050406030204" pitchFamily="18" charset="0"/>
                            <a:cs typeface="Times New Roman" panose="02020603050405020304" pitchFamily="18" charset="0"/>
                          </a:rPr>
                          <m:t>(</m:t>
                        </m:r>
                        <m:r>
                          <a:rPr lang="en-GB" sz="2200" b="0" i="1" smtClean="0">
                            <a:solidFill>
                              <a:schemeClr val="tx1"/>
                            </a:solidFill>
                            <a:latin typeface="Cambria Math" panose="02040503050406030204" pitchFamily="18" charset="0"/>
                            <a:cs typeface="Times New Roman" panose="02020603050405020304" pitchFamily="18" charset="0"/>
                          </a:rPr>
                          <m:t>𝑇𝑃</m:t>
                        </m:r>
                        <m:r>
                          <a:rPr lang="en-GB" sz="2200" b="0" i="1" smtClean="0">
                            <a:solidFill>
                              <a:schemeClr val="tx1"/>
                            </a:solidFill>
                            <a:latin typeface="Cambria Math" panose="02040503050406030204" pitchFamily="18" charset="0"/>
                            <a:cs typeface="Times New Roman" panose="02020603050405020304" pitchFamily="18" charset="0"/>
                          </a:rPr>
                          <m:t>+</m:t>
                        </m:r>
                        <m:r>
                          <a:rPr lang="en-GB" sz="2200" b="0" i="1" smtClean="0">
                            <a:solidFill>
                              <a:schemeClr val="tx1"/>
                            </a:solidFill>
                            <a:latin typeface="Cambria Math" panose="02040503050406030204" pitchFamily="18" charset="0"/>
                            <a:cs typeface="Times New Roman" panose="02020603050405020304" pitchFamily="18" charset="0"/>
                          </a:rPr>
                          <m:t>𝐹𝑁</m:t>
                        </m:r>
                        <m:r>
                          <a:rPr lang="en-GB" sz="2200" b="0" i="1" smtClean="0">
                            <a:solidFill>
                              <a:schemeClr val="tx1"/>
                            </a:solidFill>
                            <a:latin typeface="Cambria Math" panose="02040503050406030204" pitchFamily="18" charset="0"/>
                            <a:cs typeface="Times New Roman" panose="02020603050405020304" pitchFamily="18" charset="0"/>
                          </a:rPr>
                          <m:t>)</m:t>
                        </m:r>
                      </m:den>
                    </m:f>
                  </m:oMath>
                </a14:m>
                <a:endParaRPr lang="en-US" sz="2200" dirty="0">
                  <a:solidFill>
                    <a:schemeClr val="tx1"/>
                  </a:solidFill>
                  <a:latin typeface="Times New Roman" panose="02020603050405020304" pitchFamily="18" charset="0"/>
                  <a:cs typeface="Times New Roman" panose="02020603050405020304" pitchFamily="18" charset="0"/>
                </a:endParaRPr>
              </a:p>
              <a:p>
                <a:pPr algn="just" fontAlgn="auto">
                  <a:lnSpc>
                    <a:spcPct val="170000"/>
                  </a:lnSpc>
                  <a:spcAft>
                    <a:spcPts val="0"/>
                  </a:spcAft>
                  <a:buFont typeface="Wingdings" panose="05000000000000000000" pitchFamily="2" charset="2"/>
                  <a:buChar char="q"/>
                </a:pPr>
                <a:r>
                  <a:rPr lang="en-US" sz="2200" dirty="0">
                    <a:solidFill>
                      <a:schemeClr val="tx1"/>
                    </a:solidFill>
                    <a:latin typeface="Times New Roman" panose="02020603050405020304" pitchFamily="18" charset="0"/>
                    <a:cs typeface="Times New Roman" panose="02020603050405020304" pitchFamily="18" charset="0"/>
                  </a:rPr>
                  <a:t> </a:t>
                </a:r>
                <a:r>
                  <a:rPr lang="en-GB" sz="2200" b="1" dirty="0">
                    <a:solidFill>
                      <a:schemeClr val="tx1"/>
                    </a:solidFill>
                    <a:latin typeface="Times New Roman" panose="02020603050405020304" pitchFamily="18" charset="0"/>
                    <a:cs typeface="Times New Roman" panose="02020603050405020304" pitchFamily="18" charset="0"/>
                  </a:rPr>
                  <a:t>F1-Score:</a:t>
                </a:r>
                <a:r>
                  <a:rPr lang="en-GB" sz="2200" dirty="0">
                    <a:solidFill>
                      <a:schemeClr val="tx1"/>
                    </a:solidFill>
                    <a:latin typeface="Times New Roman" panose="02020603050405020304" pitchFamily="18" charset="0"/>
                    <a:cs typeface="Times New Roman" panose="02020603050405020304" pitchFamily="18" charset="0"/>
                  </a:rPr>
                  <a:t> Harmonic mean of Precision and Recall → </a:t>
                </a:r>
                <a14:m>
                  <m:oMath xmlns:m="http://schemas.openxmlformats.org/officeDocument/2006/math">
                    <m:r>
                      <a:rPr lang="en-GB" sz="2200" b="0" i="1" smtClean="0">
                        <a:solidFill>
                          <a:schemeClr val="tx1"/>
                        </a:solidFill>
                        <a:latin typeface="Cambria Math" panose="02040503050406030204" pitchFamily="18" charset="0"/>
                        <a:cs typeface="Times New Roman" panose="02020603050405020304" pitchFamily="18" charset="0"/>
                      </a:rPr>
                      <m:t>2 </m:t>
                    </m:r>
                    <m:r>
                      <a:rPr lang="en-GB" sz="2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𝑃𝑟𝑒𝑐𝑖𝑠𝑖𝑜𝑛</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𝑅𝑒𝑐𝑎𝑙𝑙</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num>
                      <m:den>
                        <m:r>
                          <a:rPr lang="en-GB" sz="2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𝑃𝑟𝑒𝑐𝑖𝑠𝑖𝑜𝑛</m:t>
                        </m:r>
                        <m:r>
                          <a:rPr lang="en-GB" sz="2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𝑅𝑒𝑐𝑎𝑙𝑙</m:t>
                        </m:r>
                        <m:r>
                          <a:rPr lang="en-GB" sz="2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den>
                    </m:f>
                  </m:oMath>
                </a14:m>
                <a:endParaRPr lang="en-US" sz="2200" dirty="0">
                  <a:solidFill>
                    <a:schemeClr val="tx1"/>
                  </a:solidFill>
                  <a:latin typeface="Times New Roman" panose="02020603050405020304" pitchFamily="18" charset="0"/>
                  <a:cs typeface="Times New Roman" panose="02020603050405020304" pitchFamily="18" charset="0"/>
                </a:endParaRPr>
              </a:p>
              <a:p>
                <a:pPr marL="0" indent="0" algn="just" fontAlgn="auto">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a:t>
                </a: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Content Placeholder 2"/>
              <p:cNvSpPr txBox="1">
                <a:spLocks noRot="1" noChangeAspect="1" noMove="1" noResize="1" noEditPoints="1" noAdjustHandles="1" noChangeArrowheads="1" noChangeShapeType="1" noTextEdit="1"/>
              </p:cNvSpPr>
              <p:nvPr/>
            </p:nvSpPr>
            <p:spPr>
              <a:xfrm>
                <a:off x="537882" y="1477204"/>
                <a:ext cx="11044518" cy="4910898"/>
              </a:xfrm>
              <a:prstGeom prst="rect">
                <a:avLst/>
              </a:prstGeom>
              <a:blipFill rotWithShape="1">
                <a:blip r:embed="rId2"/>
                <a:stretch>
                  <a:fillRect t="-4" b="-77608"/>
                </a:stretch>
              </a:blipFill>
            </p:spPr>
            <p:txBody>
              <a:bodyPr/>
              <a:lstStyle/>
              <a:p>
                <a:r>
                  <a:rPr lang="en-GB" altLang="en-US">
                    <a:noFill/>
                  </a:rPr>
                  <a:t> </a:t>
                </a:r>
              </a:p>
            </p:txBody>
          </p:sp>
        </mc:Fallback>
      </mc:AlternateContent>
      <p:sp>
        <p:nvSpPr>
          <p:cNvPr id="3" name="Slide Number Placeholder 3">
            <a:extLst>
              <a:ext uri="{FF2B5EF4-FFF2-40B4-BE49-F238E27FC236}">
                <a16:creationId xmlns:a16="http://schemas.microsoft.com/office/drawing/2014/main" id="{07A59532-63B2-7DA3-4167-418DAFE92154}"/>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26</a:t>
            </a:fld>
            <a:endParaRPr lang="en-US" dirty="0">
              <a:solidFill>
                <a:schemeClr val="bg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8" name="Content Placeholder 2"/>
          <p:cNvSpPr txBox="1"/>
          <p:nvPr/>
        </p:nvSpPr>
        <p:spPr>
          <a:xfrm>
            <a:off x="537882" y="1995902"/>
            <a:ext cx="11044518" cy="286619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XAI Implementation (Explainable AI)</a:t>
            </a:r>
          </a:p>
          <a:p>
            <a:pPr marL="0" indent="0" algn="just" fontAlgn="auto">
              <a:spcAft>
                <a:spcPts val="0"/>
              </a:spcAft>
              <a:buNone/>
            </a:pPr>
            <a:endParaRPr lang="en-US" sz="2200"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Ø"/>
            </a:pPr>
            <a:r>
              <a:rPr lang="en-GB" sz="2200" dirty="0">
                <a:solidFill>
                  <a:schemeClr val="tx1"/>
                </a:solidFill>
                <a:latin typeface="Times New Roman" panose="02020603050405020304" pitchFamily="18" charset="0"/>
                <a:cs typeface="Times New Roman" panose="02020603050405020304" pitchFamily="18" charset="0"/>
              </a:rPr>
              <a:t>Added XAI to interpret how the model makes decisions, reducing the “black-box” nature of deep learning.</a:t>
            </a:r>
          </a:p>
          <a:p>
            <a:pPr marL="0" indent="0" algn="just" fontAlgn="auto">
              <a:spcAft>
                <a:spcPts val="0"/>
              </a:spcAft>
              <a:buNone/>
            </a:pPr>
            <a:endParaRPr lang="en-GB" sz="2200"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Ø"/>
            </a:pPr>
            <a:r>
              <a:rPr lang="en-GB" sz="2200" dirty="0">
                <a:solidFill>
                  <a:schemeClr val="tx1"/>
                </a:solidFill>
                <a:latin typeface="Times New Roman" panose="02020603050405020304" pitchFamily="18" charset="0"/>
                <a:cs typeface="Times New Roman" panose="02020603050405020304" pitchFamily="18" charset="0"/>
              </a:rPr>
              <a:t> Helps users see which parts of the image influenced the prediction.</a:t>
            </a:r>
            <a:endParaRPr lang="en-US" sz="2200" dirty="0">
              <a:solidFill>
                <a:schemeClr val="tx1"/>
              </a:solidFill>
              <a:latin typeface="Times New Roman" panose="02020603050405020304" pitchFamily="18" charset="0"/>
              <a:cs typeface="Times New Roman" panose="02020603050405020304" pitchFamily="18" charset="0"/>
            </a:endParaRPr>
          </a:p>
          <a:p>
            <a:pPr marL="0" indent="0" algn="just"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D32CACDB-7FEA-4EEC-2E9B-98C8A77D83BB}"/>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27</a:t>
            </a:fld>
            <a:endParaRPr lang="en-US" dirty="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8" name="Content Placeholder 2"/>
          <p:cNvSpPr txBox="1"/>
          <p:nvPr/>
        </p:nvSpPr>
        <p:spPr>
          <a:xfrm>
            <a:off x="1524000" y="1727775"/>
            <a:ext cx="8305800" cy="434340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endParaRPr lang="en-US" sz="2600" b="1"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q"/>
            </a:pPr>
            <a:r>
              <a:rPr lang="en-US" sz="2400" b="1" dirty="0">
                <a:solidFill>
                  <a:schemeClr val="tx1"/>
                </a:solidFill>
                <a:latin typeface="Times New Roman" panose="02020603050405020304" pitchFamily="18" charset="0"/>
                <a:cs typeface="Times New Roman" panose="02020603050405020304" pitchFamily="18" charset="0"/>
              </a:rPr>
              <a:t>Grad-CAM</a:t>
            </a:r>
            <a:endParaRPr lang="en-US" sz="2400"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Generates heatmaps highlighting important flower regions.</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Most accurate &amp; meaningful visualization among all methods.</a:t>
            </a:r>
          </a:p>
          <a:p>
            <a:pPr algn="just" fontAlgn="auto">
              <a:spcAft>
                <a:spcPts val="0"/>
              </a:spcAft>
              <a:buFont typeface="Wingdings" panose="05000000000000000000" pitchFamily="2" charset="2"/>
              <a:buChar char="Ø"/>
            </a:pPr>
            <a:endParaRPr lang="en-GB" sz="2400"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 </a:t>
            </a:r>
            <a:r>
              <a:rPr lang="en-GB" sz="2400" b="1" dirty="0">
                <a:solidFill>
                  <a:schemeClr val="tx1"/>
                </a:solidFill>
                <a:latin typeface="Times New Roman" panose="02020603050405020304" pitchFamily="18" charset="0"/>
                <a:cs typeface="Times New Roman" panose="02020603050405020304" pitchFamily="18" charset="0"/>
              </a:rPr>
              <a:t>Grad-CAM++</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Provides finer, more detailed highlights.</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Good localization but slightly less consistent than Grad-CAM.</a:t>
            </a:r>
          </a:p>
          <a:p>
            <a:pPr algn="just" fontAlgn="auto">
              <a:spcAft>
                <a:spcPts val="0"/>
              </a:spcAft>
              <a:buFont typeface="Wingdings" panose="05000000000000000000" pitchFamily="2" charset="2"/>
              <a:buChar char="Ø"/>
            </a:pPr>
            <a:endParaRPr lang="en-GB" sz="2400"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 </a:t>
            </a:r>
            <a:r>
              <a:rPr lang="en-GB" sz="2400" b="1" dirty="0">
                <a:solidFill>
                  <a:schemeClr val="tx1"/>
                </a:solidFill>
                <a:latin typeface="Times New Roman" panose="02020603050405020304" pitchFamily="18" charset="0"/>
                <a:cs typeface="Times New Roman" panose="02020603050405020304" pitchFamily="18" charset="0"/>
              </a:rPr>
              <a:t>LIME</a:t>
            </a:r>
          </a:p>
          <a:p>
            <a:pPr algn="just" fontAlgn="auto">
              <a:spcAft>
                <a:spcPts val="0"/>
              </a:spcAft>
              <a:buFont typeface="Wingdings" panose="05000000000000000000" pitchFamily="2" charset="2"/>
              <a:buChar char="Ø"/>
            </a:pPr>
            <a:r>
              <a:rPr lang="en-GB" sz="2400" b="1" dirty="0">
                <a:solidFill>
                  <a:schemeClr val="tx1"/>
                </a:solidFill>
                <a:latin typeface="Times New Roman" panose="02020603050405020304" pitchFamily="18" charset="0"/>
                <a:cs typeface="Times New Roman" panose="02020603050405020304" pitchFamily="18" charset="0"/>
              </a:rPr>
              <a:t> </a:t>
            </a:r>
            <a:r>
              <a:rPr lang="en-GB" sz="2400" dirty="0">
                <a:solidFill>
                  <a:schemeClr val="tx1"/>
                </a:solidFill>
                <a:latin typeface="Times New Roman" panose="02020603050405020304" pitchFamily="18" charset="0"/>
                <a:cs typeface="Times New Roman" panose="02020603050405020304" pitchFamily="18" charset="0"/>
              </a:rPr>
              <a:t>Explains prediction by perturbing image segments.</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Useful but produces more scattered highlights.</a:t>
            </a:r>
          </a:p>
          <a:p>
            <a:pPr algn="just" fontAlgn="auto">
              <a:spcAft>
                <a:spcPts val="0"/>
              </a:spcAft>
              <a:buFont typeface="Wingdings" panose="05000000000000000000" pitchFamily="2" charset="2"/>
              <a:buChar char="q"/>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5" name="TextBox 9"/>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XAI Techniques</a:t>
            </a:r>
          </a:p>
        </p:txBody>
      </p:sp>
      <p:sp>
        <p:nvSpPr>
          <p:cNvPr id="3" name="Slide Number Placeholder 3">
            <a:extLst>
              <a:ext uri="{FF2B5EF4-FFF2-40B4-BE49-F238E27FC236}">
                <a16:creationId xmlns:a16="http://schemas.microsoft.com/office/drawing/2014/main" id="{968E4338-3469-72ED-5C0D-2A6BD532A6A7}"/>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28</a:t>
            </a:fld>
            <a:endParaRPr lang="en-US" dirty="0">
              <a:solidFill>
                <a:schemeClr val="bg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915843759"/>
              </p:ext>
            </p:extLst>
          </p:nvPr>
        </p:nvGraphicFramePr>
        <p:xfrm>
          <a:off x="2209800" y="1524000"/>
          <a:ext cx="8229600" cy="3581400"/>
        </p:xfrm>
        <a:graphic>
          <a:graphicData uri="http://schemas.openxmlformats.org/drawingml/2006/table">
            <a:tbl>
              <a:tblPr firstRow="1" bandRow="1">
                <a:tableStyleId>{5C22544A-7EE6-4342-B048-85BDC9FD1C3A}</a:tableStyleId>
              </a:tblPr>
              <a:tblGrid>
                <a:gridCol w="2108265">
                  <a:extLst>
                    <a:ext uri="{9D8B030D-6E8A-4147-A177-3AD203B41FA5}">
                      <a16:colId xmlns:a16="http://schemas.microsoft.com/office/drawing/2014/main" val="20000"/>
                    </a:ext>
                  </a:extLst>
                </a:gridCol>
                <a:gridCol w="1582329">
                  <a:extLst>
                    <a:ext uri="{9D8B030D-6E8A-4147-A177-3AD203B41FA5}">
                      <a16:colId xmlns:a16="http://schemas.microsoft.com/office/drawing/2014/main" val="20001"/>
                    </a:ext>
                  </a:extLst>
                </a:gridCol>
                <a:gridCol w="1696824">
                  <a:extLst>
                    <a:ext uri="{9D8B030D-6E8A-4147-A177-3AD203B41FA5}">
                      <a16:colId xmlns:a16="http://schemas.microsoft.com/office/drawing/2014/main" val="20002"/>
                    </a:ext>
                  </a:extLst>
                </a:gridCol>
                <a:gridCol w="1477275">
                  <a:extLst>
                    <a:ext uri="{9D8B030D-6E8A-4147-A177-3AD203B41FA5}">
                      <a16:colId xmlns:a16="http://schemas.microsoft.com/office/drawing/2014/main" val="20003"/>
                    </a:ext>
                  </a:extLst>
                </a:gridCol>
                <a:gridCol w="1364907">
                  <a:extLst>
                    <a:ext uri="{9D8B030D-6E8A-4147-A177-3AD203B41FA5}">
                      <a16:colId xmlns:a16="http://schemas.microsoft.com/office/drawing/2014/main" val="20004"/>
                    </a:ext>
                  </a:extLst>
                </a:gridCol>
              </a:tblGrid>
              <a:tr h="565607">
                <a:tc>
                  <a:txBody>
                    <a:bodyPr/>
                    <a:lstStyle/>
                    <a:p>
                      <a:pPr marL="457200" algn="ctr">
                        <a:lnSpc>
                          <a:spcPct val="150000"/>
                        </a:lnSpc>
                        <a:spcBef>
                          <a:spcPts val="1200"/>
                        </a:spcBef>
                        <a:spcAft>
                          <a:spcPts val="800"/>
                        </a:spcAft>
                        <a:buNone/>
                      </a:pPr>
                      <a:r>
                        <a:rPr lang="en-US" sz="1800">
                          <a:effectLst/>
                          <a:latin typeface="Times New Roman" panose="02020603050405020304" pitchFamily="18" charset="0"/>
                          <a:cs typeface="Times New Roman" panose="02020603050405020304" pitchFamily="18" charset="0"/>
                        </a:rPr>
                        <a:t>Model</a:t>
                      </a:r>
                      <a:endParaRPr lang="en-SG"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algn="ctr">
                        <a:lnSpc>
                          <a:spcPct val="150000"/>
                        </a:lnSpc>
                        <a:spcBef>
                          <a:spcPts val="1200"/>
                        </a:spcBef>
                        <a:spcAft>
                          <a:spcPts val="800"/>
                        </a:spcAft>
                        <a:buNone/>
                      </a:pPr>
                      <a:r>
                        <a:rPr lang="en-US" sz="1800">
                          <a:effectLst/>
                          <a:latin typeface="Times New Roman" panose="02020603050405020304" pitchFamily="18" charset="0"/>
                          <a:cs typeface="Times New Roman" panose="02020603050405020304" pitchFamily="18" charset="0"/>
                        </a:rPr>
                        <a:t>Precision</a:t>
                      </a:r>
                      <a:endParaRPr lang="en-SG"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Recall</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algn="ctr">
                        <a:lnSpc>
                          <a:spcPct val="150000"/>
                        </a:lnSpc>
                        <a:spcBef>
                          <a:spcPts val="1200"/>
                        </a:spcBef>
                        <a:spcAft>
                          <a:spcPts val="800"/>
                        </a:spcAft>
                        <a:buNone/>
                      </a:pPr>
                      <a:r>
                        <a:rPr lang="en-US" sz="1800">
                          <a:effectLst/>
                          <a:latin typeface="Times New Roman" panose="02020603050405020304" pitchFamily="18" charset="0"/>
                          <a:cs typeface="Times New Roman" panose="02020603050405020304" pitchFamily="18" charset="0"/>
                        </a:rPr>
                        <a:t>F1-Score</a:t>
                      </a:r>
                      <a:endParaRPr lang="en-SG"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algn="ctr">
                        <a:lnSpc>
                          <a:spcPct val="150000"/>
                        </a:lnSpc>
                        <a:spcBef>
                          <a:spcPts val="1200"/>
                        </a:spcBef>
                        <a:spcAft>
                          <a:spcPts val="800"/>
                        </a:spcAft>
                        <a:buNone/>
                      </a:pPr>
                      <a:r>
                        <a:rPr lang="en-US" sz="1800">
                          <a:effectLst/>
                          <a:latin typeface="Times New Roman" panose="02020603050405020304" pitchFamily="18" charset="0"/>
                          <a:cs typeface="Times New Roman" panose="02020603050405020304" pitchFamily="18" charset="0"/>
                        </a:rPr>
                        <a:t>Accuracy</a:t>
                      </a:r>
                      <a:endParaRPr lang="en-SG"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extLst>
                  <a:ext uri="{0D108BD9-81ED-4DB2-BD59-A6C34878D82A}">
                    <a16:rowId xmlns:a16="http://schemas.microsoft.com/office/drawing/2014/main" val="10000"/>
                  </a:ext>
                </a:extLst>
              </a:tr>
              <a:tr h="565607">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MobileNetV2</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98.70%</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extLst>
                  <a:ext uri="{0D108BD9-81ED-4DB2-BD59-A6C34878D82A}">
                    <a16:rowId xmlns:a16="http://schemas.microsoft.com/office/drawing/2014/main" val="10001"/>
                  </a:ext>
                </a:extLst>
              </a:tr>
              <a:tr h="572447">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MobileNetV3</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0.98</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0.98</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0.98</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b="0" i="0" u="none" strike="noStrike" kern="1200" dirty="0">
                          <a:solidFill>
                            <a:schemeClr val="dk1"/>
                          </a:solidFill>
                          <a:effectLst/>
                          <a:latin typeface="+mn-lt"/>
                          <a:ea typeface="+mn-ea"/>
                          <a:cs typeface="+mn-cs"/>
                        </a:rPr>
                        <a:t>97.60</a:t>
                      </a:r>
                      <a:r>
                        <a:rPr lang="en-US" sz="1800" dirty="0">
                          <a:effectLst/>
                          <a:latin typeface="Times New Roman" panose="02020603050405020304" pitchFamily="18" charset="0"/>
                          <a:cs typeface="Times New Roman" panose="02020603050405020304" pitchFamily="18" charset="0"/>
                        </a:rPr>
                        <a:t>%</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extLst>
                  <a:ext uri="{0D108BD9-81ED-4DB2-BD59-A6C34878D82A}">
                    <a16:rowId xmlns:a16="http://schemas.microsoft.com/office/drawing/2014/main" val="10002"/>
                  </a:ext>
                </a:extLst>
              </a:tr>
              <a:tr h="625913">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DenseNet121</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99.99%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extLst>
                  <a:ext uri="{0D108BD9-81ED-4DB2-BD59-A6C34878D82A}">
                    <a16:rowId xmlns:a16="http://schemas.microsoft.com/office/drawing/2014/main" val="10003"/>
                  </a:ext>
                </a:extLst>
              </a:tr>
              <a:tr h="625913">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ResNet50</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1.00</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1.00</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1.00</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99.98%</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extLst>
                  <a:ext uri="{0D108BD9-81ED-4DB2-BD59-A6C34878D82A}">
                    <a16:rowId xmlns:a16="http://schemas.microsoft.com/office/drawing/2014/main" val="10004"/>
                  </a:ext>
                </a:extLst>
              </a:tr>
              <a:tr h="625913">
                <a:tc>
                  <a:txBody>
                    <a:bodyPr/>
                    <a:lstStyle/>
                    <a:p>
                      <a:pPr marL="457200" algn="ctr">
                        <a:lnSpc>
                          <a:spcPct val="150000"/>
                        </a:lnSpc>
                        <a:spcBef>
                          <a:spcPts val="1200"/>
                        </a:spcBef>
                        <a:spcAft>
                          <a:spcPts val="800"/>
                        </a:spcAft>
                        <a:buNone/>
                      </a:pPr>
                      <a:r>
                        <a:rPr lang="en-SG" sz="1800" dirty="0" err="1">
                          <a:effectLst/>
                          <a:latin typeface="Times New Roman" panose="02020603050405020304" pitchFamily="18" charset="0"/>
                          <a:ea typeface="Calibri" panose="020F0502020204030204" pitchFamily="34" charset="0"/>
                          <a:cs typeface="Times New Roman" panose="02020603050405020304" pitchFamily="18" charset="0"/>
                        </a:rPr>
                        <a:t>Xception</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SG" sz="1800" dirty="0">
                          <a:effectLst/>
                          <a:latin typeface="Times New Roman" panose="02020603050405020304" pitchFamily="18" charset="0"/>
                          <a:ea typeface="Calibri" panose="020F0502020204030204" pitchFamily="34" charset="0"/>
                          <a:cs typeface="Times New Roman" panose="02020603050405020304" pitchFamily="18" charset="0"/>
                        </a:rPr>
                        <a:t>0.99</a:t>
                      </a:r>
                    </a:p>
                  </a:txBody>
                  <a:tcPr marL="73660" marR="73660" marT="36830" marB="36830" anchor="ctr"/>
                </a:tc>
                <a:tc>
                  <a:txBody>
                    <a:bodyPr/>
                    <a:lstStyle/>
                    <a:p>
                      <a:pPr marL="457200" algn="ctr">
                        <a:lnSpc>
                          <a:spcPct val="150000"/>
                        </a:lnSpc>
                        <a:spcBef>
                          <a:spcPts val="1200"/>
                        </a:spcBef>
                        <a:spcAft>
                          <a:spcPts val="800"/>
                        </a:spcAft>
                        <a:buNone/>
                      </a:pPr>
                      <a:r>
                        <a:rPr lang="en-SG" sz="1800" dirty="0">
                          <a:effectLst/>
                          <a:latin typeface="Times New Roman" panose="02020603050405020304" pitchFamily="18" charset="0"/>
                          <a:ea typeface="Calibri" panose="020F0502020204030204" pitchFamily="34" charset="0"/>
                          <a:cs typeface="Times New Roman" panose="02020603050405020304" pitchFamily="18" charset="0"/>
                        </a:rPr>
                        <a:t>0.99</a:t>
                      </a:r>
                    </a:p>
                  </a:txBody>
                  <a:tcPr marL="73660" marR="73660" marT="36830" marB="36830" anchor="ctr"/>
                </a:tc>
                <a:tc>
                  <a:txBody>
                    <a:bodyPr/>
                    <a:lstStyle/>
                    <a:p>
                      <a:pPr marL="457200" algn="ctr">
                        <a:lnSpc>
                          <a:spcPct val="150000"/>
                        </a:lnSpc>
                        <a:spcBef>
                          <a:spcPts val="1200"/>
                        </a:spcBef>
                        <a:spcAft>
                          <a:spcPts val="800"/>
                        </a:spcAft>
                        <a:buNone/>
                      </a:pPr>
                      <a:r>
                        <a:rPr lang="en-SG" sz="1800" dirty="0">
                          <a:effectLst/>
                          <a:latin typeface="Times New Roman" panose="02020603050405020304" pitchFamily="18" charset="0"/>
                          <a:ea typeface="Calibri" panose="020F0502020204030204" pitchFamily="34" charset="0"/>
                          <a:cs typeface="Times New Roman" panose="02020603050405020304" pitchFamily="18" charset="0"/>
                        </a:rPr>
                        <a:t>0.99</a:t>
                      </a:r>
                    </a:p>
                  </a:txBody>
                  <a:tcPr marL="73660" marR="73660" marT="36830" marB="36830" anchor="ctr"/>
                </a:tc>
                <a:tc>
                  <a:txBody>
                    <a:bodyPr/>
                    <a:lstStyle/>
                    <a:p>
                      <a:pPr marL="457200" algn="ctr">
                        <a:lnSpc>
                          <a:spcPct val="150000"/>
                        </a:lnSpc>
                        <a:spcBef>
                          <a:spcPts val="1200"/>
                        </a:spcBef>
                        <a:spcAft>
                          <a:spcPts val="800"/>
                        </a:spcAft>
                        <a:buNone/>
                      </a:pPr>
                      <a:r>
                        <a:rPr lang="en-SG" sz="1800" dirty="0">
                          <a:effectLst/>
                          <a:latin typeface="Times New Roman" panose="02020603050405020304" pitchFamily="18" charset="0"/>
                          <a:ea typeface="Calibri" panose="020F0502020204030204" pitchFamily="34" charset="0"/>
                          <a:cs typeface="Times New Roman" panose="02020603050405020304" pitchFamily="18" charset="0"/>
                        </a:rPr>
                        <a:t>98.69%</a:t>
                      </a:r>
                    </a:p>
                  </a:txBody>
                  <a:tcPr marL="73660" marR="73660" marT="36830" marB="36830" anchor="ctr"/>
                </a:tc>
                <a:extLst>
                  <a:ext uri="{0D108BD9-81ED-4DB2-BD59-A6C34878D82A}">
                    <a16:rowId xmlns:a16="http://schemas.microsoft.com/office/drawing/2014/main" val="10005"/>
                  </a:ext>
                </a:extLst>
              </a:tr>
            </a:tbl>
          </a:graphicData>
        </a:graphic>
      </p:graphicFrame>
      <p:sp>
        <p:nvSpPr>
          <p:cNvPr id="6" name="TextBox 5"/>
          <p:cNvSpPr txBox="1"/>
          <p:nvPr/>
        </p:nvSpPr>
        <p:spPr>
          <a:xfrm>
            <a:off x="3962401" y="5460474"/>
            <a:ext cx="46482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  </a:t>
            </a:r>
            <a:r>
              <a:rPr lang="en-US" dirty="0">
                <a:solidFill>
                  <a:srgbClr val="000000"/>
                </a:solidFill>
                <a:latin typeface="Century" panose="02040604050505020304" pitchFamily="18" charset="0"/>
              </a:rPr>
              <a:t>Table 1.2.</a:t>
            </a:r>
            <a:r>
              <a:rPr lang="en-US" sz="1800" b="1" i="0" u="none" strike="noStrike" dirty="0">
                <a:solidFill>
                  <a:srgbClr val="000000"/>
                </a:solidFill>
                <a:effectLst/>
                <a:latin typeface="Century" panose="02040604050505020304" pitchFamily="18" charset="0"/>
              </a:rPr>
              <a:t>: </a:t>
            </a:r>
            <a:r>
              <a:rPr lang="en-US" sz="1800" b="0" i="0" u="none" strike="noStrike" dirty="0">
                <a:solidFill>
                  <a:srgbClr val="000000"/>
                </a:solidFill>
                <a:effectLst/>
                <a:latin typeface="Century" panose="02040604050505020304" pitchFamily="18" charset="0"/>
              </a:rPr>
              <a:t>Result Table</a:t>
            </a:r>
            <a:endParaRPr lang="en-SG" dirty="0"/>
          </a:p>
        </p:txBody>
      </p:sp>
      <p:sp>
        <p:nvSpPr>
          <p:cNvPr id="3" name="Slide Number Placeholder 3">
            <a:extLst>
              <a:ext uri="{FF2B5EF4-FFF2-40B4-BE49-F238E27FC236}">
                <a16:creationId xmlns:a16="http://schemas.microsoft.com/office/drawing/2014/main" id="{6A074E54-87D1-7128-0542-A83B8665BADA}"/>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29</a:t>
            </a:fld>
            <a:endParaRPr lang="en-US" dirty="0">
              <a:solidFill>
                <a:schemeClr val="bg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743200" y="5277351"/>
            <a:ext cx="7179197"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2.1(i): Accuracy &amp; Loss Curve </a:t>
            </a:r>
            <a:r>
              <a:rPr lang="en-US" dirty="0"/>
              <a:t>MobileNetV2</a:t>
            </a:r>
            <a:endParaRPr lang="en-SG" dirty="0"/>
          </a:p>
        </p:txBody>
      </p:sp>
      <p:pic>
        <p:nvPicPr>
          <p:cNvPr id="11266" name="Picture 2">
            <a:extLst>
              <a:ext uri="{FF2B5EF4-FFF2-40B4-BE49-F238E27FC236}">
                <a16:creationId xmlns:a16="http://schemas.microsoft.com/office/drawing/2014/main" id="{1E73695F-C2A0-81A8-7A4E-FAA30FD67D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2" y="1852668"/>
            <a:ext cx="4367710" cy="2971231"/>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D7F08355-501E-5580-9BDD-77F6BA3443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6999" y="1852668"/>
            <a:ext cx="4367709" cy="297123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874C0779-4D1A-5400-E1E2-1FDF187732A8}"/>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30</a:t>
            </a:fld>
            <a:endParaRPr lang="en-US" dirty="0">
              <a:solidFill>
                <a:schemeClr val="bg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06401" y="5742962"/>
            <a:ext cx="7179197"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Table 1.3: Classification report of MobileNetV2</a:t>
            </a:r>
            <a:endParaRPr lang="en-SG" dirty="0"/>
          </a:p>
        </p:txBody>
      </p:sp>
      <p:graphicFrame>
        <p:nvGraphicFramePr>
          <p:cNvPr id="29" name="Table 28">
            <a:extLst>
              <a:ext uri="{FF2B5EF4-FFF2-40B4-BE49-F238E27FC236}">
                <a16:creationId xmlns:a16="http://schemas.microsoft.com/office/drawing/2014/main" id="{C2031A61-7D34-C690-C544-CA521070EAA3}"/>
              </a:ext>
            </a:extLst>
          </p:cNvPr>
          <p:cNvGraphicFramePr>
            <a:graphicFrameLocks noGrp="1"/>
          </p:cNvGraphicFramePr>
          <p:nvPr>
            <p:extLst>
              <p:ext uri="{D42A27DB-BD31-4B8C-83A1-F6EECF244321}">
                <p14:modId xmlns:p14="http://schemas.microsoft.com/office/powerpoint/2010/main" val="2670407551"/>
              </p:ext>
            </p:extLst>
          </p:nvPr>
        </p:nvGraphicFramePr>
        <p:xfrm>
          <a:off x="2595100" y="1301945"/>
          <a:ext cx="7001800" cy="4040079"/>
        </p:xfrm>
        <a:graphic>
          <a:graphicData uri="http://schemas.openxmlformats.org/drawingml/2006/table">
            <a:tbl>
              <a:tblPr firstRow="1" bandRow="1">
                <a:tableStyleId>{5C22544A-7EE6-4342-B048-85BDC9FD1C3A}</a:tableStyleId>
              </a:tblPr>
              <a:tblGrid>
                <a:gridCol w="1900700">
                  <a:extLst>
                    <a:ext uri="{9D8B030D-6E8A-4147-A177-3AD203B41FA5}">
                      <a16:colId xmlns:a16="http://schemas.microsoft.com/office/drawing/2014/main" val="776526783"/>
                    </a:ext>
                  </a:extLst>
                </a:gridCol>
                <a:gridCol w="1219200">
                  <a:extLst>
                    <a:ext uri="{9D8B030D-6E8A-4147-A177-3AD203B41FA5}">
                      <a16:colId xmlns:a16="http://schemas.microsoft.com/office/drawing/2014/main" val="2819769436"/>
                    </a:ext>
                  </a:extLst>
                </a:gridCol>
                <a:gridCol w="1295400">
                  <a:extLst>
                    <a:ext uri="{9D8B030D-6E8A-4147-A177-3AD203B41FA5}">
                      <a16:colId xmlns:a16="http://schemas.microsoft.com/office/drawing/2014/main" val="1402119894"/>
                    </a:ext>
                  </a:extLst>
                </a:gridCol>
                <a:gridCol w="1295400">
                  <a:extLst>
                    <a:ext uri="{9D8B030D-6E8A-4147-A177-3AD203B41FA5}">
                      <a16:colId xmlns:a16="http://schemas.microsoft.com/office/drawing/2014/main" val="3924630238"/>
                    </a:ext>
                  </a:extLst>
                </a:gridCol>
                <a:gridCol w="1291100">
                  <a:extLst>
                    <a:ext uri="{9D8B030D-6E8A-4147-A177-3AD203B41FA5}">
                      <a16:colId xmlns:a16="http://schemas.microsoft.com/office/drawing/2014/main" val="942253546"/>
                    </a:ext>
                  </a:extLst>
                </a:gridCol>
              </a:tblGrid>
              <a:tr h="407846">
                <a:tc>
                  <a:txBody>
                    <a:bodyPr/>
                    <a:lstStyle/>
                    <a:p>
                      <a:pPr rtl="0" fontAlgn="t">
                        <a:buNone/>
                      </a:pPr>
                      <a:r>
                        <a:rPr lang="en-US" sz="1400" b="1" i="0" u="none" strike="noStrike">
                          <a:solidFill>
                            <a:schemeClr val="bg1"/>
                          </a:solidFill>
                          <a:effectLst/>
                          <a:latin typeface="Century" panose="02040604050505020304" pitchFamily="18" charset="0"/>
                        </a:rPr>
                        <a:t>Class</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Precision   </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Recall  </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F1-Score</a:t>
                      </a:r>
                      <a:endParaRPr lang="en-US" sz="1400">
                        <a:solidFill>
                          <a:schemeClr val="bg1"/>
                        </a:solidFill>
                        <a:effectLst/>
                      </a:endParaRPr>
                    </a:p>
                  </a:txBody>
                  <a:tcPr marL="63500" marR="63500" marT="63500" marB="63500"/>
                </a:tc>
                <a:tc>
                  <a:txBody>
                    <a:bodyPr/>
                    <a:lstStyle/>
                    <a:p>
                      <a:pPr rtl="0" fontAlgn="t">
                        <a:buNone/>
                      </a:pPr>
                      <a:r>
                        <a:rPr lang="en-US" sz="1400" b="1" i="0" u="none" strike="noStrike" dirty="0">
                          <a:solidFill>
                            <a:schemeClr val="bg1"/>
                          </a:solidFill>
                          <a:effectLst/>
                          <a:latin typeface="Century" panose="02040604050505020304" pitchFamily="18" charset="0"/>
                        </a:rPr>
                        <a:t>Support</a:t>
                      </a:r>
                      <a:endParaRPr lang="en-US" sz="1400" dirty="0">
                        <a:solidFill>
                          <a:schemeClr val="bg1"/>
                        </a:solidFill>
                        <a:effectLst/>
                      </a:endParaRPr>
                    </a:p>
                  </a:txBody>
                  <a:tcPr marL="63500" marR="63500" marT="63500" marB="63500"/>
                </a:tc>
                <a:extLst>
                  <a:ext uri="{0D108BD9-81ED-4DB2-BD59-A6C34878D82A}">
                    <a16:rowId xmlns:a16="http://schemas.microsoft.com/office/drawing/2014/main" val="1788963816"/>
                  </a:ext>
                </a:extLst>
              </a:tr>
              <a:tr h="407846">
                <a:tc>
                  <a:txBody>
                    <a:bodyPr/>
                    <a:lstStyle/>
                    <a:p>
                      <a:pPr rtl="0" fontAlgn="t">
                        <a:buNone/>
                      </a:pPr>
                      <a:r>
                        <a:rPr lang="en-US" sz="1400" b="0" i="0" u="none" strike="noStrike">
                          <a:solidFill>
                            <a:srgbClr val="1F1F1F"/>
                          </a:solidFill>
                          <a:effectLst/>
                          <a:latin typeface="Century" panose="02040604050505020304" pitchFamily="18" charset="0"/>
                        </a:rPr>
                        <a:t>Bud_Rot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0.96</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endParaRPr>
                    </a:p>
                  </a:txBody>
                  <a:tcPr marL="63500" marR="63500" marT="63500" marB="63500"/>
                </a:tc>
                <a:extLst>
                  <a:ext uri="{0D108BD9-81ED-4DB2-BD59-A6C34878D82A}">
                    <a16:rowId xmlns:a16="http://schemas.microsoft.com/office/drawing/2014/main" val="3024076393"/>
                  </a:ext>
                </a:extLst>
              </a:tr>
              <a:tr h="508052">
                <a:tc>
                  <a:txBody>
                    <a:bodyPr/>
                    <a:lstStyle/>
                    <a:p>
                      <a:pPr rtl="0" fontAlgn="t">
                        <a:buNone/>
                      </a:pPr>
                      <a:r>
                        <a:rPr lang="en-US" sz="1400" b="0" i="0" u="none" strike="noStrike">
                          <a:solidFill>
                            <a:srgbClr val="1F1F1F"/>
                          </a:solidFill>
                          <a:effectLst/>
                          <a:latin typeface="Century" panose="02040604050505020304" pitchFamily="18" charset="0"/>
                        </a:rPr>
                        <a:t>Coconut_Caterpillar</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endParaRPr>
                    </a:p>
                  </a:txBody>
                  <a:tcPr marL="63500" marR="63500" marT="63500" marB="63500"/>
                </a:tc>
                <a:extLst>
                  <a:ext uri="{0D108BD9-81ED-4DB2-BD59-A6C34878D82A}">
                    <a16:rowId xmlns:a16="http://schemas.microsoft.com/office/drawing/2014/main" val="3825572349"/>
                  </a:ext>
                </a:extLst>
              </a:tr>
              <a:tr h="407846">
                <a:tc>
                  <a:txBody>
                    <a:bodyPr/>
                    <a:lstStyle/>
                    <a:p>
                      <a:pPr rtl="0" fontAlgn="t">
                        <a:buNone/>
                      </a:pPr>
                      <a:r>
                        <a:rPr lang="en-US" sz="1400" b="0" i="0" u="none" strike="noStrike">
                          <a:solidFill>
                            <a:srgbClr val="000000"/>
                          </a:solidFill>
                          <a:effectLst/>
                          <a:latin typeface="Century" panose="02040604050505020304" pitchFamily="18" charset="0"/>
                        </a:rPr>
                        <a:t>Leaf_Rot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0.94      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0.97</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endParaRPr>
                    </a:p>
                  </a:txBody>
                  <a:tcPr marL="63500" marR="63500" marT="63500" marB="63500"/>
                </a:tc>
                <a:extLst>
                  <a:ext uri="{0D108BD9-81ED-4DB2-BD59-A6C34878D82A}">
                    <a16:rowId xmlns:a16="http://schemas.microsoft.com/office/drawing/2014/main" val="3335734985"/>
                  </a:ext>
                </a:extLst>
              </a:tr>
              <a:tr h="508052">
                <a:tc>
                  <a:txBody>
                    <a:bodyPr/>
                    <a:lstStyle/>
                    <a:p>
                      <a:pPr rtl="0" fontAlgn="t">
                        <a:buNone/>
                      </a:pPr>
                      <a:r>
                        <a:rPr lang="en-US" sz="1400" b="0" i="0" u="none" strike="noStrike" dirty="0">
                          <a:solidFill>
                            <a:srgbClr val="1F1F1F"/>
                          </a:solidFill>
                          <a:effectLst/>
                          <a:latin typeface="Century" panose="02040604050505020304" pitchFamily="18" charset="0"/>
                        </a:rPr>
                        <a:t>Stem_Bleeding       </a:t>
                      </a:r>
                      <a:endParaRPr lang="en-US" sz="1400" dirty="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endParaRPr>
                    </a:p>
                  </a:txBody>
                  <a:tcPr marL="63500" marR="63500" marT="63500" marB="63500"/>
                </a:tc>
                <a:extLst>
                  <a:ext uri="{0D108BD9-81ED-4DB2-BD59-A6C34878D82A}">
                    <a16:rowId xmlns:a16="http://schemas.microsoft.com/office/drawing/2014/main" val="3898591591"/>
                  </a:ext>
                </a:extLst>
              </a:tr>
              <a:tr h="508052">
                <a:tc>
                  <a:txBody>
                    <a:bodyPr/>
                    <a:lstStyle/>
                    <a:p>
                      <a:pPr rtl="0" fontAlgn="t">
                        <a:buNone/>
                      </a:pPr>
                      <a:r>
                        <a:rPr lang="en-US" sz="1400" b="0" i="0" u="none" strike="noStrike" dirty="0" err="1">
                          <a:solidFill>
                            <a:srgbClr val="1F1F1F"/>
                          </a:solidFill>
                          <a:effectLst/>
                          <a:latin typeface="Century" panose="02040604050505020304" pitchFamily="18" charset="0"/>
                        </a:rPr>
                        <a:t>Yellow_Leaf_Disease</a:t>
                      </a:r>
                      <a:r>
                        <a:rPr lang="en-US" sz="1400" b="0" i="0" u="none" strike="noStrike" dirty="0">
                          <a:solidFill>
                            <a:srgbClr val="1F1F1F"/>
                          </a:solidFill>
                          <a:effectLst/>
                          <a:latin typeface="Century" panose="02040604050505020304" pitchFamily="18" charset="0"/>
                        </a:rPr>
                        <a:t>       </a:t>
                      </a:r>
                      <a:endParaRPr lang="en-US" sz="1400" dirty="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endParaRPr>
                    </a:p>
                  </a:txBody>
                  <a:tcPr marL="63500" marR="63500" marT="63500" marB="63500"/>
                </a:tc>
                <a:extLst>
                  <a:ext uri="{0D108BD9-81ED-4DB2-BD59-A6C34878D82A}">
                    <a16:rowId xmlns:a16="http://schemas.microsoft.com/office/drawing/2014/main" val="4017728648"/>
                  </a:ext>
                </a:extLst>
              </a:tr>
              <a:tr h="431025">
                <a:tc>
                  <a:txBody>
                    <a:bodyPr/>
                    <a:lstStyle/>
                    <a:p>
                      <a:pPr rtl="0" fontAlgn="t">
                        <a:buNone/>
                      </a:pPr>
                      <a:r>
                        <a:rPr lang="en-US" sz="1400" b="0" i="0" u="none" strike="noStrike" dirty="0">
                          <a:solidFill>
                            <a:srgbClr val="1F1F1F"/>
                          </a:solidFill>
                          <a:effectLst/>
                          <a:latin typeface="Century" panose="02040604050505020304" pitchFamily="18" charset="0"/>
                        </a:rPr>
                        <a:t>Accuracy                    </a:t>
                      </a:r>
                      <a:endParaRPr lang="en-US" sz="1400" dirty="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2473240112"/>
                  </a:ext>
                </a:extLst>
              </a:tr>
              <a:tr h="407846">
                <a:tc>
                  <a:txBody>
                    <a:bodyPr/>
                    <a:lstStyle/>
                    <a:p>
                      <a:pPr rtl="0" fontAlgn="t">
                        <a:buNone/>
                      </a:pPr>
                      <a:r>
                        <a:rPr lang="en-US" sz="1400" b="0" i="0" u="none" strike="noStrike">
                          <a:solidFill>
                            <a:srgbClr val="1F1F1F"/>
                          </a:solidFill>
                          <a:effectLst/>
                          <a:latin typeface="Century" panose="02040604050505020304" pitchFamily="18" charset="0"/>
                        </a:rPr>
                        <a:t>Macro avg</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10258026"/>
                  </a:ext>
                </a:extLst>
              </a:tr>
              <a:tr h="407846">
                <a:tc>
                  <a:txBody>
                    <a:bodyPr/>
                    <a:lstStyle/>
                    <a:p>
                      <a:pPr rtl="0" fontAlgn="t">
                        <a:buNone/>
                      </a:pPr>
                      <a:r>
                        <a:rPr lang="en-US" sz="1400" b="0" i="0" u="none" strike="noStrike">
                          <a:solidFill>
                            <a:srgbClr val="1F1F1F"/>
                          </a:solidFill>
                          <a:effectLst/>
                          <a:latin typeface="Century" panose="02040604050505020304" pitchFamily="18" charset="0"/>
                        </a:rPr>
                        <a:t>Weighted avg</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1000</a:t>
                      </a:r>
                      <a:endParaRPr lang="en-US" sz="1400" dirty="0">
                        <a:effectLst/>
                      </a:endParaRPr>
                    </a:p>
                  </a:txBody>
                  <a:tcPr marL="63500" marR="63500" marT="63500" marB="63500"/>
                </a:tc>
                <a:extLst>
                  <a:ext uri="{0D108BD9-81ED-4DB2-BD59-A6C34878D82A}">
                    <a16:rowId xmlns:a16="http://schemas.microsoft.com/office/drawing/2014/main" val="2296675789"/>
                  </a:ext>
                </a:extLst>
              </a:tr>
            </a:tbl>
          </a:graphicData>
        </a:graphic>
      </p:graphicFrame>
      <p:sp>
        <p:nvSpPr>
          <p:cNvPr id="30" name="Slide Number Placeholder 3">
            <a:extLst>
              <a:ext uri="{FF2B5EF4-FFF2-40B4-BE49-F238E27FC236}">
                <a16:creationId xmlns:a16="http://schemas.microsoft.com/office/drawing/2014/main" id="{A485F3F1-56EE-3562-6A38-3740AE7BD221}"/>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31</a:t>
            </a:fld>
            <a:endParaRPr lang="en-US" dirty="0">
              <a:solidFill>
                <a:schemeClr val="bg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3031603" y="5695949"/>
            <a:ext cx="7179197"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2.2(ii): Confusion Matrix </a:t>
            </a:r>
            <a:r>
              <a:rPr lang="en-US" dirty="0"/>
              <a:t>MobileNetV2</a:t>
            </a:r>
            <a:endParaRPr lang="en-SG" dirty="0"/>
          </a:p>
        </p:txBody>
      </p:sp>
      <p:pic>
        <p:nvPicPr>
          <p:cNvPr id="13314" name="Picture 2">
            <a:extLst>
              <a:ext uri="{FF2B5EF4-FFF2-40B4-BE49-F238E27FC236}">
                <a16:creationId xmlns:a16="http://schemas.microsoft.com/office/drawing/2014/main" id="{FE9CCD3E-DA34-CED7-63A4-6305CA755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114425"/>
            <a:ext cx="5334000" cy="462915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F89CD8EA-A559-6144-448E-4BD3A33588A6}"/>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32</a:t>
            </a:fld>
            <a:endParaRPr lang="en-US" dirty="0">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40000" y="5214943"/>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2.3(i): Accuracy &amp; Loss Curve of MobileNetV3</a:t>
            </a:r>
            <a:endParaRPr lang="en-SG" dirty="0"/>
          </a:p>
        </p:txBody>
      </p:sp>
      <p:pic>
        <p:nvPicPr>
          <p:cNvPr id="15362" name="Picture 2">
            <a:extLst>
              <a:ext uri="{FF2B5EF4-FFF2-40B4-BE49-F238E27FC236}">
                <a16:creationId xmlns:a16="http://schemas.microsoft.com/office/drawing/2014/main" id="{45345EFF-9FD9-8732-2375-B890F77D23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9403" y="1632228"/>
            <a:ext cx="9453194" cy="309348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3A83B162-4118-CBFB-2039-CF1EAA2382DB}"/>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33</a:t>
            </a:fld>
            <a:endParaRPr lang="en-US" dirty="0">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11425" y="5556055"/>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Table 1.4: Classification report of MobileNetV3</a:t>
            </a:r>
            <a:endParaRPr lang="en-SG" dirty="0"/>
          </a:p>
        </p:txBody>
      </p:sp>
      <p:graphicFrame>
        <p:nvGraphicFramePr>
          <p:cNvPr id="3" name="Table 2">
            <a:extLst>
              <a:ext uri="{FF2B5EF4-FFF2-40B4-BE49-F238E27FC236}">
                <a16:creationId xmlns:a16="http://schemas.microsoft.com/office/drawing/2014/main" id="{F1B09BF9-175D-4C57-D718-E51E2B8DFA50}"/>
              </a:ext>
            </a:extLst>
          </p:cNvPr>
          <p:cNvGraphicFramePr>
            <a:graphicFrameLocks noGrp="1"/>
          </p:cNvGraphicFramePr>
          <p:nvPr>
            <p:extLst>
              <p:ext uri="{D42A27DB-BD31-4B8C-83A1-F6EECF244321}">
                <p14:modId xmlns:p14="http://schemas.microsoft.com/office/powerpoint/2010/main" val="2253956758"/>
              </p:ext>
            </p:extLst>
          </p:nvPr>
        </p:nvGraphicFramePr>
        <p:xfrm>
          <a:off x="2595100" y="1301945"/>
          <a:ext cx="7001800" cy="4040079"/>
        </p:xfrm>
        <a:graphic>
          <a:graphicData uri="http://schemas.openxmlformats.org/drawingml/2006/table">
            <a:tbl>
              <a:tblPr firstRow="1" bandRow="1">
                <a:tableStyleId>{5C22544A-7EE6-4342-B048-85BDC9FD1C3A}</a:tableStyleId>
              </a:tblPr>
              <a:tblGrid>
                <a:gridCol w="1900700">
                  <a:extLst>
                    <a:ext uri="{9D8B030D-6E8A-4147-A177-3AD203B41FA5}">
                      <a16:colId xmlns:a16="http://schemas.microsoft.com/office/drawing/2014/main" val="776526783"/>
                    </a:ext>
                  </a:extLst>
                </a:gridCol>
                <a:gridCol w="1219200">
                  <a:extLst>
                    <a:ext uri="{9D8B030D-6E8A-4147-A177-3AD203B41FA5}">
                      <a16:colId xmlns:a16="http://schemas.microsoft.com/office/drawing/2014/main" val="2819769436"/>
                    </a:ext>
                  </a:extLst>
                </a:gridCol>
                <a:gridCol w="1295400">
                  <a:extLst>
                    <a:ext uri="{9D8B030D-6E8A-4147-A177-3AD203B41FA5}">
                      <a16:colId xmlns:a16="http://schemas.microsoft.com/office/drawing/2014/main" val="1402119894"/>
                    </a:ext>
                  </a:extLst>
                </a:gridCol>
                <a:gridCol w="1295400">
                  <a:extLst>
                    <a:ext uri="{9D8B030D-6E8A-4147-A177-3AD203B41FA5}">
                      <a16:colId xmlns:a16="http://schemas.microsoft.com/office/drawing/2014/main" val="3924630238"/>
                    </a:ext>
                  </a:extLst>
                </a:gridCol>
                <a:gridCol w="1291100">
                  <a:extLst>
                    <a:ext uri="{9D8B030D-6E8A-4147-A177-3AD203B41FA5}">
                      <a16:colId xmlns:a16="http://schemas.microsoft.com/office/drawing/2014/main" val="942253546"/>
                    </a:ext>
                  </a:extLst>
                </a:gridCol>
              </a:tblGrid>
              <a:tr h="407846">
                <a:tc>
                  <a:txBody>
                    <a:bodyPr/>
                    <a:lstStyle/>
                    <a:p>
                      <a:pPr rtl="0" fontAlgn="t">
                        <a:buNone/>
                      </a:pPr>
                      <a:r>
                        <a:rPr lang="en-US" sz="1400" b="1" i="0" u="none" strike="noStrike" dirty="0">
                          <a:solidFill>
                            <a:schemeClr val="bg1"/>
                          </a:solidFill>
                          <a:effectLst/>
                          <a:latin typeface="Century" panose="02040604050505020304" pitchFamily="18" charset="0"/>
                        </a:rPr>
                        <a:t>Class</a:t>
                      </a:r>
                      <a:endParaRPr lang="en-US" sz="1400" dirty="0">
                        <a:solidFill>
                          <a:schemeClr val="bg1"/>
                        </a:solidFill>
                        <a:effectLst/>
                        <a:latin typeface="Century" panose="02040604050505020304" pitchFamily="18" charset="0"/>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Precision   </a:t>
                      </a:r>
                      <a:endParaRPr lang="en-US" sz="1400">
                        <a:solidFill>
                          <a:schemeClr val="bg1"/>
                        </a:solidFill>
                        <a:effectLst/>
                        <a:latin typeface="Century" panose="02040604050505020304" pitchFamily="18" charset="0"/>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Recall  </a:t>
                      </a:r>
                      <a:endParaRPr lang="en-US" sz="1400">
                        <a:solidFill>
                          <a:schemeClr val="bg1"/>
                        </a:solidFill>
                        <a:effectLst/>
                        <a:latin typeface="Century" panose="02040604050505020304" pitchFamily="18" charset="0"/>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F1-Score</a:t>
                      </a:r>
                      <a:endParaRPr lang="en-US" sz="1400">
                        <a:solidFill>
                          <a:schemeClr val="bg1"/>
                        </a:solidFill>
                        <a:effectLst/>
                        <a:latin typeface="Century" panose="02040604050505020304" pitchFamily="18" charset="0"/>
                      </a:endParaRPr>
                    </a:p>
                  </a:txBody>
                  <a:tcPr marL="63500" marR="63500" marT="63500" marB="63500"/>
                </a:tc>
                <a:tc>
                  <a:txBody>
                    <a:bodyPr/>
                    <a:lstStyle/>
                    <a:p>
                      <a:pPr rtl="0" fontAlgn="t">
                        <a:buNone/>
                      </a:pPr>
                      <a:r>
                        <a:rPr lang="en-US" sz="1400" b="1" i="0" u="none" strike="noStrike" dirty="0">
                          <a:solidFill>
                            <a:schemeClr val="bg1"/>
                          </a:solidFill>
                          <a:effectLst/>
                          <a:latin typeface="Century" panose="02040604050505020304" pitchFamily="18" charset="0"/>
                        </a:rPr>
                        <a:t>Support</a:t>
                      </a:r>
                      <a:endParaRPr lang="en-US" sz="1400" dirty="0">
                        <a:solidFill>
                          <a:schemeClr val="bg1"/>
                        </a:solidFill>
                        <a:effectLst/>
                        <a:latin typeface="Century" panose="02040604050505020304" pitchFamily="18" charset="0"/>
                      </a:endParaRPr>
                    </a:p>
                  </a:txBody>
                  <a:tcPr marL="63500" marR="63500" marT="63500" marB="63500"/>
                </a:tc>
                <a:extLst>
                  <a:ext uri="{0D108BD9-81ED-4DB2-BD59-A6C34878D82A}">
                    <a16:rowId xmlns:a16="http://schemas.microsoft.com/office/drawing/2014/main" val="1788963816"/>
                  </a:ext>
                </a:extLst>
              </a:tr>
              <a:tr h="407846">
                <a:tc>
                  <a:txBody>
                    <a:bodyPr/>
                    <a:lstStyle/>
                    <a:p>
                      <a:pPr rtl="0" fontAlgn="t">
                        <a:buNone/>
                      </a:pPr>
                      <a:r>
                        <a:rPr lang="en-US" sz="1400" b="0" i="0" u="none" strike="noStrike">
                          <a:solidFill>
                            <a:srgbClr val="1F1F1F"/>
                          </a:solidFill>
                          <a:effectLst/>
                          <a:latin typeface="Century" panose="02040604050505020304" pitchFamily="18" charset="0"/>
                        </a:rPr>
                        <a:t>Bud_Rot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3024076393"/>
                  </a:ext>
                </a:extLst>
              </a:tr>
              <a:tr h="508052">
                <a:tc>
                  <a:txBody>
                    <a:bodyPr/>
                    <a:lstStyle/>
                    <a:p>
                      <a:pPr rtl="0" fontAlgn="t">
                        <a:buNone/>
                      </a:pPr>
                      <a:r>
                        <a:rPr lang="en-US" sz="1400" b="0" i="0" u="none" strike="noStrike">
                          <a:solidFill>
                            <a:srgbClr val="1F1F1F"/>
                          </a:solidFill>
                          <a:effectLst/>
                          <a:latin typeface="Century" panose="02040604050505020304" pitchFamily="18" charset="0"/>
                        </a:rPr>
                        <a:t>Coconut_Caterpillar</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0.96</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3825572349"/>
                  </a:ext>
                </a:extLst>
              </a:tr>
              <a:tr h="407846">
                <a:tc>
                  <a:txBody>
                    <a:bodyPr/>
                    <a:lstStyle/>
                    <a:p>
                      <a:pPr rtl="0" fontAlgn="t">
                        <a:buNone/>
                      </a:pPr>
                      <a:r>
                        <a:rPr lang="en-US" sz="1400" b="0" i="0" u="none" strike="noStrike">
                          <a:solidFill>
                            <a:srgbClr val="000000"/>
                          </a:solidFill>
                          <a:effectLst/>
                          <a:latin typeface="Century" panose="02040604050505020304" pitchFamily="18" charset="0"/>
                        </a:rPr>
                        <a:t>Leaf_Rot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0.93</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0.96</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3335734985"/>
                  </a:ext>
                </a:extLst>
              </a:tr>
              <a:tr h="508052">
                <a:tc>
                  <a:txBody>
                    <a:bodyPr/>
                    <a:lstStyle/>
                    <a:p>
                      <a:pPr rtl="0" fontAlgn="t">
                        <a:buNone/>
                      </a:pPr>
                      <a:r>
                        <a:rPr lang="en-US" sz="1400" b="0" i="0" u="none" strike="noStrike">
                          <a:solidFill>
                            <a:srgbClr val="1F1F1F"/>
                          </a:solidFill>
                          <a:effectLst/>
                          <a:latin typeface="Century" panose="02040604050505020304" pitchFamily="18" charset="0"/>
                        </a:rPr>
                        <a:t>Stem_Bleeding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0.95</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0.97</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3898591591"/>
                  </a:ext>
                </a:extLst>
              </a:tr>
              <a:tr h="508052">
                <a:tc>
                  <a:txBody>
                    <a:bodyPr/>
                    <a:lstStyle/>
                    <a:p>
                      <a:pPr rtl="0" fontAlgn="t">
                        <a:buNone/>
                      </a:pPr>
                      <a:r>
                        <a:rPr lang="en-US" sz="1400" b="0" i="0" u="none" strike="noStrike">
                          <a:solidFill>
                            <a:srgbClr val="1F1F1F"/>
                          </a:solidFill>
                          <a:effectLst/>
                          <a:latin typeface="Century" panose="02040604050505020304" pitchFamily="18" charset="0"/>
                        </a:rPr>
                        <a:t>Yellow_Leaf_Disease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0.93</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0.97</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4017728648"/>
                  </a:ext>
                </a:extLst>
              </a:tr>
              <a:tr h="431025">
                <a:tc>
                  <a:txBody>
                    <a:bodyPr/>
                    <a:lstStyle/>
                    <a:p>
                      <a:pPr rtl="0" fontAlgn="t">
                        <a:buNone/>
                      </a:pPr>
                      <a:r>
                        <a:rPr lang="en-US" sz="1400" b="0" i="0" u="none" strike="noStrike" dirty="0">
                          <a:solidFill>
                            <a:srgbClr val="1F1F1F"/>
                          </a:solidFill>
                          <a:effectLst/>
                          <a:latin typeface="Century" panose="02040604050505020304" pitchFamily="18" charset="0"/>
                        </a:rPr>
                        <a:t>Accuracy                   </a:t>
                      </a:r>
                      <a:endParaRPr lang="en-US" sz="1400" dirty="0">
                        <a:effectLst/>
                        <a:latin typeface="Century" panose="02040604050505020304" pitchFamily="18" charset="0"/>
                      </a:endParaRPr>
                    </a:p>
                  </a:txBody>
                  <a:tcPr marL="63500" marR="63500" marT="63500" marB="63500"/>
                </a:tc>
                <a:tc>
                  <a:txBody>
                    <a:bodyPr/>
                    <a:lstStyle/>
                    <a:p>
                      <a:pPr fontAlgn="t">
                        <a:buNone/>
                      </a:pPr>
                      <a:endParaRPr lang="en-US" sz="1400" dirty="0">
                        <a:effectLst/>
                        <a:latin typeface="Century" panose="02040604050505020304" pitchFamily="18" charset="0"/>
                      </a:endParaRPr>
                    </a:p>
                  </a:txBody>
                  <a:tcPr marL="63500" marR="63500" marT="63500" marB="63500"/>
                </a:tc>
                <a:tc>
                  <a:txBody>
                    <a:bodyPr/>
                    <a:lstStyle/>
                    <a:p>
                      <a:pPr fontAlgn="t">
                        <a:buNone/>
                      </a:pPr>
                      <a:endParaRPr lang="en-US" sz="1400" dirty="0">
                        <a:effectLst/>
                        <a:latin typeface="Century" panose="02040604050505020304" pitchFamily="18" charset="0"/>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0.98</a:t>
                      </a:r>
                      <a:endParaRPr lang="en-US" sz="1400" dirty="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2473240112"/>
                  </a:ext>
                </a:extLst>
              </a:tr>
              <a:tr h="407846">
                <a:tc>
                  <a:txBody>
                    <a:bodyPr/>
                    <a:lstStyle/>
                    <a:p>
                      <a:pPr rtl="0" fontAlgn="t">
                        <a:buNone/>
                      </a:pPr>
                      <a:r>
                        <a:rPr lang="en-US" sz="1400" b="0" i="0" u="none" strike="noStrike">
                          <a:solidFill>
                            <a:srgbClr val="1F1F1F"/>
                          </a:solidFill>
                          <a:effectLst/>
                          <a:latin typeface="Century" panose="02040604050505020304" pitchFamily="18" charset="0"/>
                        </a:rPr>
                        <a:t>Macro avg</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10258026"/>
                  </a:ext>
                </a:extLst>
              </a:tr>
              <a:tr h="407846">
                <a:tc>
                  <a:txBody>
                    <a:bodyPr/>
                    <a:lstStyle/>
                    <a:p>
                      <a:pPr rtl="0" fontAlgn="t">
                        <a:buNone/>
                      </a:pPr>
                      <a:r>
                        <a:rPr lang="en-US" sz="1400" b="0" i="0" u="none" strike="noStrike">
                          <a:solidFill>
                            <a:srgbClr val="1F1F1F"/>
                          </a:solidFill>
                          <a:effectLst/>
                          <a:latin typeface="Century" panose="02040604050505020304" pitchFamily="18" charset="0"/>
                        </a:rPr>
                        <a:t>Weighted avg</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1000</a:t>
                      </a:r>
                      <a:endParaRPr lang="en-US" sz="1400" dirty="0">
                        <a:effectLst/>
                        <a:latin typeface="Century" panose="02040604050505020304" pitchFamily="18" charset="0"/>
                      </a:endParaRPr>
                    </a:p>
                  </a:txBody>
                  <a:tcPr marL="63500" marR="63500" marT="63500" marB="63500"/>
                </a:tc>
                <a:extLst>
                  <a:ext uri="{0D108BD9-81ED-4DB2-BD59-A6C34878D82A}">
                    <a16:rowId xmlns:a16="http://schemas.microsoft.com/office/drawing/2014/main" val="2296675789"/>
                  </a:ext>
                </a:extLst>
              </a:tr>
            </a:tbl>
          </a:graphicData>
        </a:graphic>
      </p:graphicFrame>
      <p:sp>
        <p:nvSpPr>
          <p:cNvPr id="7" name="Slide Number Placeholder 3">
            <a:extLst>
              <a:ext uri="{FF2B5EF4-FFF2-40B4-BE49-F238E27FC236}">
                <a16:creationId xmlns:a16="http://schemas.microsoft.com/office/drawing/2014/main" id="{E1BA1885-5618-85BD-0A9A-E5F03716AC98}"/>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34</a:t>
            </a:fld>
            <a:endParaRPr lang="en-US" dirty="0">
              <a:solidFill>
                <a:schemeClr val="bg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7771" y="198689"/>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612571" y="5818163"/>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2.4(ii): Confusion Matrix (MobileNetV3)</a:t>
            </a:r>
            <a:endParaRPr lang="en-SG" dirty="0"/>
          </a:p>
        </p:txBody>
      </p:sp>
      <p:pic>
        <p:nvPicPr>
          <p:cNvPr id="16386" name="Picture 2">
            <a:extLst>
              <a:ext uri="{FF2B5EF4-FFF2-40B4-BE49-F238E27FC236}">
                <a16:creationId xmlns:a16="http://schemas.microsoft.com/office/drawing/2014/main" id="{A50474B2-FB99-D20D-6254-088B07C7A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6831" y="1067051"/>
            <a:ext cx="4986337" cy="472389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634D1975-A185-A0DB-15D8-27B551A7E463}"/>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35</a:t>
            </a:fld>
            <a:endParaRPr lang="en-US" dirty="0">
              <a:solidFill>
                <a:schemeClr val="bg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40000" y="5261953"/>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Figure 2.5(</a:t>
            </a:r>
            <a:r>
              <a:rPr lang="en-US" sz="1800" i="0" u="none" strike="noStrike" dirty="0" err="1">
                <a:solidFill>
                  <a:srgbClr val="000000"/>
                </a:solidFill>
                <a:effectLst/>
                <a:latin typeface="Century" panose="02040604050505020304" pitchFamily="18" charset="0"/>
              </a:rPr>
              <a:t>i</a:t>
            </a:r>
            <a:r>
              <a:rPr lang="en-US" sz="1800" i="0" u="none" strike="noStrike" dirty="0">
                <a:solidFill>
                  <a:srgbClr val="000000"/>
                </a:solidFill>
                <a:effectLst/>
                <a:latin typeface="Century" panose="02040604050505020304" pitchFamily="18" charset="0"/>
              </a:rPr>
              <a:t>): Accuracy &amp; Loss Curve (DenseNet121)</a:t>
            </a:r>
            <a:endParaRPr lang="en-SG" dirty="0"/>
          </a:p>
        </p:txBody>
      </p:sp>
      <p:pic>
        <p:nvPicPr>
          <p:cNvPr id="17410" name="Picture 2">
            <a:extLst>
              <a:ext uri="{FF2B5EF4-FFF2-40B4-BE49-F238E27FC236}">
                <a16:creationId xmlns:a16="http://schemas.microsoft.com/office/drawing/2014/main" id="{C9F2472F-862A-6A4F-2448-279B592ED4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447800"/>
            <a:ext cx="4338431"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a:extLst>
              <a:ext uri="{FF2B5EF4-FFF2-40B4-BE49-F238E27FC236}">
                <a16:creationId xmlns:a16="http://schemas.microsoft.com/office/drawing/2014/main" id="{AD122F9B-F2D1-9584-332F-373FB122B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4073" y="1447801"/>
            <a:ext cx="4338431" cy="346183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4F150FEB-81F1-8F4B-5929-09385ABDAC66}"/>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36</a:t>
            </a:fld>
            <a:endParaRPr lang="en-US" dirty="0">
              <a:solidFill>
                <a:schemeClr val="bg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52134"/>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285999" y="5446619"/>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Table 1.5: Classification report of DenseNet121</a:t>
            </a:r>
            <a:endParaRPr lang="en-SG" dirty="0"/>
          </a:p>
        </p:txBody>
      </p:sp>
      <p:graphicFrame>
        <p:nvGraphicFramePr>
          <p:cNvPr id="3" name="Table 2">
            <a:extLst>
              <a:ext uri="{FF2B5EF4-FFF2-40B4-BE49-F238E27FC236}">
                <a16:creationId xmlns:a16="http://schemas.microsoft.com/office/drawing/2014/main" id="{D62F1956-AA3B-C60E-628E-1C50E98F19FF}"/>
              </a:ext>
            </a:extLst>
          </p:cNvPr>
          <p:cNvGraphicFramePr>
            <a:graphicFrameLocks noGrp="1"/>
          </p:cNvGraphicFramePr>
          <p:nvPr>
            <p:extLst>
              <p:ext uri="{D42A27DB-BD31-4B8C-83A1-F6EECF244321}">
                <p14:modId xmlns:p14="http://schemas.microsoft.com/office/powerpoint/2010/main" val="252010790"/>
              </p:ext>
            </p:extLst>
          </p:nvPr>
        </p:nvGraphicFramePr>
        <p:xfrm>
          <a:off x="2527836" y="1091887"/>
          <a:ext cx="7136326" cy="4012690"/>
        </p:xfrm>
        <a:graphic>
          <a:graphicData uri="http://schemas.openxmlformats.org/drawingml/2006/table">
            <a:tbl>
              <a:tblPr firstRow="1" bandRow="1">
                <a:tableStyleId>{5C22544A-7EE6-4342-B048-85BDC9FD1C3A}</a:tableStyleId>
              </a:tblPr>
              <a:tblGrid>
                <a:gridCol w="1937218">
                  <a:extLst>
                    <a:ext uri="{9D8B030D-6E8A-4147-A177-3AD203B41FA5}">
                      <a16:colId xmlns:a16="http://schemas.microsoft.com/office/drawing/2014/main" val="776526783"/>
                    </a:ext>
                  </a:extLst>
                </a:gridCol>
                <a:gridCol w="1242625">
                  <a:extLst>
                    <a:ext uri="{9D8B030D-6E8A-4147-A177-3AD203B41FA5}">
                      <a16:colId xmlns:a16="http://schemas.microsoft.com/office/drawing/2014/main" val="2819769436"/>
                    </a:ext>
                  </a:extLst>
                </a:gridCol>
                <a:gridCol w="1320288">
                  <a:extLst>
                    <a:ext uri="{9D8B030D-6E8A-4147-A177-3AD203B41FA5}">
                      <a16:colId xmlns:a16="http://schemas.microsoft.com/office/drawing/2014/main" val="1402119894"/>
                    </a:ext>
                  </a:extLst>
                </a:gridCol>
                <a:gridCol w="1320288">
                  <a:extLst>
                    <a:ext uri="{9D8B030D-6E8A-4147-A177-3AD203B41FA5}">
                      <a16:colId xmlns:a16="http://schemas.microsoft.com/office/drawing/2014/main" val="3924630238"/>
                    </a:ext>
                  </a:extLst>
                </a:gridCol>
                <a:gridCol w="1315907">
                  <a:extLst>
                    <a:ext uri="{9D8B030D-6E8A-4147-A177-3AD203B41FA5}">
                      <a16:colId xmlns:a16="http://schemas.microsoft.com/office/drawing/2014/main" val="942253546"/>
                    </a:ext>
                  </a:extLst>
                </a:gridCol>
              </a:tblGrid>
              <a:tr h="372814">
                <a:tc>
                  <a:txBody>
                    <a:bodyPr/>
                    <a:lstStyle/>
                    <a:p>
                      <a:pPr rtl="0" fontAlgn="t">
                        <a:buNone/>
                      </a:pPr>
                      <a:r>
                        <a:rPr lang="en-US" sz="1400" b="1" i="0" u="none" strike="noStrike">
                          <a:solidFill>
                            <a:schemeClr val="bg1"/>
                          </a:solidFill>
                          <a:effectLst/>
                          <a:latin typeface="Century" panose="02040604050505020304" pitchFamily="18" charset="0"/>
                        </a:rPr>
                        <a:t>Class</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Precision   </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Recall  </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F1-Score</a:t>
                      </a:r>
                      <a:endParaRPr lang="en-US" sz="1400">
                        <a:solidFill>
                          <a:schemeClr val="bg1"/>
                        </a:solidFill>
                        <a:effectLst/>
                      </a:endParaRPr>
                    </a:p>
                  </a:txBody>
                  <a:tcPr marL="63500" marR="63500" marT="63500" marB="63500"/>
                </a:tc>
                <a:tc>
                  <a:txBody>
                    <a:bodyPr/>
                    <a:lstStyle/>
                    <a:p>
                      <a:pPr rtl="0" fontAlgn="t">
                        <a:buNone/>
                      </a:pPr>
                      <a:r>
                        <a:rPr lang="en-US" sz="1400" b="1" i="0" u="none" strike="noStrike" dirty="0">
                          <a:solidFill>
                            <a:schemeClr val="bg1"/>
                          </a:solidFill>
                          <a:effectLst/>
                          <a:latin typeface="Century" panose="02040604050505020304" pitchFamily="18" charset="0"/>
                        </a:rPr>
                        <a:t>Support</a:t>
                      </a:r>
                      <a:endParaRPr lang="en-US" sz="1400" dirty="0">
                        <a:solidFill>
                          <a:schemeClr val="bg1"/>
                        </a:solidFill>
                        <a:effectLst/>
                      </a:endParaRPr>
                    </a:p>
                  </a:txBody>
                  <a:tcPr marL="63500" marR="63500" marT="63500" marB="63500"/>
                </a:tc>
                <a:extLst>
                  <a:ext uri="{0D108BD9-81ED-4DB2-BD59-A6C34878D82A}">
                    <a16:rowId xmlns:a16="http://schemas.microsoft.com/office/drawing/2014/main" val="1788963816"/>
                  </a:ext>
                </a:extLst>
              </a:tr>
              <a:tr h="372814">
                <a:tc>
                  <a:txBody>
                    <a:bodyPr/>
                    <a:lstStyle/>
                    <a:p>
                      <a:pPr rtl="0" fontAlgn="t">
                        <a:buNone/>
                      </a:pPr>
                      <a:r>
                        <a:rPr lang="en-US" sz="1400" b="0" i="0" u="none" strike="noStrike">
                          <a:solidFill>
                            <a:srgbClr val="1F1F1F"/>
                          </a:solidFill>
                          <a:effectLst/>
                          <a:latin typeface="Century" panose="02040604050505020304" pitchFamily="18" charset="0"/>
                        </a:rPr>
                        <a:t>Bud_Rot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189</a:t>
                      </a:r>
                      <a:endParaRPr lang="en-US" sz="1400">
                        <a:effectLst/>
                      </a:endParaRPr>
                    </a:p>
                  </a:txBody>
                  <a:tcPr marL="63500" marR="63500" marT="63500" marB="63500"/>
                </a:tc>
                <a:extLst>
                  <a:ext uri="{0D108BD9-81ED-4DB2-BD59-A6C34878D82A}">
                    <a16:rowId xmlns:a16="http://schemas.microsoft.com/office/drawing/2014/main" val="3024076393"/>
                  </a:ext>
                </a:extLst>
              </a:tr>
              <a:tr h="524685">
                <a:tc>
                  <a:txBody>
                    <a:bodyPr/>
                    <a:lstStyle/>
                    <a:p>
                      <a:pPr rtl="0" fontAlgn="t">
                        <a:buNone/>
                      </a:pPr>
                      <a:r>
                        <a:rPr lang="en-US" sz="1400" b="0" i="0" u="none" strike="noStrike">
                          <a:solidFill>
                            <a:srgbClr val="1F1F1F"/>
                          </a:solidFill>
                          <a:effectLst/>
                          <a:latin typeface="Century" panose="02040604050505020304" pitchFamily="18" charset="0"/>
                        </a:rPr>
                        <a:t>Coconut_Caterpillar</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191</a:t>
                      </a:r>
                      <a:endParaRPr lang="en-US" sz="1400">
                        <a:effectLst/>
                      </a:endParaRPr>
                    </a:p>
                  </a:txBody>
                  <a:tcPr marL="63500" marR="63500" marT="63500" marB="63500"/>
                </a:tc>
                <a:extLst>
                  <a:ext uri="{0D108BD9-81ED-4DB2-BD59-A6C34878D82A}">
                    <a16:rowId xmlns:a16="http://schemas.microsoft.com/office/drawing/2014/main" val="3825572349"/>
                  </a:ext>
                </a:extLst>
              </a:tr>
              <a:tr h="533400">
                <a:tc>
                  <a:txBody>
                    <a:bodyPr/>
                    <a:lstStyle/>
                    <a:p>
                      <a:pPr rtl="0" fontAlgn="t">
                        <a:buNone/>
                      </a:pPr>
                      <a:r>
                        <a:rPr lang="en-US" sz="1400" b="0" i="0" u="none" strike="noStrike">
                          <a:solidFill>
                            <a:srgbClr val="000000"/>
                          </a:solidFill>
                          <a:effectLst/>
                          <a:latin typeface="Century" panose="02040604050505020304" pitchFamily="18" charset="0"/>
                        </a:rPr>
                        <a:t>Leaf_Rot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213</a:t>
                      </a:r>
                      <a:endParaRPr lang="en-US" sz="1400">
                        <a:effectLst/>
                      </a:endParaRPr>
                    </a:p>
                  </a:txBody>
                  <a:tcPr marL="63500" marR="63500" marT="63500" marB="63500"/>
                </a:tc>
                <a:extLst>
                  <a:ext uri="{0D108BD9-81ED-4DB2-BD59-A6C34878D82A}">
                    <a16:rowId xmlns:a16="http://schemas.microsoft.com/office/drawing/2014/main" val="3335734985"/>
                  </a:ext>
                </a:extLst>
              </a:tr>
              <a:tr h="533400">
                <a:tc>
                  <a:txBody>
                    <a:bodyPr/>
                    <a:lstStyle/>
                    <a:p>
                      <a:pPr rtl="0" fontAlgn="t">
                        <a:buNone/>
                      </a:pPr>
                      <a:r>
                        <a:rPr lang="en-US" sz="1400" b="0" i="0" u="none" strike="noStrike" dirty="0">
                          <a:solidFill>
                            <a:srgbClr val="1F1F1F"/>
                          </a:solidFill>
                          <a:effectLst/>
                          <a:latin typeface="Century" panose="02040604050505020304" pitchFamily="18" charset="0"/>
                        </a:rPr>
                        <a:t>Stem_Bleeding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204</a:t>
                      </a:r>
                      <a:endParaRPr lang="en-US" sz="1400" dirty="0">
                        <a:effectLst/>
                      </a:endParaRPr>
                    </a:p>
                  </a:txBody>
                  <a:tcPr marL="63500" marR="63500" marT="63500" marB="63500"/>
                </a:tc>
                <a:extLst>
                  <a:ext uri="{0D108BD9-81ED-4DB2-BD59-A6C34878D82A}">
                    <a16:rowId xmlns:a16="http://schemas.microsoft.com/office/drawing/2014/main" val="3898591591"/>
                  </a:ext>
                </a:extLst>
              </a:tr>
              <a:tr h="533400">
                <a:tc>
                  <a:txBody>
                    <a:bodyPr/>
                    <a:lstStyle/>
                    <a:p>
                      <a:pPr rtl="0" fontAlgn="t">
                        <a:buNone/>
                      </a:pPr>
                      <a:r>
                        <a:rPr lang="en-US" sz="1400" b="0" i="0" u="none" strike="noStrike" dirty="0">
                          <a:solidFill>
                            <a:srgbClr val="1F1F1F"/>
                          </a:solidFill>
                          <a:effectLst/>
                          <a:latin typeface="Century" panose="02040604050505020304" pitchFamily="18" charset="0"/>
                        </a:rPr>
                        <a:t>Yellow_Leaf_Disease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203</a:t>
                      </a:r>
                      <a:endParaRPr lang="en-US" sz="1400" dirty="0">
                        <a:effectLst/>
                      </a:endParaRPr>
                    </a:p>
                  </a:txBody>
                  <a:tcPr marL="63500" marR="63500" marT="63500" marB="63500"/>
                </a:tc>
                <a:extLst>
                  <a:ext uri="{0D108BD9-81ED-4DB2-BD59-A6C34878D82A}">
                    <a16:rowId xmlns:a16="http://schemas.microsoft.com/office/drawing/2014/main" val="4017728648"/>
                  </a:ext>
                </a:extLst>
              </a:tr>
              <a:tr h="0">
                <a:tc>
                  <a:txBody>
                    <a:bodyPr/>
                    <a:lstStyle/>
                    <a:p>
                      <a:pPr rtl="0" fontAlgn="t">
                        <a:buNone/>
                      </a:pPr>
                      <a:r>
                        <a:rPr lang="en-US" sz="1400" b="0" i="0" u="none" strike="noStrike" dirty="0">
                          <a:solidFill>
                            <a:srgbClr val="1F1F1F"/>
                          </a:solidFill>
                          <a:effectLst/>
                          <a:latin typeface="Century" panose="02040604050505020304" pitchFamily="18" charset="0"/>
                        </a:rPr>
                        <a:t>Accuracy                     </a:t>
                      </a:r>
                      <a:endParaRPr lang="en-US" sz="1400" dirty="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2473240112"/>
                  </a:ext>
                </a:extLst>
              </a:tr>
              <a:tr h="429003">
                <a:tc>
                  <a:txBody>
                    <a:bodyPr/>
                    <a:lstStyle/>
                    <a:p>
                      <a:pPr rtl="0" fontAlgn="t">
                        <a:buNone/>
                      </a:pPr>
                      <a:r>
                        <a:rPr lang="en-US" sz="1400" b="0" i="0" u="none" strike="noStrike">
                          <a:solidFill>
                            <a:srgbClr val="1F1F1F"/>
                          </a:solidFill>
                          <a:effectLst/>
                          <a:latin typeface="Century" panose="02040604050505020304" pitchFamily="18" charset="0"/>
                        </a:rPr>
                        <a:t>Macro avg</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10258026"/>
                  </a:ext>
                </a:extLst>
              </a:tr>
              <a:tr h="372814">
                <a:tc>
                  <a:txBody>
                    <a:bodyPr/>
                    <a:lstStyle/>
                    <a:p>
                      <a:pPr rtl="0" fontAlgn="t">
                        <a:buNone/>
                      </a:pPr>
                      <a:r>
                        <a:rPr lang="en-US" sz="1400" b="0" i="0" u="none" strike="noStrike">
                          <a:solidFill>
                            <a:srgbClr val="1F1F1F"/>
                          </a:solidFill>
                          <a:effectLst/>
                          <a:latin typeface="Century" panose="02040604050505020304" pitchFamily="18" charset="0"/>
                        </a:rPr>
                        <a:t>Weighted avg</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1000</a:t>
                      </a:r>
                      <a:endParaRPr lang="en-US" sz="1400" dirty="0">
                        <a:effectLst/>
                      </a:endParaRPr>
                    </a:p>
                  </a:txBody>
                  <a:tcPr marL="63500" marR="63500" marT="63500" marB="63500"/>
                </a:tc>
                <a:extLst>
                  <a:ext uri="{0D108BD9-81ED-4DB2-BD59-A6C34878D82A}">
                    <a16:rowId xmlns:a16="http://schemas.microsoft.com/office/drawing/2014/main" val="2296675789"/>
                  </a:ext>
                </a:extLst>
              </a:tr>
            </a:tbl>
          </a:graphicData>
        </a:graphic>
      </p:graphicFrame>
      <p:sp>
        <p:nvSpPr>
          <p:cNvPr id="7" name="Slide Number Placeholder 3">
            <a:extLst>
              <a:ext uri="{FF2B5EF4-FFF2-40B4-BE49-F238E27FC236}">
                <a16:creationId xmlns:a16="http://schemas.microsoft.com/office/drawing/2014/main" id="{552DA672-8A72-9E85-A1ED-D8B0FFB2FC85}"/>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37</a:t>
            </a:fld>
            <a:endParaRPr lang="en-US" dirty="0">
              <a:solidFill>
                <a:schemeClr val="bg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74471" y="5498068"/>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2.6(ii): Confusion Matrix (DenseNet121)</a:t>
            </a:r>
            <a:endParaRPr lang="en-SG" dirty="0"/>
          </a:p>
        </p:txBody>
      </p:sp>
      <p:pic>
        <p:nvPicPr>
          <p:cNvPr id="18434" name="Picture 2">
            <a:extLst>
              <a:ext uri="{FF2B5EF4-FFF2-40B4-BE49-F238E27FC236}">
                <a16:creationId xmlns:a16="http://schemas.microsoft.com/office/drawing/2014/main" id="{1F08C96C-88D2-2094-E305-01DEACD098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75" y="1126748"/>
            <a:ext cx="5048250" cy="438757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01C67BFD-6672-B981-BF1D-EDB11643C75B}"/>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38</a:t>
            </a:fld>
            <a:endParaRPr lang="en-US" dirty="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286000" y="5294405"/>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2.7(i): Accuracy &amp; </a:t>
            </a:r>
            <a:r>
              <a:rPr lang="fr-FR" sz="1800" i="0" u="none" strike="noStrike" dirty="0" err="1">
                <a:solidFill>
                  <a:srgbClr val="000000"/>
                </a:solidFill>
                <a:effectLst/>
                <a:latin typeface="Century" panose="02040604050505020304" pitchFamily="18" charset="0"/>
              </a:rPr>
              <a:t>Loss</a:t>
            </a:r>
            <a:r>
              <a:rPr lang="fr-FR" sz="1800" i="0" u="none" strike="noStrike" dirty="0">
                <a:solidFill>
                  <a:srgbClr val="000000"/>
                </a:solidFill>
                <a:effectLst/>
                <a:latin typeface="Century" panose="02040604050505020304" pitchFamily="18" charset="0"/>
              </a:rPr>
              <a:t> </a:t>
            </a:r>
            <a:r>
              <a:rPr lang="fr-FR" sz="1800" i="0" u="none" strike="noStrike" dirty="0" err="1">
                <a:solidFill>
                  <a:srgbClr val="000000"/>
                </a:solidFill>
                <a:effectLst/>
                <a:latin typeface="Century" panose="02040604050505020304" pitchFamily="18" charset="0"/>
              </a:rPr>
              <a:t>Curve</a:t>
            </a:r>
            <a:r>
              <a:rPr lang="fr-FR" sz="1800" i="0" u="none" strike="noStrike" dirty="0">
                <a:solidFill>
                  <a:srgbClr val="000000"/>
                </a:solidFill>
                <a:effectLst/>
                <a:latin typeface="Century" panose="02040604050505020304" pitchFamily="18" charset="0"/>
              </a:rPr>
              <a:t> (</a:t>
            </a:r>
            <a:r>
              <a:rPr lang="en-US" dirty="0"/>
              <a:t>ResNet50</a:t>
            </a:r>
            <a:r>
              <a:rPr lang="fr-FR" sz="1800" i="0" u="none" strike="noStrike" dirty="0">
                <a:solidFill>
                  <a:srgbClr val="000000"/>
                </a:solidFill>
                <a:effectLst/>
                <a:latin typeface="Century" panose="02040604050505020304" pitchFamily="18" charset="0"/>
              </a:rPr>
              <a:t>)</a:t>
            </a:r>
            <a:endParaRPr lang="en-SG" dirty="0"/>
          </a:p>
        </p:txBody>
      </p:sp>
      <p:pic>
        <p:nvPicPr>
          <p:cNvPr id="20482" name="Picture 2">
            <a:extLst>
              <a:ext uri="{FF2B5EF4-FFF2-40B4-BE49-F238E27FC236}">
                <a16:creationId xmlns:a16="http://schemas.microsoft.com/office/drawing/2014/main" id="{7ADF9E2B-3A06-6666-1E5A-0BC2B1FBFC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920" y="1933798"/>
            <a:ext cx="4042865" cy="2994715"/>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a:extLst>
              <a:ext uri="{FF2B5EF4-FFF2-40B4-BE49-F238E27FC236}">
                <a16:creationId xmlns:a16="http://schemas.microsoft.com/office/drawing/2014/main" id="{523ADBB3-59FA-573F-B770-F4F3CC097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0335" y="1886876"/>
            <a:ext cx="4042865" cy="308424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551C382-67E2-2641-7A79-94C02308520D}"/>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39</a:t>
            </a:fld>
            <a:endParaRPr lang="en-US" dirty="0">
              <a:solidFill>
                <a:schemeClr val="bg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27836" y="5396781"/>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Table 1.6: Classification report of (ResNet50)</a:t>
            </a:r>
            <a:endParaRPr lang="en-SG" dirty="0"/>
          </a:p>
        </p:txBody>
      </p:sp>
      <p:graphicFrame>
        <p:nvGraphicFramePr>
          <p:cNvPr id="3" name="Table 2">
            <a:extLst>
              <a:ext uri="{FF2B5EF4-FFF2-40B4-BE49-F238E27FC236}">
                <a16:creationId xmlns:a16="http://schemas.microsoft.com/office/drawing/2014/main" id="{A2C10AEE-D1AD-E045-27D6-27A1141555D7}"/>
              </a:ext>
            </a:extLst>
          </p:cNvPr>
          <p:cNvGraphicFramePr>
            <a:graphicFrameLocks noGrp="1"/>
          </p:cNvGraphicFramePr>
          <p:nvPr>
            <p:extLst>
              <p:ext uri="{D42A27DB-BD31-4B8C-83A1-F6EECF244321}">
                <p14:modId xmlns:p14="http://schemas.microsoft.com/office/powerpoint/2010/main" val="1591423930"/>
              </p:ext>
            </p:extLst>
          </p:nvPr>
        </p:nvGraphicFramePr>
        <p:xfrm>
          <a:off x="2769673" y="1648303"/>
          <a:ext cx="7136326" cy="3561393"/>
        </p:xfrm>
        <a:graphic>
          <a:graphicData uri="http://schemas.openxmlformats.org/drawingml/2006/table">
            <a:tbl>
              <a:tblPr firstRow="1" bandRow="1">
                <a:tableStyleId>{5C22544A-7EE6-4342-B048-85BDC9FD1C3A}</a:tableStyleId>
              </a:tblPr>
              <a:tblGrid>
                <a:gridCol w="1937218">
                  <a:extLst>
                    <a:ext uri="{9D8B030D-6E8A-4147-A177-3AD203B41FA5}">
                      <a16:colId xmlns:a16="http://schemas.microsoft.com/office/drawing/2014/main" val="776526783"/>
                    </a:ext>
                  </a:extLst>
                </a:gridCol>
                <a:gridCol w="1242625">
                  <a:extLst>
                    <a:ext uri="{9D8B030D-6E8A-4147-A177-3AD203B41FA5}">
                      <a16:colId xmlns:a16="http://schemas.microsoft.com/office/drawing/2014/main" val="2819769436"/>
                    </a:ext>
                  </a:extLst>
                </a:gridCol>
                <a:gridCol w="1320288">
                  <a:extLst>
                    <a:ext uri="{9D8B030D-6E8A-4147-A177-3AD203B41FA5}">
                      <a16:colId xmlns:a16="http://schemas.microsoft.com/office/drawing/2014/main" val="1402119894"/>
                    </a:ext>
                  </a:extLst>
                </a:gridCol>
                <a:gridCol w="1320288">
                  <a:extLst>
                    <a:ext uri="{9D8B030D-6E8A-4147-A177-3AD203B41FA5}">
                      <a16:colId xmlns:a16="http://schemas.microsoft.com/office/drawing/2014/main" val="3924630238"/>
                    </a:ext>
                  </a:extLst>
                </a:gridCol>
                <a:gridCol w="1315907">
                  <a:extLst>
                    <a:ext uri="{9D8B030D-6E8A-4147-A177-3AD203B41FA5}">
                      <a16:colId xmlns:a16="http://schemas.microsoft.com/office/drawing/2014/main" val="942253546"/>
                    </a:ext>
                  </a:extLst>
                </a:gridCol>
              </a:tblGrid>
              <a:tr h="372814">
                <a:tc>
                  <a:txBody>
                    <a:bodyPr/>
                    <a:lstStyle/>
                    <a:p>
                      <a:pPr algn="l" rtl="0" fontAlgn="t">
                        <a:buNone/>
                      </a:pPr>
                      <a:r>
                        <a:rPr lang="en-US" sz="1400" b="1" i="0" u="none" strike="noStrike" dirty="0">
                          <a:solidFill>
                            <a:schemeClr val="bg1"/>
                          </a:solidFill>
                          <a:effectLst/>
                          <a:latin typeface="Century" panose="02040604050505020304" pitchFamily="18" charset="0"/>
                        </a:rPr>
                        <a:t>Class</a:t>
                      </a:r>
                      <a:endParaRPr lang="en-US" sz="1400" dirty="0">
                        <a:solidFill>
                          <a:schemeClr val="bg1"/>
                        </a:solidFill>
                        <a:effectLst/>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Precision   </a:t>
                      </a:r>
                      <a:endParaRPr lang="en-US" sz="1400">
                        <a:solidFill>
                          <a:schemeClr val="bg1"/>
                        </a:solidFill>
                        <a:effectLst/>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Recall  </a:t>
                      </a:r>
                      <a:endParaRPr lang="en-US" sz="1400">
                        <a:solidFill>
                          <a:schemeClr val="bg1"/>
                        </a:solidFill>
                        <a:effectLst/>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F1-Score</a:t>
                      </a:r>
                      <a:endParaRPr lang="en-US" sz="1400">
                        <a:solidFill>
                          <a:schemeClr val="bg1"/>
                        </a:solidFill>
                        <a:effectLst/>
                      </a:endParaRPr>
                    </a:p>
                  </a:txBody>
                  <a:tcPr marL="63500" marR="63500" marT="63500" marB="63500"/>
                </a:tc>
                <a:tc>
                  <a:txBody>
                    <a:bodyPr/>
                    <a:lstStyle/>
                    <a:p>
                      <a:pPr algn="l" rtl="0" fontAlgn="t">
                        <a:buNone/>
                      </a:pPr>
                      <a:r>
                        <a:rPr lang="en-US" sz="1400" b="1" i="0" u="none" strike="noStrike" dirty="0">
                          <a:solidFill>
                            <a:schemeClr val="bg1"/>
                          </a:solidFill>
                          <a:effectLst/>
                          <a:latin typeface="Century" panose="02040604050505020304" pitchFamily="18" charset="0"/>
                        </a:rPr>
                        <a:t>Support</a:t>
                      </a:r>
                      <a:endParaRPr lang="en-US" sz="1400" dirty="0">
                        <a:solidFill>
                          <a:schemeClr val="bg1"/>
                        </a:solidFill>
                        <a:effectLst/>
                      </a:endParaRPr>
                    </a:p>
                  </a:txBody>
                  <a:tcPr marL="63500" marR="63500" marT="63500" marB="63500"/>
                </a:tc>
                <a:extLst>
                  <a:ext uri="{0D108BD9-81ED-4DB2-BD59-A6C34878D82A}">
                    <a16:rowId xmlns:a16="http://schemas.microsoft.com/office/drawing/2014/main" val="1788963816"/>
                  </a:ext>
                </a:extLst>
              </a:tr>
              <a:tr h="372814">
                <a:tc>
                  <a:txBody>
                    <a:bodyPr/>
                    <a:lstStyle/>
                    <a:p>
                      <a:pPr algn="l" rtl="0" fontAlgn="t">
                        <a:buNone/>
                      </a:pPr>
                      <a:r>
                        <a:rPr lang="en-US" sz="1400" b="0" i="0" u="none" strike="noStrike">
                          <a:solidFill>
                            <a:srgbClr val="1F1F1F"/>
                          </a:solidFill>
                          <a:effectLst/>
                          <a:latin typeface="Century" panose="02040604050505020304" pitchFamily="18" charset="0"/>
                        </a:rPr>
                        <a:t>Bud_Rot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189</a:t>
                      </a:r>
                      <a:endParaRPr lang="en-US" sz="1400">
                        <a:effectLst/>
                      </a:endParaRPr>
                    </a:p>
                  </a:txBody>
                  <a:tcPr marL="63500" marR="63500" marT="63500" marB="63500"/>
                </a:tc>
                <a:extLst>
                  <a:ext uri="{0D108BD9-81ED-4DB2-BD59-A6C34878D82A}">
                    <a16:rowId xmlns:a16="http://schemas.microsoft.com/office/drawing/2014/main" val="3024076393"/>
                  </a:ext>
                </a:extLst>
              </a:tr>
              <a:tr h="448485">
                <a:tc>
                  <a:txBody>
                    <a:bodyPr/>
                    <a:lstStyle/>
                    <a:p>
                      <a:pPr algn="l" rtl="0" fontAlgn="t">
                        <a:buNone/>
                      </a:pPr>
                      <a:r>
                        <a:rPr lang="en-US" sz="1400" b="0" i="0" u="none" strike="noStrike">
                          <a:solidFill>
                            <a:srgbClr val="1F1F1F"/>
                          </a:solidFill>
                          <a:effectLst/>
                          <a:latin typeface="Century" panose="02040604050505020304" pitchFamily="18" charset="0"/>
                        </a:rPr>
                        <a:t>Coconut_Caterpillar</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191</a:t>
                      </a:r>
                      <a:endParaRPr lang="en-US" sz="1400">
                        <a:effectLst/>
                      </a:endParaRPr>
                    </a:p>
                  </a:txBody>
                  <a:tcPr marL="63500" marR="63500" marT="63500" marB="63500"/>
                </a:tc>
                <a:extLst>
                  <a:ext uri="{0D108BD9-81ED-4DB2-BD59-A6C34878D82A}">
                    <a16:rowId xmlns:a16="http://schemas.microsoft.com/office/drawing/2014/main" val="3825572349"/>
                  </a:ext>
                </a:extLst>
              </a:tr>
              <a:tr h="381000">
                <a:tc>
                  <a:txBody>
                    <a:bodyPr/>
                    <a:lstStyle/>
                    <a:p>
                      <a:pPr algn="l" rtl="0" fontAlgn="t">
                        <a:buNone/>
                      </a:pPr>
                      <a:r>
                        <a:rPr lang="en-US" sz="1400" b="0" i="0" u="none" strike="noStrike">
                          <a:solidFill>
                            <a:srgbClr val="000000"/>
                          </a:solidFill>
                          <a:effectLst/>
                          <a:latin typeface="Century" panose="02040604050505020304" pitchFamily="18" charset="0"/>
                        </a:rPr>
                        <a:t>Leaf_Rot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213</a:t>
                      </a:r>
                      <a:endParaRPr lang="en-US" sz="1400">
                        <a:effectLst/>
                      </a:endParaRPr>
                    </a:p>
                  </a:txBody>
                  <a:tcPr marL="63500" marR="63500" marT="63500" marB="63500"/>
                </a:tc>
                <a:extLst>
                  <a:ext uri="{0D108BD9-81ED-4DB2-BD59-A6C34878D82A}">
                    <a16:rowId xmlns:a16="http://schemas.microsoft.com/office/drawing/2014/main" val="3335734985"/>
                  </a:ext>
                </a:extLst>
              </a:tr>
              <a:tr h="381000">
                <a:tc>
                  <a:txBody>
                    <a:bodyPr/>
                    <a:lstStyle/>
                    <a:p>
                      <a:pPr algn="l" rtl="0" fontAlgn="t">
                        <a:buNone/>
                      </a:pPr>
                      <a:r>
                        <a:rPr lang="en-US" sz="1400" b="0" i="0" u="none" strike="noStrike">
                          <a:solidFill>
                            <a:srgbClr val="1F1F1F"/>
                          </a:solidFill>
                          <a:effectLst/>
                          <a:latin typeface="Century" panose="02040604050505020304" pitchFamily="18" charset="0"/>
                        </a:rPr>
                        <a:t>Stem_Bleeding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204</a:t>
                      </a:r>
                      <a:endParaRPr lang="en-US" sz="1400">
                        <a:effectLst/>
                      </a:endParaRPr>
                    </a:p>
                  </a:txBody>
                  <a:tcPr marL="63500" marR="63500" marT="63500" marB="63500"/>
                </a:tc>
                <a:extLst>
                  <a:ext uri="{0D108BD9-81ED-4DB2-BD59-A6C34878D82A}">
                    <a16:rowId xmlns:a16="http://schemas.microsoft.com/office/drawing/2014/main" val="3898591591"/>
                  </a:ext>
                </a:extLst>
              </a:tr>
              <a:tr h="457200">
                <a:tc>
                  <a:txBody>
                    <a:bodyPr/>
                    <a:lstStyle/>
                    <a:p>
                      <a:pPr algn="l" rtl="0" fontAlgn="t">
                        <a:buNone/>
                      </a:pPr>
                      <a:r>
                        <a:rPr lang="en-US" sz="1400" b="0" i="0" u="none" strike="noStrike" dirty="0">
                          <a:solidFill>
                            <a:srgbClr val="1F1F1F"/>
                          </a:solidFill>
                          <a:effectLst/>
                          <a:latin typeface="Century" panose="02040604050505020304" pitchFamily="18" charset="0"/>
                        </a:rPr>
                        <a:t>Yellow_Leaf_Disease</a:t>
                      </a:r>
                      <a:endParaRPr lang="en-US" sz="1400" dirty="0">
                        <a:effectLst/>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203</a:t>
                      </a:r>
                      <a:endParaRPr lang="en-US" sz="1400" dirty="0">
                        <a:effectLst/>
                      </a:endParaRPr>
                    </a:p>
                  </a:txBody>
                  <a:tcPr marL="63500" marR="63500" marT="63500" marB="63500"/>
                </a:tc>
                <a:extLst>
                  <a:ext uri="{0D108BD9-81ED-4DB2-BD59-A6C34878D82A}">
                    <a16:rowId xmlns:a16="http://schemas.microsoft.com/office/drawing/2014/main" val="4017728648"/>
                  </a:ext>
                </a:extLst>
              </a:tr>
              <a:tr h="0">
                <a:tc>
                  <a:txBody>
                    <a:bodyPr/>
                    <a:lstStyle/>
                    <a:p>
                      <a:pPr algn="l" rtl="0" fontAlgn="t">
                        <a:buNone/>
                      </a:pPr>
                      <a:r>
                        <a:rPr lang="en-US" sz="1400" b="0" i="0" u="none" strike="noStrike" dirty="0">
                          <a:solidFill>
                            <a:srgbClr val="1F1F1F"/>
                          </a:solidFill>
                          <a:effectLst/>
                          <a:latin typeface="Century" panose="02040604050505020304" pitchFamily="18" charset="0"/>
                        </a:rPr>
                        <a:t>Accuracy                     </a:t>
                      </a:r>
                      <a:endParaRPr lang="en-US" sz="1400" dirty="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2473240112"/>
                  </a:ext>
                </a:extLst>
              </a:tr>
              <a:tr h="345440">
                <a:tc>
                  <a:txBody>
                    <a:bodyPr/>
                    <a:lstStyle/>
                    <a:p>
                      <a:pPr algn="l" rtl="0" fontAlgn="t">
                        <a:buNone/>
                      </a:pPr>
                      <a:r>
                        <a:rPr lang="en-US" sz="1400" b="0" i="0" u="none" strike="noStrike">
                          <a:solidFill>
                            <a:srgbClr val="1F1F1F"/>
                          </a:solidFill>
                          <a:effectLst/>
                          <a:latin typeface="Century" panose="02040604050505020304" pitchFamily="18" charset="0"/>
                        </a:rPr>
                        <a:t>Macro avg</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10258026"/>
                  </a:ext>
                </a:extLst>
              </a:tr>
              <a:tr h="462280">
                <a:tc>
                  <a:txBody>
                    <a:bodyPr/>
                    <a:lstStyle/>
                    <a:p>
                      <a:pPr algn="l" rtl="0" fontAlgn="t">
                        <a:buNone/>
                      </a:pPr>
                      <a:r>
                        <a:rPr lang="en-US" sz="1400" b="0" i="0" u="none" strike="noStrike">
                          <a:solidFill>
                            <a:srgbClr val="1F1F1F"/>
                          </a:solidFill>
                          <a:effectLst/>
                          <a:latin typeface="Century" panose="02040604050505020304" pitchFamily="18" charset="0"/>
                        </a:rPr>
                        <a:t>Weighted avg</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1000</a:t>
                      </a:r>
                      <a:endParaRPr lang="en-US" sz="1400" dirty="0">
                        <a:effectLst/>
                      </a:endParaRPr>
                    </a:p>
                  </a:txBody>
                  <a:tcPr marL="63500" marR="63500" marT="63500" marB="63500"/>
                </a:tc>
                <a:extLst>
                  <a:ext uri="{0D108BD9-81ED-4DB2-BD59-A6C34878D82A}">
                    <a16:rowId xmlns:a16="http://schemas.microsoft.com/office/drawing/2014/main" val="2296675789"/>
                  </a:ext>
                </a:extLst>
              </a:tr>
            </a:tbl>
          </a:graphicData>
        </a:graphic>
      </p:graphicFrame>
      <p:sp>
        <p:nvSpPr>
          <p:cNvPr id="7" name="Slide Number Placeholder 3">
            <a:extLst>
              <a:ext uri="{FF2B5EF4-FFF2-40B4-BE49-F238E27FC236}">
                <a16:creationId xmlns:a16="http://schemas.microsoft.com/office/drawing/2014/main" id="{2A10F9F6-27F3-F063-3BD6-3DC88B6EFACA}"/>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40</a:t>
            </a:fld>
            <a:endParaRPr lang="en-US"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90800" y="5530334"/>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2.8(ii): Confusion Matrix of (ResNet50))</a:t>
            </a:r>
            <a:endParaRPr lang="en-SG" dirty="0"/>
          </a:p>
        </p:txBody>
      </p:sp>
      <p:pic>
        <p:nvPicPr>
          <p:cNvPr id="21506" name="Picture 2">
            <a:extLst>
              <a:ext uri="{FF2B5EF4-FFF2-40B4-BE49-F238E27FC236}">
                <a16:creationId xmlns:a16="http://schemas.microsoft.com/office/drawing/2014/main" id="{0075CB5C-E567-51F1-7E35-40389DC794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87" y="1143000"/>
            <a:ext cx="4848225" cy="418635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F09933F5-FDF5-0F65-9E2B-9897EF98F301}"/>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41</a:t>
            </a:fld>
            <a:endParaRPr lang="en-US" dirty="0">
              <a:solidFill>
                <a:schemeClr val="bg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40000" y="5303206"/>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2.9(i): Accuracy &amp; Loss Curve (Xception)</a:t>
            </a:r>
            <a:endParaRPr lang="en-SG" dirty="0"/>
          </a:p>
        </p:txBody>
      </p:sp>
      <p:pic>
        <p:nvPicPr>
          <p:cNvPr id="23554" name="Picture 2">
            <a:extLst>
              <a:ext uri="{FF2B5EF4-FFF2-40B4-BE49-F238E27FC236}">
                <a16:creationId xmlns:a16="http://schemas.microsoft.com/office/drawing/2014/main" id="{DDC724C4-6F7F-4BEC-A883-1BFAE0B49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5200" y="1401576"/>
            <a:ext cx="8229599" cy="382772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7593DBBA-2CD8-C49C-7463-350C1325332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42</a:t>
            </a:fld>
            <a:endParaRPr lang="en-US" dirty="0">
              <a:solidFill>
                <a:schemeClr val="bg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832637" y="5717800"/>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Table 1.7: Classification report of (Xception)</a:t>
            </a:r>
            <a:endParaRPr lang="en-SG" dirty="0"/>
          </a:p>
        </p:txBody>
      </p:sp>
      <p:graphicFrame>
        <p:nvGraphicFramePr>
          <p:cNvPr id="3" name="Table 2">
            <a:extLst>
              <a:ext uri="{FF2B5EF4-FFF2-40B4-BE49-F238E27FC236}">
                <a16:creationId xmlns:a16="http://schemas.microsoft.com/office/drawing/2014/main" id="{7F285234-5ADB-16B1-F60B-70C858291DA2}"/>
              </a:ext>
            </a:extLst>
          </p:cNvPr>
          <p:cNvGraphicFramePr>
            <a:graphicFrameLocks noGrp="1"/>
          </p:cNvGraphicFramePr>
          <p:nvPr>
            <p:extLst>
              <p:ext uri="{D42A27DB-BD31-4B8C-83A1-F6EECF244321}">
                <p14:modId xmlns:p14="http://schemas.microsoft.com/office/powerpoint/2010/main" val="498143669"/>
              </p:ext>
            </p:extLst>
          </p:nvPr>
        </p:nvGraphicFramePr>
        <p:xfrm>
          <a:off x="2527837" y="1371600"/>
          <a:ext cx="7136326" cy="3960903"/>
        </p:xfrm>
        <a:graphic>
          <a:graphicData uri="http://schemas.openxmlformats.org/drawingml/2006/table">
            <a:tbl>
              <a:tblPr firstRow="1" bandRow="1">
                <a:tableStyleId>{5C22544A-7EE6-4342-B048-85BDC9FD1C3A}</a:tableStyleId>
              </a:tblPr>
              <a:tblGrid>
                <a:gridCol w="1937218">
                  <a:extLst>
                    <a:ext uri="{9D8B030D-6E8A-4147-A177-3AD203B41FA5}">
                      <a16:colId xmlns:a16="http://schemas.microsoft.com/office/drawing/2014/main" val="4072308542"/>
                    </a:ext>
                  </a:extLst>
                </a:gridCol>
                <a:gridCol w="1242625">
                  <a:extLst>
                    <a:ext uri="{9D8B030D-6E8A-4147-A177-3AD203B41FA5}">
                      <a16:colId xmlns:a16="http://schemas.microsoft.com/office/drawing/2014/main" val="2732709042"/>
                    </a:ext>
                  </a:extLst>
                </a:gridCol>
                <a:gridCol w="1320288">
                  <a:extLst>
                    <a:ext uri="{9D8B030D-6E8A-4147-A177-3AD203B41FA5}">
                      <a16:colId xmlns:a16="http://schemas.microsoft.com/office/drawing/2014/main" val="4281290749"/>
                    </a:ext>
                  </a:extLst>
                </a:gridCol>
                <a:gridCol w="1320288">
                  <a:extLst>
                    <a:ext uri="{9D8B030D-6E8A-4147-A177-3AD203B41FA5}">
                      <a16:colId xmlns:a16="http://schemas.microsoft.com/office/drawing/2014/main" val="2260999781"/>
                    </a:ext>
                  </a:extLst>
                </a:gridCol>
                <a:gridCol w="1315907">
                  <a:extLst>
                    <a:ext uri="{9D8B030D-6E8A-4147-A177-3AD203B41FA5}">
                      <a16:colId xmlns:a16="http://schemas.microsoft.com/office/drawing/2014/main" val="1344490836"/>
                    </a:ext>
                  </a:extLst>
                </a:gridCol>
              </a:tblGrid>
              <a:tr h="393565">
                <a:tc>
                  <a:txBody>
                    <a:bodyPr/>
                    <a:lstStyle/>
                    <a:p>
                      <a:pPr algn="l" rtl="0" fontAlgn="t">
                        <a:buNone/>
                      </a:pPr>
                      <a:r>
                        <a:rPr lang="en-US" sz="1400" b="1" i="0" u="none" strike="noStrike">
                          <a:solidFill>
                            <a:schemeClr val="bg1"/>
                          </a:solidFill>
                          <a:effectLst/>
                          <a:latin typeface="Century" panose="02040604050505020304" pitchFamily="18" charset="0"/>
                        </a:rPr>
                        <a:t>Class</a:t>
                      </a:r>
                      <a:endParaRPr lang="en-US" sz="1400">
                        <a:solidFill>
                          <a:schemeClr val="bg1"/>
                        </a:solidFill>
                        <a:effectLst/>
                        <a:latin typeface="Century" panose="02040604050505020304" pitchFamily="18" charset="0"/>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Precision   </a:t>
                      </a:r>
                      <a:endParaRPr lang="en-US" sz="1400">
                        <a:solidFill>
                          <a:schemeClr val="bg1"/>
                        </a:solidFill>
                        <a:effectLst/>
                        <a:latin typeface="Century" panose="02040604050505020304" pitchFamily="18" charset="0"/>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Recall  </a:t>
                      </a:r>
                      <a:endParaRPr lang="en-US" sz="1400">
                        <a:solidFill>
                          <a:schemeClr val="bg1"/>
                        </a:solidFill>
                        <a:effectLst/>
                        <a:latin typeface="Century" panose="02040604050505020304" pitchFamily="18" charset="0"/>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F1-Score</a:t>
                      </a:r>
                      <a:endParaRPr lang="en-US" sz="1400">
                        <a:solidFill>
                          <a:schemeClr val="bg1"/>
                        </a:solidFill>
                        <a:effectLst/>
                        <a:latin typeface="Century" panose="02040604050505020304" pitchFamily="18" charset="0"/>
                      </a:endParaRPr>
                    </a:p>
                  </a:txBody>
                  <a:tcPr marL="63500" marR="63500" marT="63500" marB="63500"/>
                </a:tc>
                <a:tc>
                  <a:txBody>
                    <a:bodyPr/>
                    <a:lstStyle/>
                    <a:p>
                      <a:pPr algn="l" rtl="0" fontAlgn="t">
                        <a:buNone/>
                      </a:pPr>
                      <a:r>
                        <a:rPr lang="en-US" sz="1400" b="1" i="0" u="none" strike="noStrike" dirty="0">
                          <a:solidFill>
                            <a:schemeClr val="bg1"/>
                          </a:solidFill>
                          <a:effectLst/>
                          <a:latin typeface="Century" panose="02040604050505020304" pitchFamily="18" charset="0"/>
                        </a:rPr>
                        <a:t>Support</a:t>
                      </a:r>
                      <a:endParaRPr lang="en-US" sz="1400" dirty="0">
                        <a:solidFill>
                          <a:schemeClr val="bg1"/>
                        </a:solidFill>
                        <a:effectLst/>
                        <a:latin typeface="Century" panose="02040604050505020304" pitchFamily="18" charset="0"/>
                      </a:endParaRPr>
                    </a:p>
                  </a:txBody>
                  <a:tcPr marL="63500" marR="63500" marT="63500" marB="63500"/>
                </a:tc>
                <a:extLst>
                  <a:ext uri="{0D108BD9-81ED-4DB2-BD59-A6C34878D82A}">
                    <a16:rowId xmlns:a16="http://schemas.microsoft.com/office/drawing/2014/main" val="1526306828"/>
                  </a:ext>
                </a:extLst>
              </a:tr>
              <a:tr h="444635">
                <a:tc>
                  <a:txBody>
                    <a:bodyPr/>
                    <a:lstStyle/>
                    <a:p>
                      <a:pPr algn="l" rtl="0" fontAlgn="t">
                        <a:buNone/>
                      </a:pPr>
                      <a:r>
                        <a:rPr lang="en-US" sz="1400" b="0" i="0" u="none" strike="noStrike">
                          <a:solidFill>
                            <a:srgbClr val="1F1F1F"/>
                          </a:solidFill>
                          <a:effectLst/>
                          <a:latin typeface="Century" panose="02040604050505020304" pitchFamily="18" charset="0"/>
                        </a:rPr>
                        <a:t>Bud_Rot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352577099"/>
                  </a:ext>
                </a:extLst>
              </a:tr>
              <a:tr h="457200">
                <a:tc>
                  <a:txBody>
                    <a:bodyPr/>
                    <a:lstStyle/>
                    <a:p>
                      <a:pPr algn="l" rtl="0" fontAlgn="t">
                        <a:buNone/>
                      </a:pPr>
                      <a:r>
                        <a:rPr lang="en-US" sz="1400" b="0" i="0" u="none" strike="noStrike">
                          <a:solidFill>
                            <a:srgbClr val="1F1F1F"/>
                          </a:solidFill>
                          <a:effectLst/>
                          <a:latin typeface="Century" panose="02040604050505020304" pitchFamily="18" charset="0"/>
                        </a:rPr>
                        <a:t>Coconut_Caterpillar</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4281062502"/>
                  </a:ext>
                </a:extLst>
              </a:tr>
              <a:tr h="482648">
                <a:tc>
                  <a:txBody>
                    <a:bodyPr/>
                    <a:lstStyle/>
                    <a:p>
                      <a:pPr algn="l" rtl="0" fontAlgn="t">
                        <a:buNone/>
                      </a:pPr>
                      <a:r>
                        <a:rPr lang="en-US" sz="1400" b="0" i="0" u="none" strike="noStrike">
                          <a:solidFill>
                            <a:srgbClr val="000000"/>
                          </a:solidFill>
                          <a:effectLst/>
                          <a:latin typeface="Century" panose="02040604050505020304" pitchFamily="18" charset="0"/>
                        </a:rPr>
                        <a:t>Leaf_Rot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0.98      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1178667894"/>
                  </a:ext>
                </a:extLst>
              </a:tr>
              <a:tr h="439572">
                <a:tc>
                  <a:txBody>
                    <a:bodyPr/>
                    <a:lstStyle/>
                    <a:p>
                      <a:pPr algn="l" rtl="0" fontAlgn="t">
                        <a:buNone/>
                      </a:pPr>
                      <a:r>
                        <a:rPr lang="en-US" sz="1400" b="0" i="0" u="none" strike="noStrike">
                          <a:solidFill>
                            <a:srgbClr val="1F1F1F"/>
                          </a:solidFill>
                          <a:effectLst/>
                          <a:latin typeface="Century" panose="02040604050505020304" pitchFamily="18" charset="0"/>
                        </a:rPr>
                        <a:t>Stem_Bleeding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0.97</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1429135289"/>
                  </a:ext>
                </a:extLst>
              </a:tr>
              <a:tr h="490324">
                <a:tc>
                  <a:txBody>
                    <a:bodyPr/>
                    <a:lstStyle/>
                    <a:p>
                      <a:pPr algn="l" rtl="0" fontAlgn="t">
                        <a:buNone/>
                      </a:pPr>
                      <a:r>
                        <a:rPr lang="en-US" sz="1400" b="0" i="0" u="none" strike="noStrike" dirty="0" err="1">
                          <a:solidFill>
                            <a:srgbClr val="1F1F1F"/>
                          </a:solidFill>
                          <a:effectLst/>
                          <a:latin typeface="Century" panose="02040604050505020304" pitchFamily="18" charset="0"/>
                        </a:rPr>
                        <a:t>Yellow_Leaf_Disease</a:t>
                      </a:r>
                      <a:r>
                        <a:rPr lang="en-US" sz="1400" b="0" i="0" u="none" strike="noStrike" dirty="0">
                          <a:solidFill>
                            <a:srgbClr val="1F1F1F"/>
                          </a:solidFill>
                          <a:effectLst/>
                          <a:latin typeface="Century" panose="02040604050505020304" pitchFamily="18" charset="0"/>
                        </a:rPr>
                        <a:t>  </a:t>
                      </a:r>
                      <a:endParaRPr lang="en-US" sz="1400" dirty="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1.00      </a:t>
                      </a:r>
                      <a:endParaRPr lang="en-US" sz="1400" dirty="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1.00      </a:t>
                      </a:r>
                      <a:endParaRPr lang="en-US" sz="1400" dirty="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1.00      </a:t>
                      </a:r>
                      <a:endParaRPr lang="en-US" sz="1400" dirty="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200</a:t>
                      </a:r>
                      <a:endParaRPr lang="en-US" sz="1400" dirty="0">
                        <a:effectLst/>
                        <a:latin typeface="Century" panose="02040604050505020304" pitchFamily="18" charset="0"/>
                      </a:endParaRPr>
                    </a:p>
                  </a:txBody>
                  <a:tcPr marL="63500" marR="63500" marT="63500" marB="63500"/>
                </a:tc>
                <a:extLst>
                  <a:ext uri="{0D108BD9-81ED-4DB2-BD59-A6C34878D82A}">
                    <a16:rowId xmlns:a16="http://schemas.microsoft.com/office/drawing/2014/main" val="2231012705"/>
                  </a:ext>
                </a:extLst>
              </a:tr>
              <a:tr h="381000">
                <a:tc>
                  <a:txBody>
                    <a:bodyPr/>
                    <a:lstStyle/>
                    <a:p>
                      <a:pPr algn="l" rtl="0" fontAlgn="t">
                        <a:buNone/>
                      </a:pPr>
                      <a:r>
                        <a:rPr lang="en-US" sz="1400" b="0" i="0" u="none" strike="noStrike" dirty="0">
                          <a:solidFill>
                            <a:srgbClr val="1F1F1F"/>
                          </a:solidFill>
                          <a:effectLst/>
                          <a:latin typeface="Century" panose="02040604050505020304" pitchFamily="18" charset="0"/>
                        </a:rPr>
                        <a:t>Accuracy                     </a:t>
                      </a:r>
                      <a:endParaRPr lang="en-US" sz="1400" dirty="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      </a:t>
                      </a:r>
                      <a:endParaRPr lang="en-US" sz="1400" dirty="0">
                        <a:effectLst/>
                        <a:latin typeface="Century" panose="02040604050505020304" pitchFamily="18" charset="0"/>
                      </a:endParaRPr>
                    </a:p>
                  </a:txBody>
                  <a:tcPr marL="63500" marR="63500" marT="63500" marB="63500"/>
                </a:tc>
                <a:tc>
                  <a:txBody>
                    <a:bodyPr/>
                    <a:lstStyle/>
                    <a:p>
                      <a:pPr algn="l" fontAlgn="t">
                        <a:buNone/>
                      </a:pPr>
                      <a:endParaRPr lang="en-US" sz="1400" dirty="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4072824553"/>
                  </a:ext>
                </a:extLst>
              </a:tr>
              <a:tr h="457200">
                <a:tc>
                  <a:txBody>
                    <a:bodyPr/>
                    <a:lstStyle/>
                    <a:p>
                      <a:pPr algn="l" rtl="0" fontAlgn="t">
                        <a:buNone/>
                      </a:pPr>
                      <a:r>
                        <a:rPr lang="en-US" sz="1400" b="0" i="0" u="none" strike="noStrike">
                          <a:solidFill>
                            <a:srgbClr val="1F1F1F"/>
                          </a:solidFill>
                          <a:effectLst/>
                          <a:latin typeface="Century" panose="02040604050505020304" pitchFamily="18" charset="0"/>
                        </a:rPr>
                        <a:t>Macro avg</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0.99</a:t>
                      </a:r>
                      <a:endParaRPr lang="en-US" sz="1400" dirty="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1836424537"/>
                  </a:ext>
                </a:extLst>
              </a:tr>
              <a:tr h="414759">
                <a:tc>
                  <a:txBody>
                    <a:bodyPr/>
                    <a:lstStyle/>
                    <a:p>
                      <a:pPr algn="l" rtl="0" fontAlgn="t">
                        <a:buNone/>
                      </a:pPr>
                      <a:r>
                        <a:rPr lang="en-US" sz="1400" b="0" i="0" u="none" strike="noStrike">
                          <a:solidFill>
                            <a:srgbClr val="1F1F1F"/>
                          </a:solidFill>
                          <a:effectLst/>
                          <a:latin typeface="Century" panose="02040604050505020304" pitchFamily="18" charset="0"/>
                        </a:rPr>
                        <a:t>Weighted avg</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1000</a:t>
                      </a:r>
                      <a:endParaRPr lang="en-US" sz="1400" dirty="0">
                        <a:effectLst/>
                        <a:latin typeface="Century" panose="02040604050505020304" pitchFamily="18" charset="0"/>
                      </a:endParaRPr>
                    </a:p>
                  </a:txBody>
                  <a:tcPr marL="63500" marR="63500" marT="63500" marB="63500"/>
                </a:tc>
                <a:extLst>
                  <a:ext uri="{0D108BD9-81ED-4DB2-BD59-A6C34878D82A}">
                    <a16:rowId xmlns:a16="http://schemas.microsoft.com/office/drawing/2014/main" val="813611010"/>
                  </a:ext>
                </a:extLst>
              </a:tr>
            </a:tbl>
          </a:graphicData>
        </a:graphic>
      </p:graphicFrame>
      <p:sp>
        <p:nvSpPr>
          <p:cNvPr id="7" name="Slide Number Placeholder 3">
            <a:extLst>
              <a:ext uri="{FF2B5EF4-FFF2-40B4-BE49-F238E27FC236}">
                <a16:creationId xmlns:a16="http://schemas.microsoft.com/office/drawing/2014/main" id="{CCB9C44B-97EF-1279-A6E3-EAA1F0A7BEC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43</a:t>
            </a:fld>
            <a:endParaRPr lang="en-US" dirty="0">
              <a:solidFill>
                <a:schemeClr val="bg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85357" y="5454134"/>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2.10(ii): Confusion Matrix (Xception)</a:t>
            </a:r>
            <a:endParaRPr lang="en-SG" dirty="0"/>
          </a:p>
        </p:txBody>
      </p:sp>
      <p:pic>
        <p:nvPicPr>
          <p:cNvPr id="24578" name="Picture 2">
            <a:extLst>
              <a:ext uri="{FF2B5EF4-FFF2-40B4-BE49-F238E27FC236}">
                <a16:creationId xmlns:a16="http://schemas.microsoft.com/office/drawing/2014/main" id="{81937D14-DB00-27B7-139D-23E0905671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3812" y="1332921"/>
            <a:ext cx="4524375" cy="3931292"/>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3F46FD25-BCEB-1D6F-FB5B-186F58C59BE8}"/>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44</a:t>
            </a:fld>
            <a:endParaRPr lang="en-US" dirty="0">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286000" y="5570717"/>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3.1: Comparison of accuracy between all models.</a:t>
            </a:r>
            <a:endParaRPr lang="en-SG" dirty="0"/>
          </a:p>
        </p:txBody>
      </p:sp>
      <p:pic>
        <p:nvPicPr>
          <p:cNvPr id="25602" name="Picture 2">
            <a:extLst>
              <a:ext uri="{FF2B5EF4-FFF2-40B4-BE49-F238E27FC236}">
                <a16:creationId xmlns:a16="http://schemas.microsoft.com/office/drawing/2014/main" id="{27BF5DBF-D964-8618-68D0-01D3DF6130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334252"/>
            <a:ext cx="6972300" cy="418949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36CEF89E-35DB-9E58-5A06-A6982B48BD1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45</a:t>
            </a:fld>
            <a:endParaRPr lang="en-US" dirty="0">
              <a:solidFill>
                <a:schemeClr val="bg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A4438-AB2D-5E41-AA50-B0F37B659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B855A-37E4-F65B-748D-210CB1FD45E3}"/>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a:extLst>
              <a:ext uri="{FF2B5EF4-FFF2-40B4-BE49-F238E27FC236}">
                <a16:creationId xmlns:a16="http://schemas.microsoft.com/office/drawing/2014/main" id="{82304094-3B0C-DF33-EBD2-9CF07C0AB00D}"/>
              </a:ext>
            </a:extLst>
          </p:cNvPr>
          <p:cNvSpPr txBox="1"/>
          <p:nvPr/>
        </p:nvSpPr>
        <p:spPr>
          <a:xfrm>
            <a:off x="2286000" y="5530333"/>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3.2: Comparison of loss between all models.</a:t>
            </a:r>
            <a:endParaRPr lang="en-SG" dirty="0"/>
          </a:p>
        </p:txBody>
      </p:sp>
      <p:pic>
        <p:nvPicPr>
          <p:cNvPr id="26626" name="Picture 2">
            <a:extLst>
              <a:ext uri="{FF2B5EF4-FFF2-40B4-BE49-F238E27FC236}">
                <a16:creationId xmlns:a16="http://schemas.microsoft.com/office/drawing/2014/main" id="{FA570079-EC90-533E-F572-1E7744FFB0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4150" y="1143001"/>
            <a:ext cx="6743700" cy="424139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CA4D851B-91F5-7FEE-6232-AA0B3DE92F66}"/>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46</a:t>
            </a:fld>
            <a:endParaRPr lang="en-US" dirty="0">
              <a:solidFill>
                <a:schemeClr val="bg1"/>
              </a:solidFill>
            </a:endParaRPr>
          </a:p>
        </p:txBody>
      </p:sp>
    </p:spTree>
    <p:extLst>
      <p:ext uri="{BB962C8B-B14F-4D97-AF65-F5344CB8AC3E}">
        <p14:creationId xmlns:p14="http://schemas.microsoft.com/office/powerpoint/2010/main" val="18847595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7" name="TextBox 9"/>
          <p:cNvSpPr txBox="1"/>
          <p:nvPr/>
        </p:nvSpPr>
        <p:spPr>
          <a:xfrm>
            <a:off x="2930525" y="1056472"/>
            <a:ext cx="6330950" cy="892552"/>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2600" b="1" dirty="0">
                <a:latin typeface="Times New Roman" panose="02020603050405020304" pitchFamily="18" charset="0"/>
                <a:cs typeface="Times New Roman" panose="02020603050405020304" pitchFamily="18" charset="0"/>
              </a:rPr>
              <a:t>Explainable AI (XAI) Interpretation on MobileNetV2</a:t>
            </a:r>
          </a:p>
        </p:txBody>
      </p:sp>
      <p:sp>
        <p:nvSpPr>
          <p:cNvPr id="9" name="Content Placeholder 2"/>
          <p:cNvSpPr txBox="1"/>
          <p:nvPr/>
        </p:nvSpPr>
        <p:spPr>
          <a:xfrm>
            <a:off x="573741" y="2420581"/>
            <a:ext cx="11044518" cy="332104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fontAlgn="auto">
              <a:spcAft>
                <a:spcPts val="0"/>
              </a:spcAft>
              <a:buFont typeface="Wingdings" panose="05000000000000000000" pitchFamily="2" charset="2"/>
              <a:buChar char="q"/>
            </a:pPr>
            <a:r>
              <a:rPr lang="en-US" sz="2400" b="1" dirty="0">
                <a:solidFill>
                  <a:schemeClr val="tx1"/>
                </a:solidFill>
                <a:latin typeface="Times New Roman" panose="02020603050405020304" pitchFamily="18" charset="0"/>
                <a:cs typeface="Times New Roman" panose="02020603050405020304" pitchFamily="18" charset="0"/>
              </a:rPr>
              <a:t>Grad-CAM</a:t>
            </a:r>
            <a:endParaRPr lang="en-US" sz="2600" b="1"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Ø"/>
            </a:pPr>
            <a:r>
              <a:rPr lang="en-US" sz="2400" b="1" dirty="0">
                <a:solidFill>
                  <a:schemeClr val="tx1"/>
                </a:solidFill>
                <a:latin typeface="Times New Roman" panose="02020603050405020304" pitchFamily="18" charset="0"/>
                <a:cs typeface="Times New Roman" panose="02020603050405020304" pitchFamily="18" charset="0"/>
              </a:rPr>
              <a:t> </a:t>
            </a:r>
            <a:r>
              <a:rPr lang="en-GB" sz="2400" dirty="0">
                <a:solidFill>
                  <a:schemeClr val="tx1"/>
                </a:solidFill>
                <a:latin typeface="Times New Roman" panose="02020603050405020304" pitchFamily="18" charset="0"/>
                <a:cs typeface="Times New Roman" panose="02020603050405020304" pitchFamily="18" charset="0"/>
              </a:rPr>
              <a:t>Most accurate and stable visual explanations.</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Heatmaps focused on true disease features (patterns, structure, colour regions).</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Clearly distinguishes visually similar diseases (e.g., Leaf Rot vs Yellow Leaf).</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Shows MobileNetV2 learns real biological cues, not background noise.</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Reliable XAI method for this project.</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fontAlgn="auto">
              <a:spcAft>
                <a:spcPts val="0"/>
              </a:spcAft>
              <a:buFont typeface="Arial" panose="020B0604020202020204" pitchFamily="34" charset="0"/>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C10D1288-876D-2F6C-C1F9-4D6F4FA81002}"/>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47</a:t>
            </a:fld>
            <a:endParaRPr lang="en-US" dirty="0">
              <a:solidFill>
                <a:schemeClr val="bg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7" name="TextBox 9"/>
          <p:cNvSpPr txBox="1"/>
          <p:nvPr/>
        </p:nvSpPr>
        <p:spPr>
          <a:xfrm>
            <a:off x="2930525" y="1056472"/>
            <a:ext cx="6330950" cy="892552"/>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2600" b="1" dirty="0">
                <a:latin typeface="Times New Roman" panose="02020603050405020304" pitchFamily="18" charset="0"/>
                <a:cs typeface="Times New Roman" panose="02020603050405020304" pitchFamily="18" charset="0"/>
              </a:rPr>
              <a:t>Explainable AI (XAI) Interpretation on MobileNetV2</a:t>
            </a:r>
          </a:p>
        </p:txBody>
      </p:sp>
      <p:sp>
        <p:nvSpPr>
          <p:cNvPr id="10" name="TextBox 9"/>
          <p:cNvSpPr txBox="1"/>
          <p:nvPr/>
        </p:nvSpPr>
        <p:spPr>
          <a:xfrm>
            <a:off x="2057400" y="5274741"/>
            <a:ext cx="82296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3.3: Grad-CAM Interpretation (On Best Performer)</a:t>
            </a:r>
            <a:endParaRPr lang="en-SG" dirty="0"/>
          </a:p>
        </p:txBody>
      </p:sp>
      <p:pic>
        <p:nvPicPr>
          <p:cNvPr id="27650" name="Picture 2">
            <a:extLst>
              <a:ext uri="{FF2B5EF4-FFF2-40B4-BE49-F238E27FC236}">
                <a16:creationId xmlns:a16="http://schemas.microsoft.com/office/drawing/2014/main" id="{BFA41CB6-4F4B-4AB0-5999-023292B899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133600"/>
            <a:ext cx="8660945" cy="287178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BE9E805E-F810-DCCC-3D01-A972410A857D}"/>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48</a:t>
            </a:fld>
            <a:endParaRPr lang="en-US" dirty="0">
              <a:solidFill>
                <a:schemeClr val="bg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7878-0BB8-A9D4-72DA-7999B0A46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EB777-F290-478E-C229-B2567CAB826F}"/>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Web App Deployment</a:t>
            </a:r>
            <a:endParaRPr lang="en-US" dirty="0">
              <a:solidFill>
                <a:srgbClr val="7030A0"/>
              </a:solidFill>
            </a:endParaRPr>
          </a:p>
        </p:txBody>
      </p:sp>
      <p:sp>
        <p:nvSpPr>
          <p:cNvPr id="3" name="Slide Number Placeholder 3">
            <a:extLst>
              <a:ext uri="{FF2B5EF4-FFF2-40B4-BE49-F238E27FC236}">
                <a16:creationId xmlns:a16="http://schemas.microsoft.com/office/drawing/2014/main" id="{4F092E64-48C0-F2E9-2C37-214C1999A9B9}"/>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49</a:t>
            </a:fld>
            <a:endParaRPr lang="en-US" dirty="0">
              <a:solidFill>
                <a:schemeClr val="bg1"/>
              </a:solidFill>
            </a:endParaRPr>
          </a:p>
        </p:txBody>
      </p:sp>
      <p:pic>
        <p:nvPicPr>
          <p:cNvPr id="28674" name="Picture 2">
            <a:extLst>
              <a:ext uri="{FF2B5EF4-FFF2-40B4-BE49-F238E27FC236}">
                <a16:creationId xmlns:a16="http://schemas.microsoft.com/office/drawing/2014/main" id="{4F476484-2860-D870-A564-7285291EDA0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2138362"/>
            <a:ext cx="6030274" cy="2714625"/>
          </a:xfrm>
          <a:prstGeom prst="rect">
            <a:avLst/>
          </a:prstGeom>
          <a:noFill/>
          <a:extLst>
            <a:ext uri="{909E8E84-426E-40DD-AFC4-6F175D3DCCD1}">
              <a14:hiddenFill xmlns:a14="http://schemas.microsoft.com/office/drawing/2010/main">
                <a:solidFill>
                  <a:srgbClr val="FFFFFF"/>
                </a:solidFill>
              </a14:hiddenFill>
            </a:ext>
          </a:extLst>
        </p:spPr>
      </p:pic>
      <p:pic>
        <p:nvPicPr>
          <p:cNvPr id="28676" name="Picture 4">
            <a:extLst>
              <a:ext uri="{FF2B5EF4-FFF2-40B4-BE49-F238E27FC236}">
                <a16:creationId xmlns:a16="http://schemas.microsoft.com/office/drawing/2014/main" id="{2A5F443A-9F27-7BFA-C82A-A6EAB13804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5550" y="2138362"/>
            <a:ext cx="5734050" cy="27146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8531D8F-ED87-77C7-F73F-69B10B58F93C}"/>
              </a:ext>
            </a:extLst>
          </p:cNvPr>
          <p:cNvSpPr txBox="1"/>
          <p:nvPr/>
        </p:nvSpPr>
        <p:spPr>
          <a:xfrm>
            <a:off x="960986" y="5146771"/>
            <a:ext cx="4220614" cy="338554"/>
          </a:xfrm>
          <a:prstGeom prst="rect">
            <a:avLst/>
          </a:prstGeom>
          <a:noFill/>
        </p:spPr>
        <p:txBody>
          <a:bodyPr wrap="square">
            <a:spAutoFit/>
          </a:bodyPr>
          <a:lstStyle/>
          <a:p>
            <a:r>
              <a:rPr lang="en-US" sz="1600" b="1" i="0" u="none" strike="noStrike" dirty="0">
                <a:solidFill>
                  <a:srgbClr val="000000"/>
                </a:solidFill>
                <a:effectLst/>
                <a:latin typeface="Century" panose="02040604050505020304" pitchFamily="18" charset="0"/>
              </a:rPr>
              <a:t>   </a:t>
            </a:r>
            <a:r>
              <a:rPr lang="en-GB" sz="1600" i="0" u="none" strike="noStrike" dirty="0">
                <a:solidFill>
                  <a:srgbClr val="000000"/>
                </a:solidFill>
                <a:effectLst/>
                <a:latin typeface="Century" panose="02040604050505020304" pitchFamily="18" charset="0"/>
              </a:rPr>
              <a:t>Figure 3.4: </a:t>
            </a:r>
            <a:r>
              <a:rPr lang="en-US" sz="1600" dirty="0"/>
              <a:t>Web application home page.</a:t>
            </a:r>
          </a:p>
        </p:txBody>
      </p:sp>
      <p:sp>
        <p:nvSpPr>
          <p:cNvPr id="6" name="TextBox 5">
            <a:extLst>
              <a:ext uri="{FF2B5EF4-FFF2-40B4-BE49-F238E27FC236}">
                <a16:creationId xmlns:a16="http://schemas.microsoft.com/office/drawing/2014/main" id="{077837A0-01BA-590B-449A-6F6558792E59}"/>
              </a:ext>
            </a:extLst>
          </p:cNvPr>
          <p:cNvSpPr txBox="1"/>
          <p:nvPr/>
        </p:nvSpPr>
        <p:spPr>
          <a:xfrm>
            <a:off x="6934200" y="5130146"/>
            <a:ext cx="4220614" cy="338554"/>
          </a:xfrm>
          <a:prstGeom prst="rect">
            <a:avLst/>
          </a:prstGeom>
          <a:noFill/>
        </p:spPr>
        <p:txBody>
          <a:bodyPr wrap="square">
            <a:spAutoFit/>
          </a:bodyPr>
          <a:lstStyle/>
          <a:p>
            <a:r>
              <a:rPr lang="en-US" sz="1600" b="1" i="0" u="none" strike="noStrike" dirty="0">
                <a:solidFill>
                  <a:srgbClr val="000000"/>
                </a:solidFill>
                <a:effectLst/>
                <a:latin typeface="Century" panose="02040604050505020304" pitchFamily="18" charset="0"/>
              </a:rPr>
              <a:t>   </a:t>
            </a:r>
            <a:r>
              <a:rPr lang="en-GB" sz="1600" i="0" u="none" strike="noStrike" dirty="0">
                <a:solidFill>
                  <a:srgbClr val="000000"/>
                </a:solidFill>
                <a:effectLst/>
                <a:latin typeface="Century" panose="02040604050505020304" pitchFamily="18" charset="0"/>
              </a:rPr>
              <a:t>Figure 3.5: </a:t>
            </a:r>
            <a:r>
              <a:rPr lang="en-US" sz="1600" dirty="0"/>
              <a:t>Web application result page.</a:t>
            </a:r>
          </a:p>
        </p:txBody>
      </p:sp>
    </p:spTree>
    <p:extLst>
      <p:ext uri="{BB962C8B-B14F-4D97-AF65-F5344CB8AC3E}">
        <p14:creationId xmlns:p14="http://schemas.microsoft.com/office/powerpoint/2010/main" val="19634943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Novelty of the Work</a:t>
            </a:r>
          </a:p>
        </p:txBody>
      </p:sp>
      <p:sp>
        <p:nvSpPr>
          <p:cNvPr id="5" name="Content Placeholder 2"/>
          <p:cNvSpPr>
            <a:spLocks noGrp="1"/>
          </p:cNvSpPr>
          <p:nvPr>
            <p:ph sz="quarter" idx="13"/>
          </p:nvPr>
        </p:nvSpPr>
        <p:spPr>
          <a:xfrm>
            <a:off x="609600" y="2149475"/>
            <a:ext cx="11277600" cy="3200400"/>
          </a:xfrm>
        </p:spPr>
        <p:txBody>
          <a:bodyPr>
            <a:normAutofit/>
          </a:bodyPr>
          <a:lstStyle/>
          <a:p>
            <a:pPr algn="just">
              <a:lnSpc>
                <a:spcPct val="150000"/>
              </a:lnSpc>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Comparative evaluation of </a:t>
            </a:r>
            <a:r>
              <a:rPr lang="en-GB" sz="2400" b="1" dirty="0">
                <a:solidFill>
                  <a:schemeClr val="tx1"/>
                </a:solidFill>
                <a:latin typeface="Times New Roman" panose="02020603050405020304" pitchFamily="18" charset="0"/>
                <a:cs typeface="Times New Roman" panose="02020603050405020304" pitchFamily="18" charset="0"/>
              </a:rPr>
              <a:t>5</a:t>
            </a:r>
            <a:r>
              <a:rPr lang="en-GB" sz="2400" dirty="0">
                <a:solidFill>
                  <a:schemeClr val="tx1"/>
                </a:solidFill>
                <a:latin typeface="Times New Roman" panose="02020603050405020304" pitchFamily="18" charset="0"/>
                <a:cs typeface="Times New Roman" panose="02020603050405020304" pitchFamily="18" charset="0"/>
              </a:rPr>
              <a:t> deep learning models for coconut disease classification.</a:t>
            </a:r>
          </a:p>
          <a:p>
            <a:pPr algn="just">
              <a:lnSpc>
                <a:spcPct val="150000"/>
              </a:lnSpc>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Integration of XAI (Grad-CAM) for transparent and interpretable predictions.</a:t>
            </a:r>
          </a:p>
          <a:p>
            <a:pPr algn="just">
              <a:lnSpc>
                <a:spcPct val="150000"/>
              </a:lnSpc>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Identification of lightweight, high-accuracy models suitable for real-time use.</a:t>
            </a:r>
          </a:p>
        </p:txBody>
      </p:sp>
      <p:sp>
        <p:nvSpPr>
          <p:cNvPr id="3" name="Slide Number Placeholder 3">
            <a:extLst>
              <a:ext uri="{FF2B5EF4-FFF2-40B4-BE49-F238E27FC236}">
                <a16:creationId xmlns:a16="http://schemas.microsoft.com/office/drawing/2014/main" id="{4FB11ED9-0854-553B-A9F0-24132C4BF9D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50</a:t>
            </a:fld>
            <a:endParaRPr lang="en-US" dirty="0">
              <a:solidFill>
                <a:schemeClr val="bg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Conclusion</a:t>
            </a:r>
            <a:endParaRPr lang="en-US" dirty="0">
              <a:solidFill>
                <a:srgbClr val="7030A0"/>
              </a:solidFill>
            </a:endParaRPr>
          </a:p>
        </p:txBody>
      </p:sp>
      <p:sp>
        <p:nvSpPr>
          <p:cNvPr id="3" name="Content Placeholder 2"/>
          <p:cNvSpPr>
            <a:spLocks noGrp="1"/>
          </p:cNvSpPr>
          <p:nvPr>
            <p:ph sz="quarter" idx="13"/>
          </p:nvPr>
        </p:nvSpPr>
        <p:spPr>
          <a:xfrm>
            <a:off x="571500" y="1600200"/>
            <a:ext cx="11049000" cy="3962400"/>
          </a:xfrm>
        </p:spPr>
        <p:txBody>
          <a:bodyPr>
            <a:normAutofit lnSpcReduction="10000"/>
          </a:bodyPr>
          <a:lstStyle/>
          <a:p>
            <a:pPr marL="0" indent="0" algn="just">
              <a:lnSpc>
                <a:spcPct val="150000"/>
              </a:lnSpc>
              <a:buNone/>
            </a:pPr>
            <a:r>
              <a:rPr lang="en-GB" sz="2200" dirty="0">
                <a:solidFill>
                  <a:schemeClr val="tx1"/>
                </a:solidFill>
                <a:latin typeface="Times New Roman" panose="02020603050405020304" pitchFamily="18" charset="0"/>
                <a:cs typeface="Times New Roman" panose="02020603050405020304" pitchFamily="18" charset="0"/>
              </a:rPr>
              <a:t>This research successfully developed an interpretable coconut disease detection system with a lightweight Transfer Learning model trained on a diverse dataset of 5000 images. MobileNetV2 emerged as the best-performing architecture, achieving 98.79% accuracy while remaining lightweight and deployment-friendly. The integration of the XAI technique Grad-CAM enhanced model transparency by revealing the visual cues used during prediction. The system was further implemented through a web application, demonstrating practical real-time usability. Overall, the project delivers an accurate, reliable, and explainable solution for automated coconut disease identification.</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3">
            <a:extLst>
              <a:ext uri="{FF2B5EF4-FFF2-40B4-BE49-F238E27FC236}">
                <a16:creationId xmlns:a16="http://schemas.microsoft.com/office/drawing/2014/main" id="{11F21DF7-AA95-91CD-6CE5-4F21EBFF5E2C}"/>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51</a:t>
            </a:fld>
            <a:endParaRPr lang="en-US" dirty="0">
              <a:solidFill>
                <a:schemeClr val="bg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References</a:t>
            </a:r>
            <a:endParaRPr lang="en-US" dirty="0">
              <a:solidFill>
                <a:srgbClr val="7030A0"/>
              </a:solidFill>
            </a:endParaRPr>
          </a:p>
        </p:txBody>
      </p:sp>
      <p:sp>
        <p:nvSpPr>
          <p:cNvPr id="5" name="TextBox 4"/>
          <p:cNvSpPr txBox="1"/>
          <p:nvPr/>
        </p:nvSpPr>
        <p:spPr>
          <a:xfrm>
            <a:off x="609600" y="1150538"/>
            <a:ext cx="11201400" cy="5042214"/>
          </a:xfrm>
          <a:prstGeom prst="rect">
            <a:avLst/>
          </a:prstGeom>
          <a:noFill/>
        </p:spPr>
        <p:txBody>
          <a:bodyPr wrap="square">
            <a:spAutoFit/>
          </a:bodyPr>
          <a:lstStyle/>
          <a:p>
            <a:pPr algn="just">
              <a:lnSpc>
                <a:spcPct val="150000"/>
              </a:lnSpc>
            </a:pPr>
            <a:r>
              <a:rPr lang="en-GB" sz="1200" dirty="0">
                <a:latin typeface="Century" panose="02040604050505020304" pitchFamily="18" charset="0"/>
                <a:cs typeface="Times New Roman" panose="02020603050405020304" pitchFamily="18" charset="0"/>
              </a:rPr>
              <a:t>[1] </a:t>
            </a:r>
            <a:r>
              <a:rPr lang="en-GB" sz="1200" dirty="0" err="1">
                <a:latin typeface="Century" panose="02040604050505020304" pitchFamily="18" charset="0"/>
                <a:cs typeface="Times New Roman" panose="02020603050405020304" pitchFamily="18" charset="0"/>
              </a:rPr>
              <a:t>Subbaian</a:t>
            </a:r>
            <a:r>
              <a:rPr lang="en-GB" sz="1200" dirty="0">
                <a:latin typeface="Century" panose="02040604050505020304" pitchFamily="18" charset="0"/>
                <a:cs typeface="Times New Roman" panose="02020603050405020304" pitchFamily="18" charset="0"/>
              </a:rPr>
              <a:t>, S., Balasubramanian, A., Marimuthu, M., Chandrasekaran, S. and  Muthusaravanan, G., 2024. Detection of coconut leaf diseases using enhanced deep learning techniques. Journal of Intelligent &amp; Fuzzy Systems, 46(2), pp.5033-5045.</a:t>
            </a:r>
          </a:p>
          <a:p>
            <a:pPr algn="just">
              <a:lnSpc>
                <a:spcPct val="150000"/>
              </a:lnSpc>
            </a:pPr>
            <a:r>
              <a:rPr lang="en-GB" sz="1200" dirty="0">
                <a:latin typeface="Century" panose="02040604050505020304" pitchFamily="18" charset="0"/>
                <a:cs typeface="Times New Roman" panose="02020603050405020304" pitchFamily="18" charset="0"/>
              </a:rPr>
              <a:t>[2] Singh, P., Verma, A. and Alex, J.S.R., 2021. Disease and pest infection detection in coconut tree through deep learning techniques. Computers and electronics in agriculture, 182, p.105986.</a:t>
            </a:r>
          </a:p>
          <a:p>
            <a:pPr algn="just">
              <a:lnSpc>
                <a:spcPct val="150000"/>
              </a:lnSpc>
            </a:pPr>
            <a:r>
              <a:rPr lang="en-GB" sz="1200" dirty="0">
                <a:latin typeface="Century" panose="02040604050505020304" pitchFamily="18" charset="0"/>
                <a:cs typeface="Times New Roman" panose="02020603050405020304" pitchFamily="18" charset="0"/>
              </a:rPr>
              <a:t>[3] Brar, S.K., Sharma, R., Vats, S. and Kukreja, V., 2023, July. A smart approach to coconut leaf spot disease classification using computer vision and deep learning technique. In 2023 World Conference on Communication &amp; Computing (WCONF) (pp. 1-6). IEEE.</a:t>
            </a:r>
          </a:p>
          <a:p>
            <a:pPr algn="just">
              <a:lnSpc>
                <a:spcPct val="150000"/>
              </a:lnSpc>
            </a:pPr>
            <a:r>
              <a:rPr lang="en-GB" sz="1200" dirty="0">
                <a:latin typeface="Century" panose="02040604050505020304" pitchFamily="18" charset="0"/>
                <a:cs typeface="Times New Roman" panose="02020603050405020304" pitchFamily="18" charset="0"/>
              </a:rPr>
              <a:t>[4] </a:t>
            </a:r>
            <a:r>
              <a:rPr lang="en-GB" sz="1200" dirty="0" err="1">
                <a:latin typeface="Century" panose="02040604050505020304" pitchFamily="18" charset="0"/>
                <a:cs typeface="Times New Roman" panose="02020603050405020304" pitchFamily="18" charset="0"/>
              </a:rPr>
              <a:t>Thite</a:t>
            </a:r>
            <a:r>
              <a:rPr lang="en-GB" sz="1200" dirty="0">
                <a:latin typeface="Century" panose="02040604050505020304" pitchFamily="18" charset="0"/>
                <a:cs typeface="Times New Roman" panose="02020603050405020304" pitchFamily="18" charset="0"/>
              </a:rPr>
              <a:t>, S., </a:t>
            </a:r>
            <a:r>
              <a:rPr lang="en-GB" sz="1200" dirty="0" err="1">
                <a:latin typeface="Century" panose="02040604050505020304" pitchFamily="18" charset="0"/>
                <a:cs typeface="Times New Roman" panose="02020603050405020304" pitchFamily="18" charset="0"/>
              </a:rPr>
              <a:t>Suryawanshi</a:t>
            </a:r>
            <a:r>
              <a:rPr lang="en-GB" sz="1200" dirty="0">
                <a:latin typeface="Century" panose="02040604050505020304" pitchFamily="18" charset="0"/>
                <a:cs typeface="Times New Roman" panose="02020603050405020304" pitchFamily="18" charset="0"/>
              </a:rPr>
              <a:t>, Y., Patil, K. and </a:t>
            </a:r>
            <a:r>
              <a:rPr lang="en-GB" sz="1200" dirty="0" err="1">
                <a:latin typeface="Century" panose="02040604050505020304" pitchFamily="18" charset="0"/>
                <a:cs typeface="Times New Roman" panose="02020603050405020304" pitchFamily="18" charset="0"/>
              </a:rPr>
              <a:t>Chumchu</a:t>
            </a:r>
            <a:r>
              <a:rPr lang="en-GB" sz="1200" dirty="0">
                <a:latin typeface="Century" panose="02040604050505020304" pitchFamily="18" charset="0"/>
                <a:cs typeface="Times New Roman" panose="02020603050405020304" pitchFamily="18" charset="0"/>
              </a:rPr>
              <a:t>, P., 2023. Coconut (Cocos nucifera) tree disease dataset: a dataset for disease detection and classification for machine learning applications. Data in Brief, 51, p.109690.</a:t>
            </a:r>
          </a:p>
          <a:p>
            <a:pPr algn="just">
              <a:lnSpc>
                <a:spcPct val="150000"/>
              </a:lnSpc>
            </a:pPr>
            <a:r>
              <a:rPr lang="en-GB" sz="1200" dirty="0">
                <a:latin typeface="Century" panose="02040604050505020304" pitchFamily="18" charset="0"/>
                <a:cs typeface="Times New Roman" panose="02020603050405020304" pitchFamily="18" charset="0"/>
              </a:rPr>
              <a:t>[5] Nivethitha, T., Vijayalakshmi, P., Jaya, J. and Shriram, S., 2022, November. A review on coconut tree and plant disease detection using various deep learning and convolutional neural network models. In 2022 International conference on smart and sustainable technologies in energy and power sectors (SSTEPS) (pp. 130-135). IEEE.</a:t>
            </a:r>
          </a:p>
          <a:p>
            <a:pPr algn="just">
              <a:lnSpc>
                <a:spcPct val="150000"/>
              </a:lnSpc>
            </a:pPr>
            <a:r>
              <a:rPr lang="en-GB" sz="1200" dirty="0">
                <a:latin typeface="Century" panose="02040604050505020304" pitchFamily="18" charset="0"/>
                <a:cs typeface="Times New Roman" panose="02020603050405020304" pitchFamily="18" charset="0"/>
              </a:rPr>
              <a:t>[6] Maray, M., </a:t>
            </a:r>
            <a:r>
              <a:rPr lang="en-GB" sz="1200" dirty="0" err="1">
                <a:latin typeface="Century" panose="02040604050505020304" pitchFamily="18" charset="0"/>
                <a:cs typeface="Times New Roman" panose="02020603050405020304" pitchFamily="18" charset="0"/>
              </a:rPr>
              <a:t>Albraikan</a:t>
            </a:r>
            <a:r>
              <a:rPr lang="en-GB" sz="1200" dirty="0">
                <a:latin typeface="Century" panose="02040604050505020304" pitchFamily="18" charset="0"/>
                <a:cs typeface="Times New Roman" panose="02020603050405020304" pitchFamily="18" charset="0"/>
              </a:rPr>
              <a:t>, A.A., Alotaibi, S.S., </a:t>
            </a:r>
            <a:r>
              <a:rPr lang="en-GB" sz="1200" dirty="0" err="1">
                <a:latin typeface="Century" panose="02040604050505020304" pitchFamily="18" charset="0"/>
                <a:cs typeface="Times New Roman" panose="02020603050405020304" pitchFamily="18" charset="0"/>
              </a:rPr>
              <a:t>Alabdan</a:t>
            </a:r>
            <a:r>
              <a:rPr lang="en-GB" sz="1200" dirty="0">
                <a:latin typeface="Century" panose="02040604050505020304" pitchFamily="18" charset="0"/>
                <a:cs typeface="Times New Roman" panose="02020603050405020304" pitchFamily="18" charset="0"/>
              </a:rPr>
              <a:t>, R., Al </a:t>
            </a:r>
            <a:r>
              <a:rPr lang="en-GB" sz="1200" dirty="0" err="1">
                <a:latin typeface="Century" panose="02040604050505020304" pitchFamily="18" charset="0"/>
                <a:cs typeface="Times New Roman" panose="02020603050405020304" pitchFamily="18" charset="0"/>
              </a:rPr>
              <a:t>Duhayyim</a:t>
            </a:r>
            <a:r>
              <a:rPr lang="en-GB" sz="1200" dirty="0">
                <a:latin typeface="Century" panose="02040604050505020304" pitchFamily="18" charset="0"/>
                <a:cs typeface="Times New Roman" panose="02020603050405020304" pitchFamily="18" charset="0"/>
              </a:rPr>
              <a:t>, M. and Al-Azzawi, W.K., 2022. Artificial intelligence-enabled coconut tree disease detection and classification model for smart agriculture. Computers and Electrical Engineering, 104, p.108399.</a:t>
            </a:r>
          </a:p>
          <a:p>
            <a:pPr algn="just">
              <a:lnSpc>
                <a:spcPct val="150000"/>
              </a:lnSpc>
            </a:pPr>
            <a:r>
              <a:rPr lang="en-GB" sz="1200" dirty="0">
                <a:latin typeface="Century" panose="02040604050505020304" pitchFamily="18" charset="0"/>
                <a:cs typeface="Times New Roman" panose="02020603050405020304" pitchFamily="18" charset="0"/>
              </a:rPr>
              <a:t>[7] Muthulakshmi, M., Prasad, D.V., Kartheek, M.V.S. and Bhagawan, N.S., 2025, January. Enhanced Coconut Tree Disease Classification Using ResNet50, EfficientNetB0, and DenseNet-201 with Comparative Analysis of Activation Functions. In 2025 International Conference on Next Generation Communication &amp; Information Processing (INCIP) (pp. 363-367). IEEE.</a:t>
            </a:r>
          </a:p>
          <a:p>
            <a:pPr algn="just">
              <a:lnSpc>
                <a:spcPct val="150000"/>
              </a:lnSpc>
            </a:pPr>
            <a:r>
              <a:rPr lang="en-GB" sz="1200" dirty="0">
                <a:latin typeface="Century" panose="02040604050505020304" pitchFamily="18" charset="0"/>
                <a:cs typeface="Times New Roman" panose="02020603050405020304" pitchFamily="18" charset="0"/>
              </a:rPr>
              <a:t>[8] George, B., Thampi, L. and Thampi, L., 2023, August. </a:t>
            </a:r>
            <a:r>
              <a:rPr lang="en-GB" sz="1200" dirty="0" err="1">
                <a:latin typeface="Century" panose="02040604050505020304" pitchFamily="18" charset="0"/>
                <a:cs typeface="Times New Roman" panose="02020603050405020304" pitchFamily="18" charset="0"/>
              </a:rPr>
              <a:t>Color</a:t>
            </a:r>
            <a:r>
              <a:rPr lang="en-GB" sz="1200" dirty="0">
                <a:latin typeface="Century" panose="02040604050505020304" pitchFamily="18" charset="0"/>
                <a:cs typeface="Times New Roman" panose="02020603050405020304" pitchFamily="18" charset="0"/>
              </a:rPr>
              <a:t>-Based Thresholding for Early and Reliable Detection of Stem Bleeding in Coconut Trees. In 2023 9th International Conference on Smart Computing and Communications (ICSCC) (pp. 274-279). IEEE.</a:t>
            </a:r>
          </a:p>
        </p:txBody>
      </p:sp>
      <p:sp>
        <p:nvSpPr>
          <p:cNvPr id="3" name="Slide Number Placeholder 3">
            <a:extLst>
              <a:ext uri="{FF2B5EF4-FFF2-40B4-BE49-F238E27FC236}">
                <a16:creationId xmlns:a16="http://schemas.microsoft.com/office/drawing/2014/main" id="{BA43D4E3-60AB-C5F9-28D3-85013FC89646}"/>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52</a:t>
            </a:fld>
            <a:endParaRPr lang="en-US" dirty="0">
              <a:solidFill>
                <a:schemeClr val="bg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References</a:t>
            </a:r>
            <a:endParaRPr lang="en-US" dirty="0">
              <a:solidFill>
                <a:srgbClr val="7030A0"/>
              </a:solidFill>
            </a:endParaRPr>
          </a:p>
        </p:txBody>
      </p:sp>
      <p:sp>
        <p:nvSpPr>
          <p:cNvPr id="5" name="TextBox 4"/>
          <p:cNvSpPr txBox="1"/>
          <p:nvPr/>
        </p:nvSpPr>
        <p:spPr>
          <a:xfrm>
            <a:off x="609600" y="1150538"/>
            <a:ext cx="11201400" cy="4765215"/>
          </a:xfrm>
          <a:prstGeom prst="rect">
            <a:avLst/>
          </a:prstGeom>
          <a:noFill/>
        </p:spPr>
        <p:txBody>
          <a:bodyPr wrap="square">
            <a:spAutoFit/>
          </a:bodyPr>
          <a:lstStyle/>
          <a:p>
            <a:pPr algn="just">
              <a:lnSpc>
                <a:spcPct val="150000"/>
              </a:lnSpc>
            </a:pPr>
            <a:r>
              <a:rPr lang="en-GB" sz="1200" dirty="0">
                <a:latin typeface="Century" panose="02040604050505020304" pitchFamily="18" charset="0"/>
                <a:cs typeface="Times New Roman" panose="02020603050405020304" pitchFamily="18" charset="0"/>
              </a:rPr>
              <a:t> [9 </a:t>
            </a:r>
            <a:r>
              <a:rPr lang="en-GB" sz="1200" dirty="0" err="1">
                <a:latin typeface="Century" panose="02040604050505020304" pitchFamily="18" charset="0"/>
                <a:cs typeface="Times New Roman" panose="02020603050405020304" pitchFamily="18" charset="0"/>
              </a:rPr>
              <a:t>Kavithamani</a:t>
            </a:r>
            <a:r>
              <a:rPr lang="en-GB" sz="1200" dirty="0">
                <a:latin typeface="Century" panose="02040604050505020304" pitchFamily="18" charset="0"/>
                <a:cs typeface="Times New Roman" panose="02020603050405020304" pitchFamily="18" charset="0"/>
              </a:rPr>
              <a:t>, V. and </a:t>
            </a:r>
            <a:r>
              <a:rPr lang="en-GB" sz="1200" dirty="0" err="1">
                <a:latin typeface="Century" panose="02040604050505020304" pitchFamily="18" charset="0"/>
                <a:cs typeface="Times New Roman" panose="02020603050405020304" pitchFamily="18" charset="0"/>
              </a:rPr>
              <a:t>UmaMaheswari</a:t>
            </a:r>
            <a:r>
              <a:rPr lang="en-GB" sz="1200" dirty="0">
                <a:latin typeface="Century" panose="02040604050505020304" pitchFamily="18" charset="0"/>
                <a:cs typeface="Times New Roman" panose="02020603050405020304" pitchFamily="18" charset="0"/>
              </a:rPr>
              <a:t>, S., 2023. Investigation of Deep learning for whitefly identification in coconut tree leaves. Intelligent systems with applications, 20, p.200290.</a:t>
            </a:r>
          </a:p>
          <a:p>
            <a:pPr algn="just">
              <a:lnSpc>
                <a:spcPct val="150000"/>
              </a:lnSpc>
            </a:pPr>
            <a:r>
              <a:rPr lang="en-GB" sz="1200" dirty="0">
                <a:latin typeface="Century" panose="02040604050505020304" pitchFamily="18" charset="0"/>
                <a:cs typeface="Times New Roman" panose="02020603050405020304" pitchFamily="18" charset="0"/>
              </a:rPr>
              <a:t>[10] </a:t>
            </a:r>
            <a:r>
              <a:rPr lang="en-GB" sz="1200" dirty="0" err="1">
                <a:latin typeface="Century" panose="02040604050505020304" pitchFamily="18" charset="0"/>
                <a:cs typeface="Times New Roman" panose="02020603050405020304" pitchFamily="18" charset="0"/>
              </a:rPr>
              <a:t>Karegowda</a:t>
            </a:r>
            <a:r>
              <a:rPr lang="en-GB" sz="1200" dirty="0">
                <a:latin typeface="Century" panose="02040604050505020304" pitchFamily="18" charset="0"/>
                <a:cs typeface="Times New Roman" panose="02020603050405020304" pitchFamily="18" charset="0"/>
              </a:rPr>
              <a:t>, A.G., Vaishnavi, D. and </a:t>
            </a:r>
            <a:r>
              <a:rPr lang="en-GB" sz="1200" dirty="0" err="1">
                <a:latin typeface="Century" panose="02040604050505020304" pitchFamily="18" charset="0"/>
                <a:cs typeface="Times New Roman" panose="02020603050405020304" pitchFamily="18" charset="0"/>
              </a:rPr>
              <a:t>Harshalatha</a:t>
            </a:r>
            <a:r>
              <a:rPr lang="en-GB" sz="1200" dirty="0">
                <a:latin typeface="Century" panose="02040604050505020304" pitchFamily="18" charset="0"/>
                <a:cs typeface="Times New Roman" panose="02020603050405020304" pitchFamily="18" charset="0"/>
              </a:rPr>
              <a:t>, Y., 2024, November. Coconut Disease Detection using Traditional ML Classifiers with GLCM and SIFT Features. In 2024 8th International Conference on Computational System and Information Technology for Sustainable Solutions (CSITSS) (pp. 1-6). IEEE.</a:t>
            </a:r>
          </a:p>
          <a:p>
            <a:pPr algn="just">
              <a:lnSpc>
                <a:spcPct val="150000"/>
              </a:lnSpc>
            </a:pPr>
            <a:r>
              <a:rPr lang="en-GB" sz="1200" dirty="0">
                <a:latin typeface="Century" panose="02040604050505020304" pitchFamily="18" charset="0"/>
                <a:cs typeface="Times New Roman" panose="02020603050405020304" pitchFamily="18" charset="0"/>
              </a:rPr>
              <a:t>[11] </a:t>
            </a:r>
            <a:r>
              <a:rPr lang="en-GB" sz="1200" dirty="0" err="1">
                <a:latin typeface="Century" panose="02040604050505020304" pitchFamily="18" charset="0"/>
                <a:cs typeface="Times New Roman" panose="02020603050405020304" pitchFamily="18" charset="0"/>
              </a:rPr>
              <a:t>Wijethunga</a:t>
            </a:r>
            <a:r>
              <a:rPr lang="en-GB" sz="1200" dirty="0">
                <a:latin typeface="Century" panose="02040604050505020304" pitchFamily="18" charset="0"/>
                <a:cs typeface="Times New Roman" panose="02020603050405020304" pitchFamily="18" charset="0"/>
              </a:rPr>
              <a:t>, C.D., </a:t>
            </a:r>
            <a:r>
              <a:rPr lang="en-GB" sz="1200" dirty="0" err="1">
                <a:latin typeface="Century" panose="02040604050505020304" pitchFamily="18" charset="0"/>
                <a:cs typeface="Times New Roman" panose="02020603050405020304" pitchFamily="18" charset="0"/>
              </a:rPr>
              <a:t>Ishanka</a:t>
            </a:r>
            <a:r>
              <a:rPr lang="en-GB" sz="1200" dirty="0">
                <a:latin typeface="Century" panose="02040604050505020304" pitchFamily="18" charset="0"/>
                <a:cs typeface="Times New Roman" panose="02020603050405020304" pitchFamily="18" charset="0"/>
              </a:rPr>
              <a:t>, K.C., </a:t>
            </a:r>
            <a:r>
              <a:rPr lang="en-GB" sz="1200" dirty="0" err="1">
                <a:latin typeface="Century" panose="02040604050505020304" pitchFamily="18" charset="0"/>
                <a:cs typeface="Times New Roman" panose="02020603050405020304" pitchFamily="18" charset="0"/>
              </a:rPr>
              <a:t>Parindya</a:t>
            </a:r>
            <a:r>
              <a:rPr lang="en-GB" sz="1200" dirty="0">
                <a:latin typeface="Century" panose="02040604050505020304" pitchFamily="18" charset="0"/>
                <a:cs typeface="Times New Roman" panose="02020603050405020304" pitchFamily="18" charset="0"/>
              </a:rPr>
              <a:t>, S.D.N., Priyadarshani, T.J.N., </a:t>
            </a:r>
            <a:r>
              <a:rPr lang="en-GB" sz="1200" dirty="0" err="1">
                <a:latin typeface="Century" panose="02040604050505020304" pitchFamily="18" charset="0"/>
                <a:cs typeface="Times New Roman" panose="02020603050405020304" pitchFamily="18" charset="0"/>
              </a:rPr>
              <a:t>Harshanath</a:t>
            </a:r>
            <a:r>
              <a:rPr lang="en-GB" sz="1200" dirty="0">
                <a:latin typeface="Century" panose="02040604050505020304" pitchFamily="18" charset="0"/>
                <a:cs typeface="Times New Roman" panose="02020603050405020304" pitchFamily="18" charset="0"/>
              </a:rPr>
              <a:t>, B. and Rajapaksha, S., 2023. Coconut plant disease identified and management for agriculture crops using machine learning. International Journal Of Engineering And Management Research, 13(5), pp.79-88.</a:t>
            </a:r>
          </a:p>
          <a:p>
            <a:pPr algn="just">
              <a:lnSpc>
                <a:spcPct val="150000"/>
              </a:lnSpc>
            </a:pPr>
            <a:r>
              <a:rPr lang="en-GB" sz="1200" dirty="0">
                <a:latin typeface="Century" panose="02040604050505020304" pitchFamily="18" charset="0"/>
                <a:cs typeface="Times New Roman" panose="02020603050405020304" pitchFamily="18" charset="0"/>
              </a:rPr>
              <a:t>[12] Santhi, S. and Murugan, M., 2025, February. </a:t>
            </a:r>
            <a:r>
              <a:rPr lang="en-GB" sz="1200" dirty="0" err="1">
                <a:latin typeface="Century" panose="02040604050505020304" pitchFamily="18" charset="0"/>
                <a:cs typeface="Times New Roman" panose="02020603050405020304" pitchFamily="18" charset="0"/>
              </a:rPr>
              <a:t>Cocoscan</a:t>
            </a:r>
            <a:r>
              <a:rPr lang="en-GB" sz="1200" dirty="0">
                <a:latin typeface="Century" panose="02040604050505020304" pitchFamily="18" charset="0"/>
                <a:cs typeface="Times New Roman" panose="02020603050405020304" pitchFamily="18" charset="0"/>
              </a:rPr>
              <a:t>: AI-Powered Precision Diagnostics for Coconut Leaf Disease. In 2025 4th International Conference on Sentiment Analysis and Deep Learning (ICSADL) (pp. 1756-1762). IEEE.</a:t>
            </a:r>
          </a:p>
          <a:p>
            <a:pPr algn="just">
              <a:lnSpc>
                <a:spcPct val="150000"/>
              </a:lnSpc>
            </a:pPr>
            <a:r>
              <a:rPr lang="en-GB" sz="1200" dirty="0">
                <a:latin typeface="Century" panose="02040604050505020304" pitchFamily="18" charset="0"/>
                <a:cs typeface="Times New Roman" panose="02020603050405020304" pitchFamily="18" charset="0"/>
              </a:rPr>
              <a:t>[13] Anitha, B. and Santhi, S., 2023, March. Disease prediction in coconut leaves using deep learning. In 2023 international conference on sustainable computing and data communication systems (</a:t>
            </a:r>
            <a:r>
              <a:rPr lang="en-GB" sz="1200" dirty="0" err="1">
                <a:latin typeface="Century" panose="02040604050505020304" pitchFamily="18" charset="0"/>
                <a:cs typeface="Times New Roman" panose="02020603050405020304" pitchFamily="18" charset="0"/>
              </a:rPr>
              <a:t>icscds</a:t>
            </a:r>
            <a:r>
              <a:rPr lang="en-GB" sz="1200" dirty="0">
                <a:latin typeface="Century" panose="02040604050505020304" pitchFamily="18" charset="0"/>
                <a:cs typeface="Times New Roman" panose="02020603050405020304" pitchFamily="18" charset="0"/>
              </a:rPr>
              <a:t>) (pp. 258-264). IEEE.</a:t>
            </a:r>
          </a:p>
          <a:p>
            <a:pPr algn="just">
              <a:lnSpc>
                <a:spcPct val="150000"/>
              </a:lnSpc>
            </a:pPr>
            <a:r>
              <a:rPr lang="en-GB" sz="1200" dirty="0">
                <a:latin typeface="Century" panose="02040604050505020304" pitchFamily="18" charset="0"/>
                <a:cs typeface="Times New Roman" panose="02020603050405020304" pitchFamily="18" charset="0"/>
              </a:rPr>
              <a:t>[14] </a:t>
            </a:r>
            <a:r>
              <a:rPr lang="en-GB" sz="1200" dirty="0" err="1">
                <a:latin typeface="Century" panose="02040604050505020304" pitchFamily="18" charset="0"/>
                <a:cs typeface="Times New Roman" panose="02020603050405020304" pitchFamily="18" charset="0"/>
              </a:rPr>
              <a:t>Toradmalle</a:t>
            </a:r>
            <a:r>
              <a:rPr lang="en-GB" sz="1200" dirty="0">
                <a:latin typeface="Century" panose="02040604050505020304" pitchFamily="18" charset="0"/>
                <a:cs typeface="Times New Roman" panose="02020603050405020304" pitchFamily="18" charset="0"/>
              </a:rPr>
              <a:t>, D., Bhanushali, N., Dama, M. and Dhote, M., 2023, December. Deep Learning Framework for Early Detection of Diseases in Coconut Tree from Leaf Images. In 2023 6th International Conference on Advances in Science and Technology (ICAST) (pp. 137-142). IEEE.</a:t>
            </a:r>
          </a:p>
          <a:p>
            <a:pPr algn="just">
              <a:lnSpc>
                <a:spcPct val="150000"/>
              </a:lnSpc>
            </a:pPr>
            <a:r>
              <a:rPr lang="en-GB" sz="1200" dirty="0">
                <a:latin typeface="Century" panose="02040604050505020304" pitchFamily="18" charset="0"/>
                <a:cs typeface="Times New Roman" panose="02020603050405020304" pitchFamily="18" charset="0"/>
              </a:rPr>
              <a:t>[15] Pandian, J.A., Kumar, V.D., </a:t>
            </a:r>
            <a:r>
              <a:rPr lang="en-GB" sz="1200" dirty="0" err="1">
                <a:latin typeface="Century" panose="02040604050505020304" pitchFamily="18" charset="0"/>
                <a:cs typeface="Times New Roman" panose="02020603050405020304" pitchFamily="18" charset="0"/>
              </a:rPr>
              <a:t>Geman</a:t>
            </a:r>
            <a:r>
              <a:rPr lang="en-GB" sz="1200" dirty="0">
                <a:latin typeface="Century" panose="02040604050505020304" pitchFamily="18" charset="0"/>
                <a:cs typeface="Times New Roman" panose="02020603050405020304" pitchFamily="18" charset="0"/>
              </a:rPr>
              <a:t>, O., </a:t>
            </a:r>
            <a:r>
              <a:rPr lang="en-GB" sz="1200" dirty="0" err="1">
                <a:latin typeface="Century" panose="02040604050505020304" pitchFamily="18" charset="0"/>
                <a:cs typeface="Times New Roman" panose="02020603050405020304" pitchFamily="18" charset="0"/>
              </a:rPr>
              <a:t>Hnatiuc</a:t>
            </a:r>
            <a:r>
              <a:rPr lang="en-GB" sz="1200" dirty="0">
                <a:latin typeface="Century" panose="02040604050505020304" pitchFamily="18" charset="0"/>
                <a:cs typeface="Times New Roman" panose="02020603050405020304" pitchFamily="18" charset="0"/>
              </a:rPr>
              <a:t>, M., Arif, M. and Kanchanadevi, K., 2022. Plant disease detection using deep convolutional neural network. Applied Sciences, 12(14), p.6982.</a:t>
            </a:r>
          </a:p>
          <a:p>
            <a:pPr algn="just">
              <a:lnSpc>
                <a:spcPct val="150000"/>
              </a:lnSpc>
            </a:pPr>
            <a:r>
              <a:rPr lang="en-GB" sz="1200" dirty="0">
                <a:latin typeface="Century" panose="02040604050505020304" pitchFamily="18" charset="0"/>
                <a:cs typeface="Times New Roman" panose="02020603050405020304" pitchFamily="18" charset="0"/>
              </a:rPr>
              <a:t>[16] Kumar, S., Chaudhary, V. and Chandra, S.K., 2021. Plant disease detection using CNN. Turkish Journal of Computer and Mathematics Education, 12(12), pp.2106-2112.</a:t>
            </a:r>
          </a:p>
        </p:txBody>
      </p:sp>
      <p:sp>
        <p:nvSpPr>
          <p:cNvPr id="3" name="Slide Number Placeholder 3">
            <a:extLst>
              <a:ext uri="{FF2B5EF4-FFF2-40B4-BE49-F238E27FC236}">
                <a16:creationId xmlns:a16="http://schemas.microsoft.com/office/drawing/2014/main" id="{91E46FF9-AD8B-349E-0AB6-469613CF3D07}"/>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53</a:t>
            </a:fld>
            <a:endParaRPr lang="en-US" dirty="0">
              <a:solidFill>
                <a:schemeClr val="bg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EB210-F767-9759-F033-675F049BC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9384A-CBC6-F5CC-A3CF-168FF9B12BC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References</a:t>
            </a:r>
            <a:endParaRPr lang="en-US" dirty="0">
              <a:solidFill>
                <a:srgbClr val="7030A0"/>
              </a:solidFill>
            </a:endParaRPr>
          </a:p>
        </p:txBody>
      </p:sp>
      <p:sp>
        <p:nvSpPr>
          <p:cNvPr id="5" name="TextBox 4">
            <a:extLst>
              <a:ext uri="{FF2B5EF4-FFF2-40B4-BE49-F238E27FC236}">
                <a16:creationId xmlns:a16="http://schemas.microsoft.com/office/drawing/2014/main" id="{7DFE52E0-9F05-9377-F531-2A9B692696C2}"/>
              </a:ext>
            </a:extLst>
          </p:cNvPr>
          <p:cNvSpPr txBox="1"/>
          <p:nvPr/>
        </p:nvSpPr>
        <p:spPr>
          <a:xfrm>
            <a:off x="609600" y="1219200"/>
            <a:ext cx="11201400" cy="4211217"/>
          </a:xfrm>
          <a:prstGeom prst="rect">
            <a:avLst/>
          </a:prstGeom>
          <a:noFill/>
        </p:spPr>
        <p:txBody>
          <a:bodyPr wrap="square">
            <a:spAutoFit/>
          </a:bodyPr>
          <a:lstStyle/>
          <a:p>
            <a:pPr algn="just">
              <a:lnSpc>
                <a:spcPct val="150000"/>
              </a:lnSpc>
            </a:pPr>
            <a:r>
              <a:rPr lang="en-GB" sz="1200" dirty="0">
                <a:latin typeface="Century" panose="02040604050505020304" pitchFamily="18" charset="0"/>
                <a:cs typeface="Times New Roman" panose="02020603050405020304" pitchFamily="18" charset="0"/>
              </a:rPr>
              <a:t>[17] Lu, J., Tan, L. and Jiang, H., 2021. Review on convolutional neural network (CNN) applied to plant leaf disease classification. Agriculture, 11(8), p.707.</a:t>
            </a:r>
          </a:p>
          <a:p>
            <a:pPr algn="just">
              <a:lnSpc>
                <a:spcPct val="150000"/>
              </a:lnSpc>
            </a:pPr>
            <a:r>
              <a:rPr lang="en-GB" sz="1200" dirty="0">
                <a:latin typeface="Century" panose="02040604050505020304" pitchFamily="18" charset="0"/>
                <a:cs typeface="Times New Roman" panose="02020603050405020304" pitchFamily="18" charset="0"/>
              </a:rPr>
              <a:t>[18] Bedi, P. and Gole, P., 2021. Plant disease detection using hybrid model based on convolutional autoencoder and convolutional neural network. Artificial Intelligence in Agriculture, 5, pp.90-101.</a:t>
            </a:r>
          </a:p>
          <a:p>
            <a:pPr algn="just">
              <a:lnSpc>
                <a:spcPct val="150000"/>
              </a:lnSpc>
            </a:pPr>
            <a:r>
              <a:rPr lang="en-GB" sz="1200" dirty="0">
                <a:latin typeface="Century" panose="02040604050505020304" pitchFamily="18" charset="0"/>
                <a:cs typeface="Times New Roman" panose="02020603050405020304" pitchFamily="18" charset="0"/>
              </a:rPr>
              <a:t>[19] </a:t>
            </a:r>
            <a:r>
              <a:rPr lang="en-GB" sz="1200" dirty="0" err="1">
                <a:latin typeface="Century" panose="02040604050505020304" pitchFamily="18" charset="0"/>
                <a:cs typeface="Times New Roman" panose="02020603050405020304" pitchFamily="18" charset="0"/>
              </a:rPr>
              <a:t>Falaschetti</a:t>
            </a:r>
            <a:r>
              <a:rPr lang="en-GB" sz="1200" dirty="0">
                <a:latin typeface="Century" panose="02040604050505020304" pitchFamily="18" charset="0"/>
                <a:cs typeface="Times New Roman" panose="02020603050405020304" pitchFamily="18" charset="0"/>
              </a:rPr>
              <a:t>, L., Manoni, L., Di Leo, D., Pau, D., Tomaselli, V. and Turchetti, C., 2022. A CNN-based image detector for plant leaf diseases classification. </a:t>
            </a:r>
            <a:r>
              <a:rPr lang="en-GB" sz="1200" dirty="0" err="1">
                <a:latin typeface="Century" panose="02040604050505020304" pitchFamily="18" charset="0"/>
                <a:cs typeface="Times New Roman" panose="02020603050405020304" pitchFamily="18" charset="0"/>
              </a:rPr>
              <a:t>HardwareX</a:t>
            </a:r>
            <a:r>
              <a:rPr lang="en-GB" sz="1200" dirty="0">
                <a:latin typeface="Century" panose="02040604050505020304" pitchFamily="18" charset="0"/>
                <a:cs typeface="Times New Roman" panose="02020603050405020304" pitchFamily="18" charset="0"/>
              </a:rPr>
              <a:t>, 12, p.e00363.</a:t>
            </a:r>
          </a:p>
          <a:p>
            <a:pPr algn="just">
              <a:lnSpc>
                <a:spcPct val="150000"/>
              </a:lnSpc>
            </a:pPr>
            <a:r>
              <a:rPr lang="en-GB" sz="1200" dirty="0">
                <a:latin typeface="Century" panose="02040604050505020304" pitchFamily="18" charset="0"/>
                <a:cs typeface="Times New Roman" panose="02020603050405020304" pitchFamily="18" charset="0"/>
              </a:rPr>
              <a:t>[20] Thakur, P.S., Chaturvedi, S., Khanna, P., </a:t>
            </a:r>
            <a:r>
              <a:rPr lang="en-GB" sz="1200" dirty="0" err="1">
                <a:latin typeface="Century" panose="02040604050505020304" pitchFamily="18" charset="0"/>
                <a:cs typeface="Times New Roman" panose="02020603050405020304" pitchFamily="18" charset="0"/>
              </a:rPr>
              <a:t>Sheorey</a:t>
            </a:r>
            <a:r>
              <a:rPr lang="en-GB" sz="1200" dirty="0">
                <a:latin typeface="Century" panose="02040604050505020304" pitchFamily="18" charset="0"/>
                <a:cs typeface="Times New Roman" panose="02020603050405020304" pitchFamily="18" charset="0"/>
              </a:rPr>
              <a:t>, T. and Ojha, A., 2023. Vision transformer meets convolutional neural network for plant disease classification. Ecological Informatics, 77, p.102245.</a:t>
            </a:r>
          </a:p>
          <a:p>
            <a:pPr algn="just">
              <a:lnSpc>
                <a:spcPct val="150000"/>
              </a:lnSpc>
            </a:pPr>
            <a:r>
              <a:rPr lang="en-GB" sz="1200" dirty="0">
                <a:latin typeface="Century" panose="02040604050505020304" pitchFamily="18" charset="0"/>
                <a:cs typeface="Times New Roman" panose="02020603050405020304" pitchFamily="18" charset="0"/>
              </a:rPr>
              <a:t>[21] </a:t>
            </a:r>
            <a:r>
              <a:rPr lang="en-GB" sz="1200" dirty="0" err="1">
                <a:latin typeface="Century" panose="02040604050505020304" pitchFamily="18" charset="0"/>
                <a:cs typeface="Times New Roman" panose="02020603050405020304" pitchFamily="18" charset="0"/>
              </a:rPr>
              <a:t>Vidhanaarachchi</a:t>
            </a:r>
            <a:r>
              <a:rPr lang="en-GB" sz="1200" dirty="0">
                <a:latin typeface="Century" panose="02040604050505020304" pitchFamily="18" charset="0"/>
                <a:cs typeface="Times New Roman" panose="02020603050405020304" pitchFamily="18" charset="0"/>
              </a:rPr>
              <a:t>, S., Wijekoon, J.L., </a:t>
            </a:r>
            <a:r>
              <a:rPr lang="en-GB" sz="1200" dirty="0" err="1">
                <a:latin typeface="Century" panose="02040604050505020304" pitchFamily="18" charset="0"/>
                <a:cs typeface="Times New Roman" panose="02020603050405020304" pitchFamily="18" charset="0"/>
              </a:rPr>
              <a:t>Abeysiriwardhana</a:t>
            </a:r>
            <a:r>
              <a:rPr lang="en-GB" sz="1200" dirty="0">
                <a:latin typeface="Century" panose="02040604050505020304" pitchFamily="18" charset="0"/>
                <a:cs typeface="Times New Roman" panose="02020603050405020304" pitchFamily="18" charset="0"/>
              </a:rPr>
              <a:t>, W.S.P. and Wijesundara, M., 2025. Early Diagnosis and Severity Assessment of </a:t>
            </a:r>
            <a:r>
              <a:rPr lang="en-GB" sz="1200" dirty="0" err="1">
                <a:latin typeface="Century" panose="02040604050505020304" pitchFamily="18" charset="0"/>
                <a:cs typeface="Times New Roman" panose="02020603050405020304" pitchFamily="18" charset="0"/>
              </a:rPr>
              <a:t>Weligama</a:t>
            </a:r>
            <a:r>
              <a:rPr lang="en-GB" sz="1200" dirty="0">
                <a:latin typeface="Century" panose="02040604050505020304" pitchFamily="18" charset="0"/>
                <a:cs typeface="Times New Roman" panose="02020603050405020304" pitchFamily="18" charset="0"/>
              </a:rPr>
              <a:t> Coconut Leaf Wilt Disease and Coconut Caterpillar Infestation using Deep Learning-based Image Processing Techniques. IEEE Access.</a:t>
            </a:r>
          </a:p>
          <a:p>
            <a:pPr algn="just">
              <a:lnSpc>
                <a:spcPct val="150000"/>
              </a:lnSpc>
            </a:pPr>
            <a:r>
              <a:rPr lang="en-GB" sz="1200" dirty="0">
                <a:latin typeface="Century" panose="02040604050505020304" pitchFamily="18" charset="0"/>
                <a:cs typeface="Times New Roman" panose="02020603050405020304" pitchFamily="18" charset="0"/>
              </a:rPr>
              <a:t>[22] Sharma, A., Trivedi, N.K. and Sharma, A.K., 2024. Disease categorization and early detection in coconut leaves. In Artificial Intelligence and Information Technologies (pp. 156-162). CRC Press.</a:t>
            </a:r>
          </a:p>
          <a:p>
            <a:pPr algn="just">
              <a:lnSpc>
                <a:spcPct val="150000"/>
              </a:lnSpc>
            </a:pPr>
            <a:r>
              <a:rPr lang="en-GB" sz="1200" dirty="0">
                <a:latin typeface="Century" panose="02040604050505020304" pitchFamily="18" charset="0"/>
                <a:cs typeface="Times New Roman" panose="02020603050405020304" pitchFamily="18" charset="0"/>
              </a:rPr>
              <a:t>[23] Wijesinghe, H.D.M.U., </a:t>
            </a:r>
            <a:r>
              <a:rPr lang="en-GB" sz="1200" dirty="0" err="1">
                <a:latin typeface="Century" panose="02040604050505020304" pitchFamily="18" charset="0"/>
                <a:cs typeface="Times New Roman" panose="02020603050405020304" pitchFamily="18" charset="0"/>
              </a:rPr>
              <a:t>Tharupath</a:t>
            </a:r>
            <a:r>
              <a:rPr lang="en-GB" sz="1200" dirty="0">
                <a:latin typeface="Century" panose="02040604050505020304" pitchFamily="18" charset="0"/>
                <a:cs typeface="Times New Roman" panose="02020603050405020304" pitchFamily="18" charset="0"/>
              </a:rPr>
              <a:t>, K.M.C. and Jayasinghe, G.Y., 2025. Detecting </a:t>
            </a:r>
            <a:r>
              <a:rPr lang="en-GB" sz="1200" dirty="0" err="1">
                <a:latin typeface="Century" panose="02040604050505020304" pitchFamily="18" charset="0"/>
                <a:cs typeface="Times New Roman" panose="02020603050405020304" pitchFamily="18" charset="0"/>
              </a:rPr>
              <a:t>Weligama</a:t>
            </a:r>
            <a:r>
              <a:rPr lang="en-GB" sz="1200" dirty="0">
                <a:latin typeface="Century" panose="02040604050505020304" pitchFamily="18" charset="0"/>
                <a:cs typeface="Times New Roman" panose="02020603050405020304" pitchFamily="18" charset="0"/>
              </a:rPr>
              <a:t> coconut leaf wilt disease in coconut using UAV-based multispectral imaging and object-based classification. Journal of Plant Diseases and Protection, 132(4), pp.1-14.</a:t>
            </a:r>
          </a:p>
          <a:p>
            <a:pPr algn="just">
              <a:lnSpc>
                <a:spcPct val="150000"/>
              </a:lnSpc>
            </a:pPr>
            <a:r>
              <a:rPr lang="en-GB" sz="1200" dirty="0">
                <a:latin typeface="Century" panose="02040604050505020304" pitchFamily="18" charset="0"/>
                <a:cs typeface="Times New Roman" panose="02020603050405020304" pitchFamily="18" charset="0"/>
              </a:rPr>
              <a:t>[24] Kaur, A., Kukreja, V., Garg, N., Rajput, K. and Sharma, R., 2024, April. Multi-class classification of coconut leaf disease using fine-tuned resnet50 model. In 2024 IEEE 9th International Conference for Convergence in Technology (I2CT) (pp. 1-6). IEEE.</a:t>
            </a:r>
          </a:p>
        </p:txBody>
      </p:sp>
      <p:sp>
        <p:nvSpPr>
          <p:cNvPr id="3" name="Slide Number Placeholder 3">
            <a:extLst>
              <a:ext uri="{FF2B5EF4-FFF2-40B4-BE49-F238E27FC236}">
                <a16:creationId xmlns:a16="http://schemas.microsoft.com/office/drawing/2014/main" id="{C5B309F3-CF87-0E1B-36CA-EE5A461FFEBC}"/>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54</a:t>
            </a:fld>
            <a:endParaRPr lang="en-US" dirty="0">
              <a:solidFill>
                <a:schemeClr val="bg1"/>
              </a:solidFill>
            </a:endParaRPr>
          </a:p>
        </p:txBody>
      </p:sp>
    </p:spTree>
    <p:extLst>
      <p:ext uri="{BB962C8B-B14F-4D97-AF65-F5344CB8AC3E}">
        <p14:creationId xmlns:p14="http://schemas.microsoft.com/office/powerpoint/2010/main" val="7801820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References</a:t>
            </a:r>
            <a:endParaRPr lang="en-US" dirty="0">
              <a:solidFill>
                <a:srgbClr val="7030A0"/>
              </a:solidFill>
            </a:endParaRPr>
          </a:p>
        </p:txBody>
      </p:sp>
      <p:sp>
        <p:nvSpPr>
          <p:cNvPr id="5" name="TextBox 4"/>
          <p:cNvSpPr txBox="1"/>
          <p:nvPr/>
        </p:nvSpPr>
        <p:spPr>
          <a:xfrm>
            <a:off x="495300" y="1371600"/>
            <a:ext cx="11201400" cy="4488216"/>
          </a:xfrm>
          <a:prstGeom prst="rect">
            <a:avLst/>
          </a:prstGeom>
          <a:noFill/>
        </p:spPr>
        <p:txBody>
          <a:bodyPr wrap="square">
            <a:spAutoFit/>
          </a:bodyPr>
          <a:lstStyle/>
          <a:p>
            <a:pPr algn="just">
              <a:lnSpc>
                <a:spcPct val="150000"/>
              </a:lnSpc>
            </a:pPr>
            <a:r>
              <a:rPr lang="en-GB" sz="1200" dirty="0">
                <a:latin typeface="Century" panose="02040604050505020304" pitchFamily="18" charset="0"/>
                <a:cs typeface="Times New Roman" panose="02020603050405020304" pitchFamily="18" charset="0"/>
              </a:rPr>
              <a:t>[25] Gopalakrishna, K.M. and </a:t>
            </a:r>
            <a:r>
              <a:rPr lang="en-GB" sz="1200" dirty="0" err="1">
                <a:latin typeface="Century" panose="02040604050505020304" pitchFamily="18" charset="0"/>
                <a:cs typeface="Times New Roman" panose="02020603050405020304" pitchFamily="18" charset="0"/>
              </a:rPr>
              <a:t>Lingaraju</a:t>
            </a:r>
            <a:r>
              <a:rPr lang="en-GB" sz="1200" dirty="0">
                <a:latin typeface="Century" panose="02040604050505020304" pitchFamily="18" charset="0"/>
                <a:cs typeface="Times New Roman" panose="02020603050405020304" pitchFamily="18" charset="0"/>
              </a:rPr>
              <a:t>, R.M., 2025. A prediction of coconut and coconut leaf disease using MobileNetV2 based classification. International Journal of Electrical and Computer Engineering (IJECE), 15(3), pp.2834-2844.</a:t>
            </a:r>
          </a:p>
          <a:p>
            <a:pPr algn="just">
              <a:lnSpc>
                <a:spcPct val="150000"/>
              </a:lnSpc>
            </a:pPr>
            <a:r>
              <a:rPr lang="en-GB" sz="1200" dirty="0">
                <a:latin typeface="Century" panose="02040604050505020304" pitchFamily="18" charset="0"/>
                <a:cs typeface="Times New Roman" panose="02020603050405020304" pitchFamily="18" charset="0"/>
              </a:rPr>
              <a:t>[26] Sharma, R., Kukreja, V., Kaushal, R.K., Bansal, A. and Kaur, A., 2022, October. Rice Leaf blight Disease detection using multi-classification deep learning model. In 2022 10th international conference on reliability, Infocom technologies and optimization (trends and future directions)(ICRITO) (pp. 1-5). IEEE.</a:t>
            </a:r>
          </a:p>
          <a:p>
            <a:pPr algn="just">
              <a:lnSpc>
                <a:spcPct val="150000"/>
              </a:lnSpc>
            </a:pPr>
            <a:r>
              <a:rPr lang="en-GB" sz="1200" dirty="0">
                <a:latin typeface="Century" panose="02040604050505020304" pitchFamily="18" charset="0"/>
                <a:cs typeface="Times New Roman" panose="02020603050405020304" pitchFamily="18" charset="0"/>
              </a:rPr>
              <a:t>[27] Bari, B.S., Islam, M.N., Rashid, M., Hasan, M.J., </a:t>
            </a:r>
            <a:r>
              <a:rPr lang="en-GB" sz="1200" dirty="0" err="1">
                <a:latin typeface="Century" panose="02040604050505020304" pitchFamily="18" charset="0"/>
                <a:cs typeface="Times New Roman" panose="02020603050405020304" pitchFamily="18" charset="0"/>
              </a:rPr>
              <a:t>Razman</a:t>
            </a:r>
            <a:r>
              <a:rPr lang="en-GB" sz="1200" dirty="0">
                <a:latin typeface="Century" panose="02040604050505020304" pitchFamily="18" charset="0"/>
                <a:cs typeface="Times New Roman" panose="02020603050405020304" pitchFamily="18" charset="0"/>
              </a:rPr>
              <a:t>, M.A.M., Musa, R.M., Ab Nasir, A.F. and Majeed, A.P.A., 2021. A real-time approach of diagnosing rice leaf disease using deep learning-based faster R-CNN framework. </a:t>
            </a:r>
            <a:r>
              <a:rPr lang="en-GB" sz="1200" dirty="0" err="1">
                <a:latin typeface="Century" panose="02040604050505020304" pitchFamily="18" charset="0"/>
                <a:cs typeface="Times New Roman" panose="02020603050405020304" pitchFamily="18" charset="0"/>
              </a:rPr>
              <a:t>PeerJ</a:t>
            </a:r>
            <a:r>
              <a:rPr lang="en-GB" sz="1200" dirty="0">
                <a:latin typeface="Century" panose="02040604050505020304" pitchFamily="18" charset="0"/>
                <a:cs typeface="Times New Roman" panose="02020603050405020304" pitchFamily="18" charset="0"/>
              </a:rPr>
              <a:t> Computer Science, 7, p.e432.</a:t>
            </a:r>
          </a:p>
          <a:p>
            <a:pPr algn="just">
              <a:lnSpc>
                <a:spcPct val="150000"/>
              </a:lnSpc>
            </a:pPr>
            <a:r>
              <a:rPr lang="en-GB" sz="1200" dirty="0">
                <a:latin typeface="Century" panose="02040604050505020304" pitchFamily="18" charset="0"/>
                <a:cs typeface="Times New Roman" panose="02020603050405020304" pitchFamily="18" charset="0"/>
              </a:rPr>
              <a:t>[28] Shafik, W., Tufail, A., De Silva Liyanage, C. and Apong, R.A.A.H.M., 2024. Using transfer learning-based plant disease classification and detection for sustainable agriculture. BMC Plant Biology, 24(1), p.136.</a:t>
            </a:r>
          </a:p>
          <a:p>
            <a:pPr algn="just">
              <a:lnSpc>
                <a:spcPct val="150000"/>
              </a:lnSpc>
            </a:pPr>
            <a:r>
              <a:rPr lang="en-GB" sz="1200" dirty="0">
                <a:latin typeface="Century" panose="02040604050505020304" pitchFamily="18" charset="0"/>
                <a:cs typeface="Times New Roman" panose="02020603050405020304" pitchFamily="18" charset="0"/>
              </a:rPr>
              <a:t>[29] Paymode, A.S. and Malode, V.B., 2022. Transfer learning for multi-crop leaf disease image classification using convolutional neural network VGG. Artificial Intelligence in Agriculture, 6, pp.23-33.</a:t>
            </a:r>
          </a:p>
          <a:p>
            <a:pPr algn="just">
              <a:lnSpc>
                <a:spcPct val="150000"/>
              </a:lnSpc>
            </a:pPr>
            <a:r>
              <a:rPr lang="en-GB" sz="1200" dirty="0">
                <a:latin typeface="Century" panose="02040604050505020304" pitchFamily="18" charset="0"/>
                <a:cs typeface="Times New Roman" panose="02020603050405020304" pitchFamily="18" charset="0"/>
              </a:rPr>
              <a:t>[30] Wani, J.A., Sharma, S., Muzamil, M., Ahmed, S., Sharma, S. and Singh, S., 2022. Machine learning and deep learning based computational techniques in automatic agricultural diseases detection: Methodologies, applications, and challenges. Archives of Computational methods in Engineering, 29(1), pp.641-677.</a:t>
            </a:r>
          </a:p>
          <a:p>
            <a:pPr algn="just">
              <a:lnSpc>
                <a:spcPct val="150000"/>
              </a:lnSpc>
            </a:pPr>
            <a:r>
              <a:rPr lang="en-GB" sz="1200" dirty="0">
                <a:latin typeface="Century" panose="02040604050505020304" pitchFamily="18" charset="0"/>
                <a:cs typeface="Times New Roman" panose="02020603050405020304" pitchFamily="18" charset="0"/>
              </a:rPr>
              <a:t>[31] Eunice, J., Popescu, D.E., Chowdary, M.K. and Hemanth, J., 2022. Deep learning-based leaf disease detection in crops using images for agricultural applications. Agronomy, 12(10), p.2395.</a:t>
            </a:r>
          </a:p>
        </p:txBody>
      </p:sp>
      <p:sp>
        <p:nvSpPr>
          <p:cNvPr id="3" name="Slide Number Placeholder 3">
            <a:extLst>
              <a:ext uri="{FF2B5EF4-FFF2-40B4-BE49-F238E27FC236}">
                <a16:creationId xmlns:a16="http://schemas.microsoft.com/office/drawing/2014/main" id="{51275634-F49E-44C6-9738-ECB98235F6E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55</a:t>
            </a:fld>
            <a:endParaRPr lang="en-US" dirty="0">
              <a:solidFill>
                <a:schemeClr val="bg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References</a:t>
            </a:r>
            <a:endParaRPr lang="en-US" dirty="0">
              <a:solidFill>
                <a:srgbClr val="7030A0"/>
              </a:solidFill>
            </a:endParaRPr>
          </a:p>
        </p:txBody>
      </p:sp>
      <p:sp>
        <p:nvSpPr>
          <p:cNvPr id="5" name="TextBox 4"/>
          <p:cNvSpPr txBox="1"/>
          <p:nvPr/>
        </p:nvSpPr>
        <p:spPr>
          <a:xfrm>
            <a:off x="533400" y="1219200"/>
            <a:ext cx="11201400" cy="3380221"/>
          </a:xfrm>
          <a:prstGeom prst="rect">
            <a:avLst/>
          </a:prstGeom>
          <a:noFill/>
        </p:spPr>
        <p:txBody>
          <a:bodyPr wrap="square">
            <a:spAutoFit/>
          </a:bodyPr>
          <a:lstStyle/>
          <a:p>
            <a:pPr algn="just">
              <a:lnSpc>
                <a:spcPct val="150000"/>
              </a:lnSpc>
            </a:pPr>
            <a:r>
              <a:rPr lang="en-GB" sz="1200" dirty="0">
                <a:latin typeface="Century" panose="02040604050505020304" pitchFamily="18" charset="0"/>
                <a:cs typeface="Times New Roman" panose="02020603050405020304" pitchFamily="18" charset="0"/>
              </a:rPr>
              <a:t>[32] S. </a:t>
            </a:r>
            <a:r>
              <a:rPr lang="en-GB" sz="1200" dirty="0" err="1">
                <a:latin typeface="Century" panose="02040604050505020304" pitchFamily="18" charset="0"/>
                <a:cs typeface="Times New Roman" panose="02020603050405020304" pitchFamily="18" charset="0"/>
              </a:rPr>
              <a:t>Vidhanaarachchi</a:t>
            </a:r>
            <a:r>
              <a:rPr lang="en-GB" sz="1200" dirty="0">
                <a:latin typeface="Century" panose="02040604050505020304" pitchFamily="18" charset="0"/>
                <a:cs typeface="Times New Roman" panose="02020603050405020304" pitchFamily="18" charset="0"/>
              </a:rPr>
              <a:t>, J. L. Wijekoon, W. A. S. P. </a:t>
            </a:r>
            <a:r>
              <a:rPr lang="en-GB" sz="1200" dirty="0" err="1">
                <a:latin typeface="Century" panose="02040604050505020304" pitchFamily="18" charset="0"/>
                <a:cs typeface="Times New Roman" panose="02020603050405020304" pitchFamily="18" charset="0"/>
              </a:rPr>
              <a:t>Abeysiriwardhana</a:t>
            </a:r>
            <a:r>
              <a:rPr lang="en-GB" sz="1200" dirty="0">
                <a:latin typeface="Century" panose="02040604050505020304" pitchFamily="18" charset="0"/>
                <a:cs typeface="Times New Roman" panose="02020603050405020304" pitchFamily="18" charset="0"/>
              </a:rPr>
              <a:t> and M. Wijesundara, "Early Diagnosis and Severity Assessment of </a:t>
            </a:r>
            <a:r>
              <a:rPr lang="en-GB" sz="1200" dirty="0" err="1">
                <a:latin typeface="Century" panose="02040604050505020304" pitchFamily="18" charset="0"/>
                <a:cs typeface="Times New Roman" panose="02020603050405020304" pitchFamily="18" charset="0"/>
              </a:rPr>
              <a:t>Weligama</a:t>
            </a:r>
            <a:r>
              <a:rPr lang="en-GB" sz="1200" dirty="0">
                <a:latin typeface="Century" panose="02040604050505020304" pitchFamily="18" charset="0"/>
                <a:cs typeface="Times New Roman" panose="02020603050405020304" pitchFamily="18" charset="0"/>
              </a:rPr>
              <a:t> Coconut Leaf Wilt Disease and Coconut Caterpillar Infestation Using Deep Learning-Based Image Processing Techniques," in IEEE Access, vol. 13, pp. 24463-24477, 2025, </a:t>
            </a:r>
            <a:r>
              <a:rPr lang="en-GB" sz="1200" dirty="0" err="1">
                <a:latin typeface="Century" panose="02040604050505020304" pitchFamily="18" charset="0"/>
                <a:cs typeface="Times New Roman" panose="02020603050405020304" pitchFamily="18" charset="0"/>
              </a:rPr>
              <a:t>doi</a:t>
            </a:r>
            <a:r>
              <a:rPr lang="en-GB" sz="1200" dirty="0">
                <a:latin typeface="Century" panose="02040604050505020304" pitchFamily="18" charset="0"/>
                <a:cs typeface="Times New Roman" panose="02020603050405020304" pitchFamily="18" charset="0"/>
              </a:rPr>
              <a:t>: 10.1109/ACCESS.2025.3537664.</a:t>
            </a:r>
          </a:p>
          <a:p>
            <a:pPr algn="just">
              <a:lnSpc>
                <a:spcPct val="150000"/>
              </a:lnSpc>
            </a:pPr>
            <a:r>
              <a:rPr lang="en-GB" sz="1200" dirty="0">
                <a:latin typeface="Century" panose="02040604050505020304" pitchFamily="18" charset="0"/>
                <a:cs typeface="Times New Roman" panose="02020603050405020304" pitchFamily="18" charset="0"/>
              </a:rPr>
              <a:t>[33] Sousa, J.V.M., de Almeida, V.R., Saraiva, A.A., Santos, D.B.S., Pimentel, P.M.C. and de Sousa, L.L., 2020. Classification of Pneumonia images on mobile devices with Quantized Neural Network. Research, Society and Development, 9(10), pp.e889108382-e889108382.</a:t>
            </a:r>
          </a:p>
          <a:p>
            <a:pPr algn="just">
              <a:lnSpc>
                <a:spcPct val="150000"/>
              </a:lnSpc>
            </a:pPr>
            <a:r>
              <a:rPr lang="en-GB" sz="1200" dirty="0">
                <a:latin typeface="Century" panose="02040604050505020304" pitchFamily="18" charset="0"/>
                <a:cs typeface="Times New Roman" panose="02020603050405020304" pitchFamily="18" charset="0"/>
              </a:rPr>
              <a:t>[34] Radwan, N., 2019. Leveraging sparse and dense features for reliable state estimation in urban environments (Doctoral dissertation, University of Freiburg, Freiburg </a:t>
            </a:r>
            <a:r>
              <a:rPr lang="en-GB" sz="1200" dirty="0" err="1">
                <a:latin typeface="Century" panose="02040604050505020304" pitchFamily="18" charset="0"/>
                <a:cs typeface="Times New Roman" panose="02020603050405020304" pitchFamily="18" charset="0"/>
              </a:rPr>
              <a:t>im</a:t>
            </a:r>
            <a:r>
              <a:rPr lang="en-GB" sz="1200" dirty="0">
                <a:latin typeface="Century" panose="02040604050505020304" pitchFamily="18" charset="0"/>
                <a:cs typeface="Times New Roman" panose="02020603050405020304" pitchFamily="18" charset="0"/>
              </a:rPr>
              <a:t> Breisgau, Germany).</a:t>
            </a:r>
          </a:p>
          <a:p>
            <a:pPr algn="just">
              <a:lnSpc>
                <a:spcPct val="150000"/>
              </a:lnSpc>
            </a:pPr>
            <a:r>
              <a:rPr lang="en-GB" sz="1200" dirty="0">
                <a:latin typeface="Century" panose="02040604050505020304" pitchFamily="18" charset="0"/>
                <a:cs typeface="Times New Roman" panose="02020603050405020304" pitchFamily="18" charset="0"/>
              </a:rPr>
              <a:t>[35] Mukherjee, S., 2022. The annotated resnet-50. Towards Data Science, 18.</a:t>
            </a:r>
          </a:p>
          <a:p>
            <a:pPr algn="just">
              <a:lnSpc>
                <a:spcPct val="150000"/>
              </a:lnSpc>
            </a:pPr>
            <a:r>
              <a:rPr lang="en-GB" sz="1200" dirty="0">
                <a:latin typeface="Century" panose="02040604050505020304" pitchFamily="18" charset="0"/>
                <a:cs typeface="Times New Roman" panose="02020603050405020304" pitchFamily="18" charset="0"/>
              </a:rPr>
              <a:t>[36] </a:t>
            </a:r>
            <a:r>
              <a:rPr lang="en-GB" sz="1200" dirty="0" err="1">
                <a:latin typeface="Century" panose="02040604050505020304" pitchFamily="18" charset="0"/>
                <a:cs typeface="Times New Roman" panose="02020603050405020304" pitchFamily="18" charset="0"/>
              </a:rPr>
              <a:t>Mifthauddin</a:t>
            </a:r>
            <a:r>
              <a:rPr lang="en-GB" sz="1200" dirty="0">
                <a:latin typeface="Century" panose="02040604050505020304" pitchFamily="18" charset="0"/>
                <a:cs typeface="Times New Roman" panose="02020603050405020304" pitchFamily="18" charset="0"/>
              </a:rPr>
              <a:t>, A., Lutfi, M. and Saadah, Z.N., 2025. Comparison of MobileNetv2 and MobileNetv3 architectures in rice leaf disease classification using transfer learning. </a:t>
            </a:r>
            <a:r>
              <a:rPr lang="en-GB" sz="1200" dirty="0" err="1">
                <a:latin typeface="Century" panose="02040604050505020304" pitchFamily="18" charset="0"/>
                <a:cs typeface="Times New Roman" panose="02020603050405020304" pitchFamily="18" charset="0"/>
              </a:rPr>
              <a:t>Jurnal</a:t>
            </a:r>
            <a:r>
              <a:rPr lang="en-GB" sz="1200" dirty="0">
                <a:latin typeface="Century" panose="02040604050505020304" pitchFamily="18" charset="0"/>
                <a:cs typeface="Times New Roman" panose="02020603050405020304" pitchFamily="18" charset="0"/>
              </a:rPr>
              <a:t> </a:t>
            </a:r>
            <a:r>
              <a:rPr lang="en-GB" sz="1200" dirty="0" err="1">
                <a:latin typeface="Century" panose="02040604050505020304" pitchFamily="18" charset="0"/>
                <a:cs typeface="Times New Roman" panose="02020603050405020304" pitchFamily="18" charset="0"/>
              </a:rPr>
              <a:t>Mandiri</a:t>
            </a:r>
            <a:r>
              <a:rPr lang="en-GB" sz="1200" dirty="0">
                <a:latin typeface="Century" panose="02040604050505020304" pitchFamily="18" charset="0"/>
                <a:cs typeface="Times New Roman" panose="02020603050405020304" pitchFamily="18" charset="0"/>
              </a:rPr>
              <a:t> IT, 14(2), pp.195-202.</a:t>
            </a:r>
          </a:p>
          <a:p>
            <a:pPr algn="just">
              <a:lnSpc>
                <a:spcPct val="150000"/>
              </a:lnSpc>
            </a:pPr>
            <a:r>
              <a:rPr lang="en-GB" sz="1200" dirty="0">
                <a:latin typeface="Century" panose="02040604050505020304" pitchFamily="18" charset="0"/>
                <a:cs typeface="Times New Roman" panose="02020603050405020304" pitchFamily="18" charset="0"/>
              </a:rPr>
              <a:t>[37] </a:t>
            </a:r>
            <a:r>
              <a:rPr lang="en-GB" sz="1200" dirty="0" err="1">
                <a:latin typeface="Century" panose="02040604050505020304" pitchFamily="18" charset="0"/>
                <a:cs typeface="Times New Roman" panose="02020603050405020304" pitchFamily="18" charset="0"/>
              </a:rPr>
              <a:t>Murindanyi</a:t>
            </a:r>
            <a:r>
              <a:rPr lang="en-GB" sz="1200" dirty="0">
                <a:latin typeface="Century" panose="02040604050505020304" pitchFamily="18" charset="0"/>
                <a:cs typeface="Times New Roman" panose="02020603050405020304" pitchFamily="18" charset="0"/>
              </a:rPr>
              <a:t>, S., </a:t>
            </a:r>
            <a:r>
              <a:rPr lang="en-GB" sz="1200" dirty="0" err="1">
                <a:latin typeface="Century" panose="02040604050505020304" pitchFamily="18" charset="0"/>
                <a:cs typeface="Times New Roman" panose="02020603050405020304" pitchFamily="18" charset="0"/>
              </a:rPr>
              <a:t>Nakatumba-Nabende</a:t>
            </a:r>
            <a:r>
              <a:rPr lang="en-GB" sz="1200" dirty="0">
                <a:latin typeface="Century" panose="02040604050505020304" pitchFamily="18" charset="0"/>
                <a:cs typeface="Times New Roman" panose="02020603050405020304" pitchFamily="18" charset="0"/>
              </a:rPr>
              <a:t>, J., Sanya, R., Nakibuule, R. and Katumba, A., 2024. Enhanced Infield Agriculture with Interpretable Machine Learning Approaches for Crop Classification. </a:t>
            </a:r>
            <a:r>
              <a:rPr lang="en-GB" sz="1200" dirty="0" err="1">
                <a:latin typeface="Century" panose="02040604050505020304" pitchFamily="18" charset="0"/>
                <a:cs typeface="Times New Roman" panose="02020603050405020304" pitchFamily="18" charset="0"/>
              </a:rPr>
              <a:t>arXiv</a:t>
            </a:r>
            <a:r>
              <a:rPr lang="en-GB" sz="1200" dirty="0">
                <a:latin typeface="Century" panose="02040604050505020304" pitchFamily="18" charset="0"/>
                <a:cs typeface="Times New Roman" panose="02020603050405020304" pitchFamily="18" charset="0"/>
              </a:rPr>
              <a:t> preprint arXiv:2408.12426.</a:t>
            </a:r>
          </a:p>
        </p:txBody>
      </p:sp>
      <p:sp>
        <p:nvSpPr>
          <p:cNvPr id="3" name="Slide Number Placeholder 3">
            <a:extLst>
              <a:ext uri="{FF2B5EF4-FFF2-40B4-BE49-F238E27FC236}">
                <a16:creationId xmlns:a16="http://schemas.microsoft.com/office/drawing/2014/main" id="{263F0720-8B60-4759-0833-1ED6C92B3165}"/>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56</a:t>
            </a:fld>
            <a:endParaRPr lang="en-US" dirty="0">
              <a:solidFill>
                <a:schemeClr val="bg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842002"/>
            <a:ext cx="8458200" cy="1669423"/>
          </a:xfrm>
        </p:spPr>
        <p:txBody>
          <a:bodyPr>
            <a:normAutofit/>
          </a:bodyPr>
          <a:lstStyle/>
          <a:p>
            <a:r>
              <a:rPr lang="en-US" dirty="0">
                <a:solidFill>
                  <a:srgbClr val="7030A0"/>
                </a:solidFill>
              </a:rPr>
              <a:t>A Deep Learning Approach for the Coconut Tree Disease Detection</a:t>
            </a:r>
          </a:p>
        </p:txBody>
      </p:sp>
      <p:sp>
        <p:nvSpPr>
          <p:cNvPr id="3" name="Content Placeholder 2"/>
          <p:cNvSpPr>
            <a:spLocks noGrp="1"/>
          </p:cNvSpPr>
          <p:nvPr>
            <p:ph sz="quarter" idx="13"/>
          </p:nvPr>
        </p:nvSpPr>
        <p:spPr>
          <a:xfrm>
            <a:off x="666750" y="3090862"/>
            <a:ext cx="10972800" cy="2628901"/>
          </a:xfrm>
        </p:spPr>
        <p:txBody>
          <a:bodyPr>
            <a:normAutofit/>
          </a:bodyPr>
          <a:lstStyle/>
          <a:p>
            <a:pPr marL="0" indent="0" algn="ctr">
              <a:buNone/>
            </a:pPr>
            <a:endParaRPr lang="en-US" sz="6000" b="1" dirty="0">
              <a:solidFill>
                <a:srgbClr val="7030A0"/>
              </a:solidFill>
              <a:latin typeface="Times New Roman" panose="02020603050405020304" pitchFamily="18" charset="0"/>
              <a:cs typeface="Times New Roman" panose="02020603050405020304" pitchFamily="18" charset="0"/>
            </a:endParaRPr>
          </a:p>
          <a:p>
            <a:pPr marL="0" indent="0" algn="ctr">
              <a:buNone/>
            </a:pPr>
            <a:r>
              <a:rPr lang="en-US" sz="6000" b="1" dirty="0">
                <a:solidFill>
                  <a:srgbClr val="7030A0"/>
                </a:solidFill>
                <a:latin typeface="Times New Roman" panose="02020603050405020304" pitchFamily="18" charset="0"/>
                <a:cs typeface="Times New Roman" panose="02020603050405020304" pitchFamily="18" charset="0"/>
              </a:rPr>
              <a:t>THANK YOU</a:t>
            </a: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3">
            <a:extLst>
              <a:ext uri="{FF2B5EF4-FFF2-40B4-BE49-F238E27FC236}">
                <a16:creationId xmlns:a16="http://schemas.microsoft.com/office/drawing/2014/main" id="{4F0855B8-3EE7-5154-C65A-2B98A985F058}"/>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57</a:t>
            </a:fld>
            <a:endParaRPr lang="en-US" dirty="0">
              <a:solidFill>
                <a:schemeClr val="bg1"/>
              </a:solidFill>
            </a:endParaRPr>
          </a:p>
        </p:txBody>
      </p:sp>
    </p:spTree>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New Microsoft PowerPoint Presentation</Template>
  <TotalTime>820</TotalTime>
  <Words>4763</Words>
  <Application>Microsoft Office PowerPoint</Application>
  <PresentationFormat>Widescreen</PresentationFormat>
  <Paragraphs>769</Paragraphs>
  <Slides>57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Calibri</vt:lpstr>
      <vt:lpstr>Cambria Math</vt:lpstr>
      <vt:lpstr>Century</vt:lpstr>
      <vt:lpstr>Times New Roman</vt:lpstr>
      <vt:lpstr>Wingdings</vt:lpstr>
      <vt:lpstr>New Microsoft PowerPoint Presentation</vt:lpstr>
      <vt:lpstr>A Deep Learning Approach for the Coconut Tree Disease Detection</vt:lpstr>
      <vt:lpstr>Outline</vt:lpstr>
      <vt:lpstr>Introduction</vt:lpstr>
      <vt:lpstr>Objective</vt:lpstr>
      <vt:lpstr>Background Study</vt:lpstr>
      <vt:lpstr>Similar  Studies</vt:lpstr>
      <vt:lpstr>Similar  Studies</vt:lpstr>
      <vt:lpstr>Comparison Between Existing Works </vt:lpstr>
      <vt:lpstr>Comparison Between Existing Works </vt:lpstr>
      <vt:lpstr>Gap Analysis</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Web App Deployment</vt:lpstr>
      <vt:lpstr>Novelty of the Work</vt:lpstr>
      <vt:lpstr>Conclusion</vt:lpstr>
      <vt:lpstr>References</vt:lpstr>
      <vt:lpstr>References</vt:lpstr>
      <vt:lpstr>References</vt:lpstr>
      <vt:lpstr>References</vt:lpstr>
      <vt:lpstr>References</vt:lpstr>
      <vt:lpstr>A Deep Learning Approach for the Coconut Tree Disease Detection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Munna Biswas</cp:lastModifiedBy>
  <cp:revision>261</cp:revision>
  <dcterms:created xsi:type="dcterms:W3CDTF">2011-07-17T02:56:00Z</dcterms:created>
  <dcterms:modified xsi:type="dcterms:W3CDTF">2025-12-09T21:59:44Z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902514F00E124DF4A7C8E404CB8C5AB9_12</vt:lpwstr>
  </property>
  <property fmtid="{D5CDD505-2E9C-101B-9397-08002B2CF9AE}" pid="3" name="KSOProductBuildVer">
    <vt:lpwstr>2057-12.2.0.23155</vt:lpwstr>
  </property>
</Properties>
</file>