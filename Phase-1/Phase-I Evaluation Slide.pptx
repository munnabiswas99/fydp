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14"/>
  </p:notesMasterIdLst>
  <p:sldIdLst>
    <p:sldId id="256" r:id="rId2"/>
    <p:sldId id="264" r:id="rId3"/>
    <p:sldId id="280" r:id="rId4"/>
    <p:sldId id="293" r:id="rId5"/>
    <p:sldId id="299" r:id="rId6"/>
    <p:sldId id="304" r:id="rId7"/>
    <p:sldId id="301" r:id="rId8"/>
    <p:sldId id="303" r:id="rId9"/>
    <p:sldId id="300" r:id="rId10"/>
    <p:sldId id="302" r:id="rId11"/>
    <p:sldId id="298" r:id="rId12"/>
    <p:sldId id="295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DEE8"/>
    <a:srgbClr val="95A9AE"/>
    <a:srgbClr val="EBF1DE"/>
    <a:srgbClr val="E6B9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660"/>
  </p:normalViewPr>
  <p:slideViewPr>
    <p:cSldViewPr>
      <p:cViewPr varScale="1">
        <p:scale>
          <a:sx n="81" d="100"/>
          <a:sy n="81" d="100"/>
        </p:scale>
        <p:origin x="710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914400" y="320040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6400800" y="3200400"/>
            <a:ext cx="52832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Supervised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5181600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/>
          </p:nvPr>
        </p:nvSpPr>
        <p:spPr>
          <a:xfrm>
            <a:off x="6400800" y="3886200"/>
            <a:ext cx="5283200" cy="2209800"/>
          </a:xfrm>
        </p:spPr>
        <p:txBody>
          <a:bodyPr>
            <a:normAutofit/>
          </a:bodyPr>
          <a:lstStyle>
            <a:lvl1pPr algn="ctr">
              <a:buNone/>
              <a:defRPr sz="27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 b="0" dirty="0">
                <a:solidFill>
                  <a:srgbClr val="7030A0"/>
                </a:solidFill>
              </a:rPr>
              <a:t>A Deep Learning Approach for the Coconut Tree Disease Detection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66800" y="3810000"/>
            <a:ext cx="4800600" cy="3048000"/>
          </a:xfrm>
        </p:spPr>
        <p:txBody>
          <a:bodyPr rtlCol="0">
            <a:normAutofit/>
          </a:bodyPr>
          <a:lstStyle/>
          <a:p>
            <a:endParaRPr lang="en-US" sz="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Munna Biswas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221-15-5261</a:t>
            </a:r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Monowar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Hossain 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221-15-5366</a:t>
            </a:r>
          </a:p>
          <a:p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Daffodil International University</a:t>
            </a: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410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58000" y="3810000"/>
            <a:ext cx="4495800" cy="2590800"/>
          </a:xfrm>
        </p:spPr>
        <p:txBody>
          <a:bodyPr>
            <a:normAutofit/>
          </a:bodyPr>
          <a:lstStyle/>
          <a:p>
            <a:pPr eaLnBrk="1" hangingPunct="1"/>
            <a:endParaRPr lang="en-US" sz="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Mr. Abdus Sattar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Assistant Professor 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CSE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Daffodil International University</a:t>
            </a:r>
          </a:p>
          <a:p>
            <a:pPr eaLnBrk="1" hangingPunct="1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Objective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Existing Works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C356C97-5D78-C3F1-BEA3-055AB488CF3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52500" y="1524000"/>
            <a:ext cx="10287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Coconut trees are vital in tropical agriculture for food, oil, and industrial use.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Diseases such as Bud Rot, Leaf Rot, and Yellow Leaf Disease reduce yield.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detection methods are error-prone and require expert knowledge.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propose an AI-based system using CNN models for automatic disease detection using leaf images.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FF7CA8A-8F12-EDBF-7DBC-8CF347DF8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859" y="3914372"/>
            <a:ext cx="8516282" cy="156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24CD21F-C325-A995-A8ED-91DBB9D163C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981200" y="1676400"/>
            <a:ext cx="7924800" cy="299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Farmers lack access to efficient tools for early disease detection.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symptoms vary and are often misinterpreted.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manual processes are slow, subjective, and require trained personnel.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a scalable, accessible solution that works in real-world conditions.</a:t>
            </a:r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7E1D-7696-3342-8575-E29B24C51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ACC6-4944-BAC2-F177-2B401DFE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CEF74-9626-B0FA-E21C-74A5BD2BB1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C2CD2A-789F-022A-5A8A-A5E1AC8EB56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133600" y="2057400"/>
            <a:ext cx="7543800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Coconut farming is vital in South Asia, especially Bangladesh.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Leaf &amp; stem diseases cause major economic losses.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detection is slow and often inaccurate.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&amp; computer vision enable fast, real-time diagnosis.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food security and boosts crop yield.</a:t>
            </a:r>
          </a:p>
        </p:txBody>
      </p:sp>
    </p:spTree>
    <p:extLst>
      <p:ext uri="{BB962C8B-B14F-4D97-AF65-F5344CB8AC3E}">
        <p14:creationId xmlns:p14="http://schemas.microsoft.com/office/powerpoint/2010/main" val="1026547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E7C87-236C-C8CE-F509-3CAC037F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0CF4-22DB-6DDE-72C9-31341F5E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82E1F-5C87-F03B-431D-FC6B79B575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7900" y="1790700"/>
            <a:ext cx="7696200" cy="3276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objectives of this study are as follows:</a:t>
            </a:r>
          </a:p>
          <a:p>
            <a:pPr marL="91440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build a custom CNN model for six coconut diseases.</a:t>
            </a:r>
          </a:p>
          <a:p>
            <a:pPr marL="91440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Compare Architectures for the best accuracy.</a:t>
            </a:r>
          </a:p>
          <a:p>
            <a:pPr marL="91440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add XAI (Grad-CAM) for interpretability.</a:t>
            </a:r>
          </a:p>
          <a:p>
            <a:pPr marL="91440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Show training curves &amp; evaluation metrics.</a:t>
            </a:r>
          </a:p>
          <a:p>
            <a:pPr marL="91440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prepare a model for future mobile/web use.</a:t>
            </a:r>
          </a:p>
          <a:p>
            <a:pPr marL="0" indent="0" algn="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3F9C7-8207-0A16-B437-B07D81EF50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19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C7AD-9C97-23E1-7CCC-1BD92A6E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50B3-F19E-7C6E-5F6E-3BD95AE4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Related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F2EFF-F92F-B5AA-C42F-5484AB53EBD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>
              <a:defRPr/>
            </a:pPr>
            <a:fld id="{4CD333A3-7515-47B8-9EDC-EE0892D9C861}" type="slidenum">
              <a:rPr lang="en-US" smtClean="0"/>
              <a:pPr algn="ctr">
                <a:defRPr/>
              </a:pPr>
              <a:t>7</a:t>
            </a:fld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A98874-BFE3-9652-B995-BF695ADD3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693065"/>
              </p:ext>
            </p:extLst>
          </p:nvPr>
        </p:nvGraphicFramePr>
        <p:xfrm>
          <a:off x="2133600" y="1676400"/>
          <a:ext cx="7924800" cy="3927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41081842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187439255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40618673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1956771355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1616494393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437116942"/>
                    </a:ext>
                  </a:extLst>
                </a:gridCol>
              </a:tblGrid>
              <a:tr h="5031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Reference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 Used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Dataset Used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Classified Findings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804324"/>
                  </a:ext>
                </a:extLst>
              </a:tr>
              <a:tr h="1221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YOLOv4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Self-collected leaf disease dataset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Yellowing,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Drying,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Pest Infections,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Flaccidity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88% F1-Score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85%  Precision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 accuracy, sensitive to image noise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764743"/>
                  </a:ext>
                </a:extLst>
              </a:tr>
              <a:tr h="8131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 CNN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Hand-collected data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Stem Bleeding, Leaf Blight, Pest Infection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validation accuracy 96.94%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Limited dataset size,  lacks variety in environmental conditions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14060"/>
                  </a:ext>
                </a:extLst>
              </a:tr>
              <a:tr h="9092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VGG16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ResNet50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MobileNetV2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Hand-Collected Dataset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Bud Root Dropping, Bud Rot, Gray Leaf Spot, Leaf Rot, Stem Bleeding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88%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94%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92%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Imbalance Dataset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75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45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7E92-42E2-5C46-FEF4-F0AEA2317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B634-9AB9-7116-F7AB-C296F85F0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Related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2C918-F74E-2CA4-B359-E4551D2CD5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>
              <a:defRPr/>
            </a:pPr>
            <a:fld id="{4CD333A3-7515-47B8-9EDC-EE0892D9C861}" type="slidenum">
              <a:rPr lang="en-US" smtClean="0"/>
              <a:pPr algn="ctr">
                <a:defRPr/>
              </a:pPr>
              <a:t>8</a:t>
            </a:fld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D24E666-3E7D-71ED-E3F5-7BC46AB5C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344423"/>
              </p:ext>
            </p:extLst>
          </p:nvPr>
        </p:nvGraphicFramePr>
        <p:xfrm>
          <a:off x="1981200" y="1655354"/>
          <a:ext cx="8229600" cy="4264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41081842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87439255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40618673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95677135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6164943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37116942"/>
                    </a:ext>
                  </a:extLst>
                </a:gridCol>
              </a:tblGrid>
              <a:tr h="5510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Reference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 Used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Dataset Used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Classified Findings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804324"/>
                  </a:ext>
                </a:extLst>
              </a:tr>
              <a:tr h="13167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[12]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Inception V3 model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Public Dataset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Yellowing,</a:t>
                      </a:r>
                    </a:p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Drying, </a:t>
                      </a:r>
                    </a:p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Pest Infections,</a:t>
                      </a:r>
                    </a:p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Flaccidity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Accurate real-time prediction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Integrating XAI improves trust but increases processing time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764743"/>
                  </a:ext>
                </a:extLst>
              </a:tr>
              <a:tr h="11288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[25]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MobileNetV2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Collected from multiple public datasets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Coconut Leaf Disease, Coconut Disease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 99.2%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Risk of overfitting without augmentation; needs real-world testing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14060"/>
                  </a:ext>
                </a:extLst>
              </a:tr>
              <a:tr h="11943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[29]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VGG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Public dataset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Grape Leaves Disease, Tomato Leaves Disease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98.40%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95.71%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coconut-specific. accuracy may drop on coconut images.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75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997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7963-5E83-1ED3-106C-70223D0A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561-8C72-6804-E4E6-A84D47F1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08464"/>
            <a:ext cx="88392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Comparison Between Existing Works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063EB-E6DC-C0C0-0768-E8865B8083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5B1914D-3816-1C8C-9D78-E8EB71B02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39398"/>
              </p:ext>
            </p:extLst>
          </p:nvPr>
        </p:nvGraphicFramePr>
        <p:xfrm>
          <a:off x="1543050" y="2052003"/>
          <a:ext cx="9105900" cy="2753994"/>
        </p:xfrm>
        <a:graphic>
          <a:graphicData uri="http://schemas.openxmlformats.org/drawingml/2006/table">
            <a:tbl>
              <a:tblPr/>
              <a:tblGrid>
                <a:gridCol w="3404458">
                  <a:extLst>
                    <a:ext uri="{9D8B030D-6E8A-4147-A177-3AD203B41FA5}">
                      <a16:colId xmlns:a16="http://schemas.microsoft.com/office/drawing/2014/main" val="2137093445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360989470"/>
                    </a:ext>
                  </a:extLst>
                </a:gridCol>
                <a:gridCol w="2666142">
                  <a:extLst>
                    <a:ext uri="{9D8B030D-6E8A-4147-A177-3AD203B41FA5}">
                      <a16:colId xmlns:a16="http://schemas.microsoft.com/office/drawing/2014/main" val="1601598740"/>
                    </a:ext>
                  </a:extLst>
                </a:gridCol>
              </a:tblGrid>
              <a:tr h="4338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315006"/>
                  </a:ext>
                </a:extLst>
              </a:tr>
              <a:tr h="4338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CNN [2]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(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96.9%)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dataset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149762"/>
                  </a:ext>
                </a:extLst>
              </a:tr>
              <a:tr h="584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VGG16, ResNet50, MobileNetV2 [4]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 highest accuracy (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94%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Imbalanced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115275"/>
                  </a:ext>
                </a:extLst>
              </a:tr>
              <a:tr h="4338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Inception V3 + XAI [12]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&amp; explainable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 with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101056"/>
                  </a:ext>
                </a:extLst>
              </a:tr>
              <a:tr h="4338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MobileNetV2 [25]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accuracy (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99.2%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of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overfitting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597439"/>
                  </a:ext>
                </a:extLst>
              </a:tr>
              <a:tr h="4338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 [29]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on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 crops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coconut-specific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0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20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A606-7A4D-49E8-FD3D-682102C96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1064-DDC2-8140-E554-385A791B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6B71-21FD-04D6-556B-38CE32A5EA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0" y="2324100"/>
            <a:ext cx="9144000" cy="22098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studies on coconut tree diseases using deep learning.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public datasets for coconut leaf images.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models are not optimized for field-level deployment.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a few studies have integrated XAI.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current tools offering real-time prediction to farmers.</a:t>
            </a:r>
          </a:p>
          <a:p>
            <a:pPr marL="0" indent="0" algn="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6A18D-A965-E706-08E3-07D58DEAE3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28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199" y="228600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Proposed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7" name="Picture 6" descr="A colorful chart with text and images&#10;&#10;AI-generated content may be incorrect.">
            <a:extLst>
              <a:ext uri="{FF2B5EF4-FFF2-40B4-BE49-F238E27FC236}">
                <a16:creationId xmlns:a16="http://schemas.microsoft.com/office/drawing/2014/main" id="{F38175D4-459E-CF10-3ED3-92ED8C079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7" t="13323" r="6851" b="16307"/>
          <a:stretch>
            <a:fillRect/>
          </a:stretch>
        </p:blipFill>
        <p:spPr>
          <a:xfrm>
            <a:off x="2459134" y="1447800"/>
            <a:ext cx="7273731" cy="445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55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3756</TotalTime>
  <Words>605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New Microsoft PowerPoint Presentation</vt:lpstr>
      <vt:lpstr>A Deep Learning Approach for the Coconut Tree Disease Detection</vt:lpstr>
      <vt:lpstr>Outline</vt:lpstr>
      <vt:lpstr>Introduction</vt:lpstr>
      <vt:lpstr>Problem Statement</vt:lpstr>
      <vt:lpstr>Motivation</vt:lpstr>
      <vt:lpstr>Objectives</vt:lpstr>
      <vt:lpstr>Related Works</vt:lpstr>
      <vt:lpstr>Related Works</vt:lpstr>
      <vt:lpstr>Comparison Between Existing Works </vt:lpstr>
      <vt:lpstr>Gap Analysis</vt:lpstr>
      <vt:lpstr>Proposed Methodology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Munna Biswas</cp:lastModifiedBy>
  <cp:revision>253</cp:revision>
  <dcterms:created xsi:type="dcterms:W3CDTF">2011-07-17T02:56:35Z</dcterms:created>
  <dcterms:modified xsi:type="dcterms:W3CDTF">2025-08-09T19:39:33Z</dcterms:modified>
</cp:coreProperties>
</file>